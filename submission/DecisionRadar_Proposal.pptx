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Decision Radar is organisational memory for project teams. It remembers why decisions were made, watches Google Workspace for evidence that contradicts them, and shows what else is affected. Submitted under Future of Work &amp; Enterprise Productivity.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make decisions on assumptions: dates, budgets, vendor commitments. Those assumptions change in documents and meetings every day, but decision records are static. Cite sources as shown.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demo scenario and it is deliberately ordinary. The vendor update is a plain text file in a nested folder.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jobs: remember, watch, detect, explain. The human review step is a design principle, not an afterthought.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five steps. Emphasise that the AI steps are background jobs with retries, and the human steps are explicit checkpoints.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Sources page with the verified Gemini fact. Middle: the cited alert and review form with audit history.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graph answers 'so what?'. It separates what the evidence directly shows from what is projected through dependencies.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core technical idea. The model is used where language understanding matters and is fenced in by verification where precision matters.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Cloud Run services from one repo. The web service is the only public surface; the API and worker are private and authenticated with service identities.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precise: the 30-case set is synthetic and the 25 s figure is a single observation. Judges value honesty about limits.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Existing tools store or summarise. Decision Radar is the first layer that treats a decision as something that can go stale and needs monitoring.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nine-day slip is flagged as soon as the vendor note is assessed. The benefit compounds across many decisions and projects.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clear about status: 'Next' items exist in the codebase and are going through end-to-end verification; they are not part of the demo video.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one-line vision, then point to the live prototype and the video.</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jpg"/><Relationship Id="rId4" Type="http://schemas.openxmlformats.org/officeDocument/2006/relationships/image" Target="../media/image3.jp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4283B"/>
        </a:solidFill>
        <a:effectLst/>
      </p:bgPr>
    </p:bg>
    <p:spTree>
      <p:nvGrpSpPr>
        <p:cNvPr id="1" name=""/>
        <p:cNvGrpSpPr/>
        <p:nvPr/>
      </p:nvGrpSpPr>
      <p:grpSpPr/>
      <p:sp>
        <p:nvSpPr>
          <p:cNvPr id="2" name="TextBox 1"/>
          <p:cNvSpPr txBox="1"/>
          <p:nvPr/>
        </p:nvSpPr>
        <p:spPr>
          <a:xfrm>
            <a:off x="548640" y="502920"/>
            <a:ext cx="5120640" cy="274320"/>
          </a:xfrm>
          <a:prstGeom prst="rect">
            <a:avLst/>
          </a:prstGeom>
          <a:noFill/>
        </p:spPr>
        <p:txBody>
          <a:bodyPr wrap="square" lIns="0" rIns="0" tIns="0" bIns="0" anchor="t">
            <a:spAutoFit/>
          </a:bodyPr>
          <a:lstStyle/>
          <a:p>
            <a:pPr algn="l"/>
            <a:r>
              <a:rPr sz="1100" b="1" i="0" spc="200">
                <a:solidFill>
                  <a:srgbClr val="A59EEF"/>
                </a:solidFill>
                <a:latin typeface="Calibri"/>
              </a:rPr>
              <a:t>AI BUILDER CUP 2026</a:t>
            </a:r>
          </a:p>
        </p:txBody>
      </p:sp>
      <p:sp>
        <p:nvSpPr>
          <p:cNvPr id="3" name="Rounded Rectangle 2"/>
          <p:cNvSpPr/>
          <p:nvPr/>
        </p:nvSpPr>
        <p:spPr>
          <a:xfrm>
            <a:off x="548640" y="841248"/>
            <a:ext cx="3977639" cy="310896"/>
          </a:xfrm>
          <a:prstGeom prst="roundRect">
            <a:avLst>
              <a:gd name="adj" fmla="val 50000"/>
            </a:avLst>
          </a:prstGeom>
          <a:solidFill>
            <a:srgbClr val="2F3450"/>
          </a:solidFill>
          <a:ln w="9525">
            <a:solidFill>
              <a:srgbClr val="3A406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48640" y="841248"/>
            <a:ext cx="3977639" cy="310896"/>
          </a:xfrm>
          <a:prstGeom prst="rect">
            <a:avLst/>
          </a:prstGeom>
          <a:noFill/>
        </p:spPr>
        <p:txBody>
          <a:bodyPr wrap="square" lIns="0" rIns="0" tIns="0" bIns="0" anchor="ctr">
            <a:spAutoFit/>
          </a:bodyPr>
          <a:lstStyle/>
          <a:p>
            <a:pPr algn="ctr"/>
            <a:r>
              <a:rPr sz="1100" b="1" i="0">
                <a:solidFill>
                  <a:srgbClr val="FFFFFF"/>
                </a:solidFill>
                <a:latin typeface="Calibri"/>
              </a:rPr>
              <a:t>Category: Future of Work &amp; Enterprise Productivity</a:t>
            </a:r>
          </a:p>
        </p:txBody>
      </p:sp>
      <p:sp>
        <p:nvSpPr>
          <p:cNvPr id="5" name="TextBox 4"/>
          <p:cNvSpPr txBox="1"/>
          <p:nvPr/>
        </p:nvSpPr>
        <p:spPr>
          <a:xfrm>
            <a:off x="548640" y="1417320"/>
            <a:ext cx="5120640" cy="822960"/>
          </a:xfrm>
          <a:prstGeom prst="rect">
            <a:avLst/>
          </a:prstGeom>
          <a:noFill/>
        </p:spPr>
        <p:txBody>
          <a:bodyPr wrap="square" lIns="0" rIns="0" tIns="0" bIns="0" anchor="t">
            <a:spAutoFit/>
          </a:bodyPr>
          <a:lstStyle/>
          <a:p>
            <a:pPr algn="l"/>
            <a:r>
              <a:rPr sz="4800" b="1" i="0">
                <a:solidFill>
                  <a:srgbClr val="FFFFFF"/>
                </a:solidFill>
                <a:latin typeface="Calibri"/>
              </a:rPr>
              <a:t>Decision </a:t>
            </a:r>
            <a:r>
              <a:rPr sz="4800" b="1" i="0">
                <a:solidFill>
                  <a:srgbClr val="A59EEF"/>
                </a:solidFill>
                <a:latin typeface="Calibri"/>
              </a:rPr>
              <a:t>Radar</a:t>
            </a:r>
          </a:p>
        </p:txBody>
      </p:sp>
      <p:sp>
        <p:nvSpPr>
          <p:cNvPr id="6" name="TextBox 5"/>
          <p:cNvSpPr txBox="1"/>
          <p:nvPr/>
        </p:nvSpPr>
        <p:spPr>
          <a:xfrm>
            <a:off x="548640" y="2286000"/>
            <a:ext cx="4572000" cy="914400"/>
          </a:xfrm>
          <a:prstGeom prst="rect">
            <a:avLst/>
          </a:prstGeom>
          <a:noFill/>
        </p:spPr>
        <p:txBody>
          <a:bodyPr wrap="square" lIns="0" rIns="0" tIns="0" bIns="0" anchor="t">
            <a:spAutoFit/>
          </a:bodyPr>
          <a:lstStyle/>
          <a:p>
            <a:pPr algn="l">
              <a:lnSpc>
                <a:spcPct val="105000"/>
              </a:lnSpc>
            </a:pPr>
            <a:r>
              <a:rPr sz="2000" b="0" i="0">
                <a:solidFill>
                  <a:srgbClr val="DCDDEB"/>
                </a:solidFill>
                <a:latin typeface="Calibri"/>
              </a:rPr>
              <a:t>Know the moment new evidence breaks a decision your team already made.</a:t>
            </a:r>
          </a:p>
        </p:txBody>
      </p:sp>
      <p:sp>
        <p:nvSpPr>
          <p:cNvPr id="7" name="TextBox 6"/>
          <p:cNvSpPr txBox="1"/>
          <p:nvPr/>
        </p:nvSpPr>
        <p:spPr>
          <a:xfrm>
            <a:off x="548640" y="3429000"/>
            <a:ext cx="4937760" cy="274320"/>
          </a:xfrm>
          <a:prstGeom prst="rect">
            <a:avLst/>
          </a:prstGeom>
          <a:noFill/>
        </p:spPr>
        <p:txBody>
          <a:bodyPr wrap="square" lIns="0" rIns="0" tIns="0" bIns="0" anchor="t">
            <a:spAutoFit/>
          </a:bodyPr>
          <a:lstStyle/>
          <a:p>
            <a:pPr algn="l"/>
            <a:r>
              <a:rPr sz="1300" b="1" i="0">
                <a:solidFill>
                  <a:srgbClr val="FFFFFF"/>
                </a:solidFill>
                <a:latin typeface="Calibri"/>
              </a:rPr>
              <a:t>Team GeminiMaxx</a:t>
            </a:r>
            <a:r>
              <a:rPr sz="1300" b="0" i="0">
                <a:solidFill>
                  <a:srgbClr val="C9CCE0"/>
                </a:solidFill>
                <a:latin typeface="Calibri"/>
              </a:rPr>
              <a:t>  ·  Steffy Lo &amp; Mike Umali</a:t>
            </a:r>
          </a:p>
        </p:txBody>
      </p:sp>
      <p:sp>
        <p:nvSpPr>
          <p:cNvPr id="8" name="TextBox 7"/>
          <p:cNvSpPr txBox="1"/>
          <p:nvPr/>
        </p:nvSpPr>
        <p:spPr>
          <a:xfrm>
            <a:off x="548640" y="3749039"/>
            <a:ext cx="4937760" cy="274320"/>
          </a:xfrm>
          <a:prstGeom prst="rect">
            <a:avLst/>
          </a:prstGeom>
          <a:noFill/>
        </p:spPr>
        <p:txBody>
          <a:bodyPr wrap="square" lIns="0" rIns="0" tIns="0" bIns="0" anchor="t">
            <a:spAutoFit/>
          </a:bodyPr>
          <a:lstStyle/>
          <a:p>
            <a:pPr algn="l"/>
            <a:r>
              <a:rPr sz="1200" b="0" i="0">
                <a:solidFill>
                  <a:srgbClr val="C9CCE0"/>
                </a:solidFill>
                <a:latin typeface="Calibri"/>
              </a:rPr>
              <a:t>Built with </a:t>
            </a:r>
            <a:r>
              <a:rPr sz="1200" b="1" i="0">
                <a:solidFill>
                  <a:srgbClr val="FFFFFF"/>
                </a:solidFill>
                <a:latin typeface="Calibri"/>
              </a:rPr>
              <a:t>Gemini 2.5 Flash on Vertex AI</a:t>
            </a:r>
            <a:r>
              <a:rPr sz="1200" b="0" i="0">
                <a:solidFill>
                  <a:srgbClr val="C9CCE0"/>
                </a:solidFill>
                <a:latin typeface="Calibri"/>
              </a:rPr>
              <a:t>  ·  Deployed on </a:t>
            </a:r>
            <a:r>
              <a:rPr sz="1200" b="1" i="0">
                <a:solidFill>
                  <a:srgbClr val="FFFFFF"/>
                </a:solidFill>
                <a:latin typeface="Calibri"/>
              </a:rPr>
              <a:t>Cloud Run</a:t>
            </a:r>
          </a:p>
        </p:txBody>
      </p:sp>
      <p:sp>
        <p:nvSpPr>
          <p:cNvPr id="9" name="TextBox 8"/>
          <p:cNvSpPr txBox="1"/>
          <p:nvPr/>
        </p:nvSpPr>
        <p:spPr>
          <a:xfrm>
            <a:off x="548640" y="4343400"/>
            <a:ext cx="5120640" cy="274320"/>
          </a:xfrm>
          <a:prstGeom prst="rect">
            <a:avLst/>
          </a:prstGeom>
          <a:noFill/>
        </p:spPr>
        <p:txBody>
          <a:bodyPr wrap="square" lIns="0" rIns="0" tIns="0" bIns="0" anchor="t">
            <a:spAutoFit/>
          </a:bodyPr>
          <a:lstStyle/>
          <a:p>
            <a:pPr algn="l"/>
            <a:r>
              <a:rPr sz="1100" b="0" i="0">
                <a:solidFill>
                  <a:srgbClr val="A59EEF"/>
                </a:solidFill>
                <a:latin typeface="Calibri"/>
              </a:rPr>
              <a:t>Live prototype: [Cloud Run URL]</a:t>
            </a:r>
          </a:p>
        </p:txBody>
      </p:sp>
      <p:sp>
        <p:nvSpPr>
          <p:cNvPr id="10" name="Rounded Rectangle 9"/>
          <p:cNvSpPr/>
          <p:nvPr/>
        </p:nvSpPr>
        <p:spPr>
          <a:xfrm>
            <a:off x="5989320" y="777240"/>
            <a:ext cx="2651760" cy="868680"/>
          </a:xfrm>
          <a:prstGeom prst="roundRect">
            <a:avLst>
              <a:gd name="adj" fmla="val 12000"/>
            </a:avLst>
          </a:prstGeom>
          <a:solidFill>
            <a:srgbClr val="FFF4DE"/>
          </a:solidFill>
          <a:ln w="12700">
            <a:solidFill>
              <a:srgbClr val="E2C48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099048" y="850392"/>
            <a:ext cx="2432304" cy="182880"/>
          </a:xfrm>
          <a:prstGeom prst="rect">
            <a:avLst/>
          </a:prstGeom>
          <a:noFill/>
        </p:spPr>
        <p:txBody>
          <a:bodyPr wrap="square" lIns="0" rIns="0" tIns="0" bIns="0" anchor="t">
            <a:spAutoFit/>
          </a:bodyPr>
          <a:lstStyle/>
          <a:p>
            <a:pPr algn="l"/>
            <a:r>
              <a:rPr sz="800" b="1" i="0" spc="100">
                <a:solidFill>
                  <a:srgbClr val="B7791F"/>
                </a:solidFill>
                <a:latin typeface="Calibri"/>
              </a:rPr>
              <a:t>EVIDENCE TRIGGER</a:t>
            </a:r>
          </a:p>
        </p:txBody>
      </p:sp>
      <p:sp>
        <p:nvSpPr>
          <p:cNvPr id="12" name="TextBox 11"/>
          <p:cNvSpPr txBox="1"/>
          <p:nvPr/>
        </p:nvSpPr>
        <p:spPr>
          <a:xfrm>
            <a:off x="6099048" y="1033271"/>
            <a:ext cx="2432304" cy="557783"/>
          </a:xfrm>
          <a:prstGeom prst="rect">
            <a:avLst/>
          </a:prstGeom>
          <a:noFill/>
        </p:spPr>
        <p:txBody>
          <a:bodyPr wrap="square" lIns="0" rIns="0" tIns="0" bIns="0" anchor="t">
            <a:spAutoFit/>
          </a:bodyPr>
          <a:lstStyle/>
          <a:p>
            <a:pPr algn="l"/>
            <a:r>
              <a:rPr sz="1100" b="1" i="0">
                <a:solidFill>
                  <a:srgbClr val="202331"/>
                </a:solidFill>
                <a:latin typeface="Calibri"/>
              </a:rPr>
              <a:t>Vendor note: delivery moves Oct 15 → Oct 24</a:t>
            </a:r>
          </a:p>
        </p:txBody>
      </p:sp>
      <p:cxnSp>
        <p:nvCxnSpPr>
          <p:cNvPr id="13" name="Connector 12"/>
          <p:cNvCxnSpPr/>
          <p:nvPr/>
        </p:nvCxnSpPr>
        <p:spPr>
          <a:xfrm>
            <a:off x="7315200" y="1645920"/>
            <a:ext cx="0" cy="274320"/>
          </a:xfrm>
          <a:prstGeom prst="line">
            <a:avLst/>
          </a:prstGeom>
          <a:ln w="1905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989320" y="1920240"/>
            <a:ext cx="2651760" cy="868680"/>
          </a:xfrm>
          <a:prstGeom prst="roundRect">
            <a:avLst>
              <a:gd name="adj" fmla="val 12000"/>
            </a:avLst>
          </a:prstGeom>
          <a:solidFill>
            <a:srgbClr val="FFF0F2"/>
          </a:solidFill>
          <a:ln w="12700">
            <a:solidFill>
              <a:srgbClr val="E6A9B0"/>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099048" y="1993392"/>
            <a:ext cx="2432304" cy="182880"/>
          </a:xfrm>
          <a:prstGeom prst="rect">
            <a:avLst/>
          </a:prstGeom>
          <a:noFill/>
        </p:spPr>
        <p:txBody>
          <a:bodyPr wrap="square" lIns="0" rIns="0" tIns="0" bIns="0" anchor="t">
            <a:spAutoFit/>
          </a:bodyPr>
          <a:lstStyle/>
          <a:p>
            <a:pPr algn="l"/>
            <a:r>
              <a:rPr sz="800" b="1" i="0" spc="100">
                <a:solidFill>
                  <a:srgbClr val="B13E49"/>
                </a:solidFill>
                <a:latin typeface="Calibri"/>
              </a:rPr>
              <a:t>DIRECT CHALLENGE</a:t>
            </a:r>
          </a:p>
        </p:txBody>
      </p:sp>
      <p:sp>
        <p:nvSpPr>
          <p:cNvPr id="16" name="TextBox 15"/>
          <p:cNvSpPr txBox="1"/>
          <p:nvPr/>
        </p:nvSpPr>
        <p:spPr>
          <a:xfrm>
            <a:off x="6099048" y="2176272"/>
            <a:ext cx="2432304" cy="557783"/>
          </a:xfrm>
          <a:prstGeom prst="rect">
            <a:avLst/>
          </a:prstGeom>
          <a:noFill/>
        </p:spPr>
        <p:txBody>
          <a:bodyPr wrap="square" lIns="0" rIns="0" tIns="0" bIns="0" anchor="t">
            <a:spAutoFit/>
          </a:bodyPr>
          <a:lstStyle/>
          <a:p>
            <a:pPr algn="l"/>
            <a:r>
              <a:rPr sz="1100" b="1" i="0">
                <a:solidFill>
                  <a:srgbClr val="202331"/>
                </a:solidFill>
                <a:latin typeface="Calibri"/>
              </a:rPr>
              <a:t>Approve launch readiness on the Oct 15 plan</a:t>
            </a:r>
          </a:p>
        </p:txBody>
      </p:sp>
      <p:cxnSp>
        <p:nvCxnSpPr>
          <p:cNvPr id="17" name="Connector 16"/>
          <p:cNvCxnSpPr/>
          <p:nvPr/>
        </p:nvCxnSpPr>
        <p:spPr>
          <a:xfrm>
            <a:off x="7315200" y="2788920"/>
            <a:ext cx="0" cy="274320"/>
          </a:xfrm>
          <a:prstGeom prst="line">
            <a:avLst/>
          </a:prstGeom>
          <a:ln w="1905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5989320" y="3063240"/>
            <a:ext cx="2651760" cy="868680"/>
          </a:xfrm>
          <a:prstGeom prst="roundRect">
            <a:avLst>
              <a:gd name="adj" fmla="val 12000"/>
            </a:avLst>
          </a:prstGeom>
          <a:solidFill>
            <a:srgbClr val="EAF2FB"/>
          </a:solidFill>
          <a:ln w="12700">
            <a:solidFill>
              <a:srgbClr val="A9C4E3"/>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099048" y="3136392"/>
            <a:ext cx="2432304" cy="182880"/>
          </a:xfrm>
          <a:prstGeom prst="rect">
            <a:avLst/>
          </a:prstGeom>
          <a:noFill/>
        </p:spPr>
        <p:txBody>
          <a:bodyPr wrap="square" lIns="0" rIns="0" tIns="0" bIns="0" anchor="t">
            <a:spAutoFit/>
          </a:bodyPr>
          <a:lstStyle/>
          <a:p>
            <a:pPr algn="l"/>
            <a:r>
              <a:rPr sz="800" b="1" i="0" spc="100">
                <a:solidFill>
                  <a:srgbClr val="3F74AD"/>
                </a:solidFill>
                <a:latin typeface="Calibri"/>
              </a:rPr>
              <a:t>DOWNSTREAM EFFECT</a:t>
            </a:r>
          </a:p>
        </p:txBody>
      </p:sp>
      <p:sp>
        <p:nvSpPr>
          <p:cNvPr id="20" name="TextBox 19"/>
          <p:cNvSpPr txBox="1"/>
          <p:nvPr/>
        </p:nvSpPr>
        <p:spPr>
          <a:xfrm>
            <a:off x="6099048" y="3319272"/>
            <a:ext cx="2432304" cy="557783"/>
          </a:xfrm>
          <a:prstGeom prst="rect">
            <a:avLst/>
          </a:prstGeom>
          <a:noFill/>
        </p:spPr>
        <p:txBody>
          <a:bodyPr wrap="square" lIns="0" rIns="0" tIns="0" bIns="0" anchor="t">
            <a:spAutoFit/>
          </a:bodyPr>
          <a:lstStyle/>
          <a:p>
            <a:pPr algn="l"/>
            <a:r>
              <a:rPr sz="1100" b="1" i="0">
                <a:solidFill>
                  <a:srgbClr val="202331"/>
                </a:solidFill>
                <a:latin typeface="Calibri"/>
              </a:rPr>
              <a:t>Final readiness review and launch comms</a:t>
            </a:r>
          </a:p>
        </p:txBody>
      </p:sp>
      <p:sp>
        <p:nvSpPr>
          <p:cNvPr id="21" name="Rounded Rectangle 20"/>
          <p:cNvSpPr/>
          <p:nvPr/>
        </p:nvSpPr>
        <p:spPr>
          <a:xfrm>
            <a:off x="8046720" y="658368"/>
            <a:ext cx="685800" cy="274320"/>
          </a:xfrm>
          <a:prstGeom prst="roundRect">
            <a:avLst>
              <a:gd name="adj" fmla="val 50000"/>
            </a:avLst>
          </a:prstGeom>
          <a:solidFill>
            <a:srgbClr val="B7791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8046720" y="658368"/>
            <a:ext cx="685800" cy="274320"/>
          </a:xfrm>
          <a:prstGeom prst="rect">
            <a:avLst/>
          </a:prstGeom>
          <a:noFill/>
        </p:spPr>
        <p:txBody>
          <a:bodyPr wrap="square" lIns="0" rIns="0" tIns="0" bIns="0" anchor="ctr">
            <a:spAutoFit/>
          </a:bodyPr>
          <a:lstStyle/>
          <a:p>
            <a:pPr algn="ctr"/>
            <a:r>
              <a:rPr sz="1000" b="1" i="0">
                <a:solidFill>
                  <a:srgbClr val="FFFFFF"/>
                </a:solidFill>
                <a:latin typeface="Calibri"/>
              </a:rPr>
              <a:t>+9 days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THE PROBLEM</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Decisions outlive the assumptions behind them</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2 / 14</a:t>
            </a:r>
          </a:p>
        </p:txBody>
      </p:sp>
      <p:sp>
        <p:nvSpPr>
          <p:cNvPr id="6" name="Rounded Rectangle 5"/>
          <p:cNvSpPr/>
          <p:nvPr/>
        </p:nvSpPr>
        <p:spPr>
          <a:xfrm>
            <a:off x="457200" y="1325880"/>
            <a:ext cx="2606040" cy="214884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85800" y="1463040"/>
            <a:ext cx="2194560" cy="731520"/>
          </a:xfrm>
          <a:prstGeom prst="rect">
            <a:avLst/>
          </a:prstGeom>
          <a:noFill/>
        </p:spPr>
        <p:txBody>
          <a:bodyPr wrap="square" lIns="0" rIns="0" tIns="0" bIns="0" anchor="t">
            <a:spAutoFit/>
          </a:bodyPr>
          <a:lstStyle/>
          <a:p>
            <a:pPr algn="l"/>
            <a:r>
              <a:rPr sz="4400" b="1" i="0">
                <a:solidFill>
                  <a:srgbClr val="6258D8"/>
                </a:solidFill>
                <a:latin typeface="Calibri"/>
              </a:rPr>
              <a:t>37%</a:t>
            </a:r>
          </a:p>
        </p:txBody>
      </p:sp>
      <p:sp>
        <p:nvSpPr>
          <p:cNvPr id="8" name="TextBox 7"/>
          <p:cNvSpPr txBox="1"/>
          <p:nvPr/>
        </p:nvSpPr>
        <p:spPr>
          <a:xfrm>
            <a:off x="685800" y="2194560"/>
            <a:ext cx="2194560" cy="868680"/>
          </a:xfrm>
          <a:prstGeom prst="rect">
            <a:avLst/>
          </a:prstGeom>
          <a:noFill/>
        </p:spPr>
        <p:txBody>
          <a:bodyPr wrap="square" lIns="0" rIns="0" tIns="0" bIns="0" anchor="t">
            <a:spAutoFit/>
          </a:bodyPr>
          <a:lstStyle/>
          <a:p>
            <a:pPr algn="l">
              <a:lnSpc>
                <a:spcPct val="100000"/>
              </a:lnSpc>
            </a:pPr>
            <a:r>
              <a:rPr sz="1300" b="0" i="0">
                <a:solidFill>
                  <a:srgbClr val="202331"/>
                </a:solidFill>
                <a:latin typeface="Calibri"/>
              </a:rPr>
              <a:t>of managers' time goes to making decisions, and most say over half of that time is used ineffectively</a:t>
            </a:r>
          </a:p>
        </p:txBody>
      </p:sp>
      <p:sp>
        <p:nvSpPr>
          <p:cNvPr id="9" name="TextBox 8"/>
          <p:cNvSpPr txBox="1"/>
          <p:nvPr/>
        </p:nvSpPr>
        <p:spPr>
          <a:xfrm>
            <a:off x="685800" y="3090672"/>
            <a:ext cx="2194560" cy="320040"/>
          </a:xfrm>
          <a:prstGeom prst="rect">
            <a:avLst/>
          </a:prstGeom>
          <a:noFill/>
        </p:spPr>
        <p:txBody>
          <a:bodyPr wrap="square" lIns="0" rIns="0" tIns="0" bIns="0" anchor="t">
            <a:spAutoFit/>
          </a:bodyPr>
          <a:lstStyle/>
          <a:p>
            <a:pPr algn="l"/>
            <a:r>
              <a:rPr sz="900" b="0" i="1">
                <a:solidFill>
                  <a:srgbClr val="626A7B"/>
                </a:solidFill>
                <a:latin typeface="Calibri"/>
              </a:rPr>
              <a:t>McKinsey, Decision making in the age of urgency (2019)</a:t>
            </a:r>
          </a:p>
        </p:txBody>
      </p:sp>
      <p:sp>
        <p:nvSpPr>
          <p:cNvPr id="10" name="Rounded Rectangle 9"/>
          <p:cNvSpPr/>
          <p:nvPr/>
        </p:nvSpPr>
        <p:spPr>
          <a:xfrm>
            <a:off x="3246120" y="1325880"/>
            <a:ext cx="2606040" cy="214884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3474720" y="1463040"/>
            <a:ext cx="2194560" cy="731520"/>
          </a:xfrm>
          <a:prstGeom prst="rect">
            <a:avLst/>
          </a:prstGeom>
          <a:noFill/>
        </p:spPr>
        <p:txBody>
          <a:bodyPr wrap="square" lIns="0" rIns="0" tIns="0" bIns="0" anchor="t">
            <a:spAutoFit/>
          </a:bodyPr>
          <a:lstStyle/>
          <a:p>
            <a:pPr algn="l"/>
            <a:r>
              <a:rPr sz="4400" b="1" i="0">
                <a:solidFill>
                  <a:srgbClr val="6258D8"/>
                </a:solidFill>
                <a:latin typeface="Calibri"/>
              </a:rPr>
              <a:t>19%</a:t>
            </a:r>
          </a:p>
        </p:txBody>
      </p:sp>
      <p:sp>
        <p:nvSpPr>
          <p:cNvPr id="12" name="TextBox 11"/>
          <p:cNvSpPr txBox="1"/>
          <p:nvPr/>
        </p:nvSpPr>
        <p:spPr>
          <a:xfrm>
            <a:off x="3474720" y="2194560"/>
            <a:ext cx="2194560" cy="868680"/>
          </a:xfrm>
          <a:prstGeom prst="rect">
            <a:avLst/>
          </a:prstGeom>
          <a:noFill/>
        </p:spPr>
        <p:txBody>
          <a:bodyPr wrap="square" lIns="0" rIns="0" tIns="0" bIns="0" anchor="t">
            <a:spAutoFit/>
          </a:bodyPr>
          <a:lstStyle/>
          <a:p>
            <a:pPr algn="l">
              <a:lnSpc>
                <a:spcPct val="100000"/>
              </a:lnSpc>
            </a:pPr>
            <a:r>
              <a:rPr sz="1300" b="0" i="0">
                <a:solidFill>
                  <a:srgbClr val="202331"/>
                </a:solidFill>
                <a:latin typeface="Calibri"/>
              </a:rPr>
              <a:t>of the workweek is spent searching for and gathering information</a:t>
            </a:r>
          </a:p>
        </p:txBody>
      </p:sp>
      <p:sp>
        <p:nvSpPr>
          <p:cNvPr id="13" name="TextBox 12"/>
          <p:cNvSpPr txBox="1"/>
          <p:nvPr/>
        </p:nvSpPr>
        <p:spPr>
          <a:xfrm>
            <a:off x="3474720" y="3090672"/>
            <a:ext cx="2194560" cy="320040"/>
          </a:xfrm>
          <a:prstGeom prst="rect">
            <a:avLst/>
          </a:prstGeom>
          <a:noFill/>
        </p:spPr>
        <p:txBody>
          <a:bodyPr wrap="square" lIns="0" rIns="0" tIns="0" bIns="0" anchor="t">
            <a:spAutoFit/>
          </a:bodyPr>
          <a:lstStyle/>
          <a:p>
            <a:pPr algn="l"/>
            <a:r>
              <a:rPr sz="900" b="0" i="1">
                <a:solidFill>
                  <a:srgbClr val="626A7B"/>
                </a:solidFill>
                <a:latin typeface="Calibri"/>
              </a:rPr>
              <a:t>McKinsey Global Institute, The social economy (2012)</a:t>
            </a:r>
          </a:p>
        </p:txBody>
      </p:sp>
      <p:sp>
        <p:nvSpPr>
          <p:cNvPr id="14" name="Rounded Rectangle 13"/>
          <p:cNvSpPr/>
          <p:nvPr/>
        </p:nvSpPr>
        <p:spPr>
          <a:xfrm>
            <a:off x="6035040" y="1325880"/>
            <a:ext cx="2606040" cy="214884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6263640" y="1463040"/>
            <a:ext cx="2194560" cy="731520"/>
          </a:xfrm>
          <a:prstGeom prst="rect">
            <a:avLst/>
          </a:prstGeom>
          <a:noFill/>
        </p:spPr>
        <p:txBody>
          <a:bodyPr wrap="square" lIns="0" rIns="0" tIns="0" bIns="0" anchor="t">
            <a:spAutoFit/>
          </a:bodyPr>
          <a:lstStyle/>
          <a:p>
            <a:pPr algn="l"/>
            <a:r>
              <a:rPr sz="4400" b="1" i="0">
                <a:solidFill>
                  <a:srgbClr val="6258D8"/>
                </a:solidFill>
                <a:latin typeface="Calibri"/>
              </a:rPr>
              <a:t>39%</a:t>
            </a:r>
          </a:p>
        </p:txBody>
      </p:sp>
      <p:sp>
        <p:nvSpPr>
          <p:cNvPr id="16" name="TextBox 15"/>
          <p:cNvSpPr txBox="1"/>
          <p:nvPr/>
        </p:nvSpPr>
        <p:spPr>
          <a:xfrm>
            <a:off x="6263640" y="2194560"/>
            <a:ext cx="2194560" cy="868680"/>
          </a:xfrm>
          <a:prstGeom prst="rect">
            <a:avLst/>
          </a:prstGeom>
          <a:noFill/>
        </p:spPr>
        <p:txBody>
          <a:bodyPr wrap="square" lIns="0" rIns="0" tIns="0" bIns="0" anchor="t">
            <a:spAutoFit/>
          </a:bodyPr>
          <a:lstStyle/>
          <a:p>
            <a:pPr algn="l">
              <a:lnSpc>
                <a:spcPct val="100000"/>
              </a:lnSpc>
            </a:pPr>
            <a:r>
              <a:rPr sz="1300" b="0" i="0">
                <a:solidFill>
                  <a:srgbClr val="202331"/>
                </a:solidFill>
                <a:latin typeface="Calibri"/>
              </a:rPr>
              <a:t>of failed projects cite changing priorities; 35% cite inaccurate requirements</a:t>
            </a:r>
          </a:p>
        </p:txBody>
      </p:sp>
      <p:sp>
        <p:nvSpPr>
          <p:cNvPr id="17" name="TextBox 16"/>
          <p:cNvSpPr txBox="1"/>
          <p:nvPr/>
        </p:nvSpPr>
        <p:spPr>
          <a:xfrm>
            <a:off x="6263640" y="3090672"/>
            <a:ext cx="2194560" cy="320040"/>
          </a:xfrm>
          <a:prstGeom prst="rect">
            <a:avLst/>
          </a:prstGeom>
          <a:noFill/>
        </p:spPr>
        <p:txBody>
          <a:bodyPr wrap="square" lIns="0" rIns="0" tIns="0" bIns="0" anchor="t">
            <a:spAutoFit/>
          </a:bodyPr>
          <a:lstStyle/>
          <a:p>
            <a:pPr algn="l"/>
            <a:r>
              <a:rPr sz="900" b="0" i="1">
                <a:solidFill>
                  <a:srgbClr val="626A7B"/>
                </a:solidFill>
                <a:latin typeface="Calibri"/>
              </a:rPr>
              <a:t>PMI, Pulse of the Profession (2018)</a:t>
            </a:r>
          </a:p>
        </p:txBody>
      </p:sp>
      <p:sp>
        <p:nvSpPr>
          <p:cNvPr id="18" name="Rounded Rectangle 17"/>
          <p:cNvSpPr/>
          <p:nvPr/>
        </p:nvSpPr>
        <p:spPr>
          <a:xfrm>
            <a:off x="457200" y="3703320"/>
            <a:ext cx="8183879" cy="868680"/>
          </a:xfrm>
          <a:prstGeom prst="roundRect">
            <a:avLst>
              <a:gd name="adj" fmla="val 12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703320"/>
            <a:ext cx="7772400" cy="868680"/>
          </a:xfrm>
          <a:prstGeom prst="rect">
            <a:avLst/>
          </a:prstGeom>
          <a:noFill/>
        </p:spPr>
        <p:txBody>
          <a:bodyPr wrap="square" lIns="0" rIns="0" tIns="0" bIns="0" anchor="ctr">
            <a:spAutoFit/>
          </a:bodyPr>
          <a:lstStyle/>
          <a:p>
            <a:pPr algn="l"/>
            <a:r>
              <a:rPr sz="1400" b="1" i="0">
                <a:solidFill>
                  <a:srgbClr val="24283B"/>
                </a:solidFill>
                <a:latin typeface="Calibri"/>
              </a:rPr>
              <a:t>The evidence that should change a decision usually already exists </a:t>
            </a:r>
            <a:r>
              <a:rPr sz="1400" b="0" i="0">
                <a:solidFill>
                  <a:srgbClr val="202331"/>
                </a:solidFill>
                <a:latin typeface="Calibri"/>
              </a:rPr>
              <a:t>— in a vendor note, a spreadsheet or a meeting transcript. Nobody connects it back to the decision until the plan has already slipped.</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WHY IT HAPPENS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How a 9-day vendor slip becomes a launch surprise</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3 / 14</a:t>
            </a:r>
          </a:p>
        </p:txBody>
      </p:sp>
      <p:sp>
        <p:nvSpPr>
          <p:cNvPr id="6" name="Rounded Rectangle 5"/>
          <p:cNvSpPr/>
          <p:nvPr/>
        </p:nvSpPr>
        <p:spPr>
          <a:xfrm>
            <a:off x="457200" y="1325880"/>
            <a:ext cx="1920240" cy="25146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40080" y="1508760"/>
            <a:ext cx="384048" cy="384048"/>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508760"/>
            <a:ext cx="384048" cy="384048"/>
          </a:xfrm>
          <a:prstGeom prst="rect">
            <a:avLst/>
          </a:prstGeom>
          <a:noFill/>
        </p:spPr>
        <p:txBody>
          <a:bodyPr wrap="square" lIns="0" rIns="0" tIns="0" bIns="0" anchor="ctr">
            <a:spAutoFit/>
          </a:bodyPr>
          <a:lstStyle/>
          <a:p>
            <a:pPr algn="ctr"/>
            <a:r>
              <a:rPr sz="1500" b="1" i="0">
                <a:solidFill>
                  <a:srgbClr val="5146C5"/>
                </a:solidFill>
                <a:latin typeface="Calibri"/>
              </a:rPr>
              <a:t>1</a:t>
            </a:r>
          </a:p>
        </p:txBody>
      </p:sp>
      <p:sp>
        <p:nvSpPr>
          <p:cNvPr id="9" name="TextBox 8"/>
          <p:cNvSpPr txBox="1"/>
          <p:nvPr/>
        </p:nvSpPr>
        <p:spPr>
          <a:xfrm>
            <a:off x="1115568" y="1536192"/>
            <a:ext cx="1188720" cy="347472"/>
          </a:xfrm>
          <a:prstGeom prst="rect">
            <a:avLst/>
          </a:prstGeom>
          <a:noFill/>
        </p:spPr>
        <p:txBody>
          <a:bodyPr wrap="square" lIns="0" rIns="0" tIns="0" bIns="0" anchor="ctr">
            <a:spAutoFit/>
          </a:bodyPr>
          <a:lstStyle/>
          <a:p>
            <a:pPr algn="l"/>
            <a:r>
              <a:rPr sz="1700" b="1" i="0">
                <a:solidFill>
                  <a:srgbClr val="24283B"/>
                </a:solidFill>
                <a:latin typeface="Calibri"/>
              </a:rPr>
              <a:t>Decide</a:t>
            </a:r>
          </a:p>
        </p:txBody>
      </p:sp>
      <p:sp>
        <p:nvSpPr>
          <p:cNvPr id="10" name="TextBox 9"/>
          <p:cNvSpPr txBox="1"/>
          <p:nvPr/>
        </p:nvSpPr>
        <p:spPr>
          <a:xfrm>
            <a:off x="640080" y="2057400"/>
            <a:ext cx="1600200" cy="1234440"/>
          </a:xfrm>
          <a:prstGeom prst="rect">
            <a:avLst/>
          </a:prstGeom>
          <a:noFill/>
        </p:spPr>
        <p:txBody>
          <a:bodyPr wrap="square" lIns="0" rIns="0" tIns="0" bIns="0" anchor="t">
            <a:spAutoFit/>
          </a:bodyPr>
          <a:lstStyle/>
          <a:p>
            <a:pPr algn="l"/>
            <a:r>
              <a:rPr sz="1300" b="0" i="0">
                <a:solidFill>
                  <a:srgbClr val="202331"/>
                </a:solidFill>
                <a:latin typeface="Calibri"/>
              </a:rPr>
              <a:t>Launch readiness approved, assuming Acme delivers the integration package by Oct 15.</a:t>
            </a:r>
          </a:p>
        </p:txBody>
      </p:sp>
      <p:sp>
        <p:nvSpPr>
          <p:cNvPr id="11" name="TextBox 10"/>
          <p:cNvSpPr txBox="1"/>
          <p:nvPr/>
        </p:nvSpPr>
        <p:spPr>
          <a:xfrm>
            <a:off x="640080" y="3401568"/>
            <a:ext cx="1600200" cy="274320"/>
          </a:xfrm>
          <a:prstGeom prst="rect">
            <a:avLst/>
          </a:prstGeom>
          <a:noFill/>
        </p:spPr>
        <p:txBody>
          <a:bodyPr wrap="square" lIns="0" rIns="0" tIns="0" bIns="0" anchor="t">
            <a:spAutoFit/>
          </a:bodyPr>
          <a:lstStyle/>
          <a:p>
            <a:pPr algn="l"/>
            <a:r>
              <a:rPr sz="1000" b="1" i="0">
                <a:solidFill>
                  <a:srgbClr val="5146C5"/>
                </a:solidFill>
                <a:latin typeface="Calibri"/>
              </a:rPr>
              <a:t>Decision doc</a:t>
            </a:r>
          </a:p>
        </p:txBody>
      </p:sp>
      <p:cxnSp>
        <p:nvCxnSpPr>
          <p:cNvPr id="12" name="Connector 11"/>
          <p:cNvCxnSpPr/>
          <p:nvPr/>
        </p:nvCxnSpPr>
        <p:spPr>
          <a:xfrm>
            <a:off x="2395728" y="2578608"/>
            <a:ext cx="146304"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2560320" y="1325880"/>
            <a:ext cx="1920240" cy="25146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ounded Rectangle 13"/>
          <p:cNvSpPr/>
          <p:nvPr/>
        </p:nvSpPr>
        <p:spPr>
          <a:xfrm>
            <a:off x="2743200" y="1508760"/>
            <a:ext cx="384048" cy="384048"/>
          </a:xfrm>
          <a:prstGeom prst="roundRect">
            <a:avLst>
              <a:gd name="adj" fmla="val 28000"/>
            </a:avLst>
          </a:prstGeom>
          <a:solidFill>
            <a:srgbClr val="FFF4DE"/>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2743200" y="1508760"/>
            <a:ext cx="384048" cy="384048"/>
          </a:xfrm>
          <a:prstGeom prst="rect">
            <a:avLst/>
          </a:prstGeom>
          <a:noFill/>
        </p:spPr>
        <p:txBody>
          <a:bodyPr wrap="square" lIns="0" rIns="0" tIns="0" bIns="0" anchor="ctr">
            <a:spAutoFit/>
          </a:bodyPr>
          <a:lstStyle/>
          <a:p>
            <a:pPr algn="ctr"/>
            <a:r>
              <a:rPr sz="1500" b="1" i="0">
                <a:solidFill>
                  <a:srgbClr val="B7791F"/>
                </a:solidFill>
                <a:latin typeface="Calibri"/>
              </a:rPr>
              <a:t>2</a:t>
            </a:r>
          </a:p>
        </p:txBody>
      </p:sp>
      <p:sp>
        <p:nvSpPr>
          <p:cNvPr id="16" name="TextBox 15"/>
          <p:cNvSpPr txBox="1"/>
          <p:nvPr/>
        </p:nvSpPr>
        <p:spPr>
          <a:xfrm>
            <a:off x="3218687" y="1536192"/>
            <a:ext cx="1188720" cy="347472"/>
          </a:xfrm>
          <a:prstGeom prst="rect">
            <a:avLst/>
          </a:prstGeom>
          <a:noFill/>
        </p:spPr>
        <p:txBody>
          <a:bodyPr wrap="square" lIns="0" rIns="0" tIns="0" bIns="0" anchor="ctr">
            <a:spAutoFit/>
          </a:bodyPr>
          <a:lstStyle/>
          <a:p>
            <a:pPr algn="l"/>
            <a:r>
              <a:rPr sz="1700" b="1" i="0">
                <a:solidFill>
                  <a:srgbClr val="24283B"/>
                </a:solidFill>
                <a:latin typeface="Calibri"/>
              </a:rPr>
              <a:t>Drift</a:t>
            </a:r>
          </a:p>
        </p:txBody>
      </p:sp>
      <p:sp>
        <p:nvSpPr>
          <p:cNvPr id="17" name="TextBox 16"/>
          <p:cNvSpPr txBox="1"/>
          <p:nvPr/>
        </p:nvSpPr>
        <p:spPr>
          <a:xfrm>
            <a:off x="2743200" y="2057400"/>
            <a:ext cx="1600200" cy="1234440"/>
          </a:xfrm>
          <a:prstGeom prst="rect">
            <a:avLst/>
          </a:prstGeom>
          <a:noFill/>
        </p:spPr>
        <p:txBody>
          <a:bodyPr wrap="square" lIns="0" rIns="0" tIns="0" bIns="0" anchor="t">
            <a:spAutoFit/>
          </a:bodyPr>
          <a:lstStyle/>
          <a:p>
            <a:pPr algn="l"/>
            <a:r>
              <a:rPr sz="1300" b="0" i="0">
                <a:solidFill>
                  <a:srgbClr val="202331"/>
                </a:solidFill>
                <a:latin typeface="Calibri"/>
              </a:rPr>
              <a:t>A vendor note in a Drive subfolder now says Oct 24.</a:t>
            </a:r>
          </a:p>
        </p:txBody>
      </p:sp>
      <p:sp>
        <p:nvSpPr>
          <p:cNvPr id="18" name="TextBox 17"/>
          <p:cNvSpPr txBox="1"/>
          <p:nvPr/>
        </p:nvSpPr>
        <p:spPr>
          <a:xfrm>
            <a:off x="2743200" y="3401568"/>
            <a:ext cx="1600200" cy="274320"/>
          </a:xfrm>
          <a:prstGeom prst="rect">
            <a:avLst/>
          </a:prstGeom>
          <a:noFill/>
        </p:spPr>
        <p:txBody>
          <a:bodyPr wrap="square" lIns="0" rIns="0" tIns="0" bIns="0" anchor="t">
            <a:spAutoFit/>
          </a:bodyPr>
          <a:lstStyle/>
          <a:p>
            <a:pPr algn="l"/>
            <a:r>
              <a:rPr sz="1000" b="1" i="0">
                <a:solidFill>
                  <a:srgbClr val="B7791F"/>
                </a:solidFill>
                <a:latin typeface="Calibri"/>
              </a:rPr>
              <a:t>vendor-update.txt</a:t>
            </a:r>
          </a:p>
        </p:txBody>
      </p:sp>
      <p:cxnSp>
        <p:nvCxnSpPr>
          <p:cNvPr id="19" name="Connector 18"/>
          <p:cNvCxnSpPr/>
          <p:nvPr/>
        </p:nvCxnSpPr>
        <p:spPr>
          <a:xfrm>
            <a:off x="4498848" y="2578608"/>
            <a:ext cx="146304"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663440" y="1325880"/>
            <a:ext cx="1920240" cy="25146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ounded Rectangle 20"/>
          <p:cNvSpPr/>
          <p:nvPr/>
        </p:nvSpPr>
        <p:spPr>
          <a:xfrm>
            <a:off x="4846320" y="1508760"/>
            <a:ext cx="384048" cy="384048"/>
          </a:xfrm>
          <a:prstGeom prst="roundRect">
            <a:avLst>
              <a:gd name="adj" fmla="val 28000"/>
            </a:avLst>
          </a:prstGeom>
          <a:solidFill>
            <a:srgbClr val="F1F2F6"/>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846320" y="1508760"/>
            <a:ext cx="384048" cy="384048"/>
          </a:xfrm>
          <a:prstGeom prst="rect">
            <a:avLst/>
          </a:prstGeom>
          <a:noFill/>
        </p:spPr>
        <p:txBody>
          <a:bodyPr wrap="square" lIns="0" rIns="0" tIns="0" bIns="0" anchor="ctr">
            <a:spAutoFit/>
          </a:bodyPr>
          <a:lstStyle/>
          <a:p>
            <a:pPr algn="ctr"/>
            <a:r>
              <a:rPr sz="1500" b="1" i="0">
                <a:solidFill>
                  <a:srgbClr val="626A7B"/>
                </a:solidFill>
                <a:latin typeface="Calibri"/>
              </a:rPr>
              <a:t>3</a:t>
            </a:r>
          </a:p>
        </p:txBody>
      </p:sp>
      <p:sp>
        <p:nvSpPr>
          <p:cNvPr id="23" name="TextBox 22"/>
          <p:cNvSpPr txBox="1"/>
          <p:nvPr/>
        </p:nvSpPr>
        <p:spPr>
          <a:xfrm>
            <a:off x="5321807" y="1536192"/>
            <a:ext cx="1188720" cy="347472"/>
          </a:xfrm>
          <a:prstGeom prst="rect">
            <a:avLst/>
          </a:prstGeom>
          <a:noFill/>
        </p:spPr>
        <p:txBody>
          <a:bodyPr wrap="square" lIns="0" rIns="0" tIns="0" bIns="0" anchor="ctr">
            <a:spAutoFit/>
          </a:bodyPr>
          <a:lstStyle/>
          <a:p>
            <a:pPr algn="l"/>
            <a:r>
              <a:rPr sz="1700" b="1" i="0">
                <a:solidFill>
                  <a:srgbClr val="24283B"/>
                </a:solidFill>
                <a:latin typeface="Calibri"/>
              </a:rPr>
              <a:t>Silence</a:t>
            </a:r>
          </a:p>
        </p:txBody>
      </p:sp>
      <p:sp>
        <p:nvSpPr>
          <p:cNvPr id="24" name="TextBox 23"/>
          <p:cNvSpPr txBox="1"/>
          <p:nvPr/>
        </p:nvSpPr>
        <p:spPr>
          <a:xfrm>
            <a:off x="4846320" y="2057400"/>
            <a:ext cx="1600200" cy="1234440"/>
          </a:xfrm>
          <a:prstGeom prst="rect">
            <a:avLst/>
          </a:prstGeom>
          <a:noFill/>
        </p:spPr>
        <p:txBody>
          <a:bodyPr wrap="square" lIns="0" rIns="0" tIns="0" bIns="0" anchor="t">
            <a:spAutoFit/>
          </a:bodyPr>
          <a:lstStyle/>
          <a:p>
            <a:pPr algn="l"/>
            <a:r>
              <a:rPr sz="1300" b="0" i="0">
                <a:solidFill>
                  <a:srgbClr val="202331"/>
                </a:solidFill>
                <a:latin typeface="Calibri"/>
              </a:rPr>
              <a:t>Nobody links the note to the decision. The plan still says Oct 15.</a:t>
            </a:r>
          </a:p>
        </p:txBody>
      </p:sp>
      <p:sp>
        <p:nvSpPr>
          <p:cNvPr id="25" name="TextBox 24"/>
          <p:cNvSpPr txBox="1"/>
          <p:nvPr/>
        </p:nvSpPr>
        <p:spPr>
          <a:xfrm>
            <a:off x="4846320" y="3401568"/>
            <a:ext cx="1600200" cy="274320"/>
          </a:xfrm>
          <a:prstGeom prst="rect">
            <a:avLst/>
          </a:prstGeom>
          <a:noFill/>
        </p:spPr>
        <p:txBody>
          <a:bodyPr wrap="square" lIns="0" rIns="0" tIns="0" bIns="0" anchor="t">
            <a:spAutoFit/>
          </a:bodyPr>
          <a:lstStyle/>
          <a:p>
            <a:pPr algn="l"/>
            <a:r>
              <a:rPr sz="1000" b="1" i="0">
                <a:solidFill>
                  <a:srgbClr val="626A7B"/>
                </a:solidFill>
                <a:latin typeface="Calibri"/>
              </a:rPr>
              <a:t>No owner, no alert</a:t>
            </a:r>
          </a:p>
        </p:txBody>
      </p:sp>
      <p:cxnSp>
        <p:nvCxnSpPr>
          <p:cNvPr id="26" name="Connector 25"/>
          <p:cNvCxnSpPr/>
          <p:nvPr/>
        </p:nvCxnSpPr>
        <p:spPr>
          <a:xfrm>
            <a:off x="6601968" y="2578608"/>
            <a:ext cx="146303"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766559" y="1325880"/>
            <a:ext cx="1920240" cy="25146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ounded Rectangle 27"/>
          <p:cNvSpPr/>
          <p:nvPr/>
        </p:nvSpPr>
        <p:spPr>
          <a:xfrm>
            <a:off x="6949440" y="1508760"/>
            <a:ext cx="384048" cy="384048"/>
          </a:xfrm>
          <a:prstGeom prst="roundRect">
            <a:avLst>
              <a:gd name="adj" fmla="val 28000"/>
            </a:avLst>
          </a:prstGeom>
          <a:solidFill>
            <a:srgbClr val="FFF0F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6949440" y="1508760"/>
            <a:ext cx="384048" cy="384048"/>
          </a:xfrm>
          <a:prstGeom prst="rect">
            <a:avLst/>
          </a:prstGeom>
          <a:noFill/>
        </p:spPr>
        <p:txBody>
          <a:bodyPr wrap="square" lIns="0" rIns="0" tIns="0" bIns="0" anchor="ctr">
            <a:spAutoFit/>
          </a:bodyPr>
          <a:lstStyle/>
          <a:p>
            <a:pPr algn="ctr"/>
            <a:r>
              <a:rPr sz="1500" b="1" i="0">
                <a:solidFill>
                  <a:srgbClr val="B13E49"/>
                </a:solidFill>
                <a:latin typeface="Calibri"/>
              </a:rPr>
              <a:t>4</a:t>
            </a:r>
          </a:p>
        </p:txBody>
      </p:sp>
      <p:sp>
        <p:nvSpPr>
          <p:cNvPr id="30" name="TextBox 29"/>
          <p:cNvSpPr txBox="1"/>
          <p:nvPr/>
        </p:nvSpPr>
        <p:spPr>
          <a:xfrm>
            <a:off x="7424927" y="1536192"/>
            <a:ext cx="1188720" cy="347472"/>
          </a:xfrm>
          <a:prstGeom prst="rect">
            <a:avLst/>
          </a:prstGeom>
          <a:noFill/>
        </p:spPr>
        <p:txBody>
          <a:bodyPr wrap="square" lIns="0" rIns="0" tIns="0" bIns="0" anchor="ctr">
            <a:spAutoFit/>
          </a:bodyPr>
          <a:lstStyle/>
          <a:p>
            <a:pPr algn="l"/>
            <a:r>
              <a:rPr sz="1700" b="1" i="0">
                <a:solidFill>
                  <a:srgbClr val="24283B"/>
                </a:solidFill>
                <a:latin typeface="Calibri"/>
              </a:rPr>
              <a:t>Surprise</a:t>
            </a:r>
          </a:p>
        </p:txBody>
      </p:sp>
      <p:sp>
        <p:nvSpPr>
          <p:cNvPr id="31" name="TextBox 30"/>
          <p:cNvSpPr txBox="1"/>
          <p:nvPr/>
        </p:nvSpPr>
        <p:spPr>
          <a:xfrm>
            <a:off x="6949440" y="2057400"/>
            <a:ext cx="1600200" cy="1234440"/>
          </a:xfrm>
          <a:prstGeom prst="rect">
            <a:avLst/>
          </a:prstGeom>
          <a:noFill/>
        </p:spPr>
        <p:txBody>
          <a:bodyPr wrap="square" lIns="0" rIns="0" tIns="0" bIns="0" anchor="t">
            <a:spAutoFit/>
          </a:bodyPr>
          <a:lstStyle/>
          <a:p>
            <a:pPr algn="l"/>
            <a:r>
              <a:rPr sz="1300" b="0" i="0">
                <a:solidFill>
                  <a:srgbClr val="202331"/>
                </a:solidFill>
                <a:latin typeface="Calibri"/>
              </a:rPr>
              <a:t>The slip surfaces in a status meeting, after the readiness review and launch comms are booked.</a:t>
            </a:r>
          </a:p>
        </p:txBody>
      </p:sp>
      <p:sp>
        <p:nvSpPr>
          <p:cNvPr id="32" name="TextBox 31"/>
          <p:cNvSpPr txBox="1"/>
          <p:nvPr/>
        </p:nvSpPr>
        <p:spPr>
          <a:xfrm>
            <a:off x="6949440" y="3401568"/>
            <a:ext cx="1600200" cy="274320"/>
          </a:xfrm>
          <a:prstGeom prst="rect">
            <a:avLst/>
          </a:prstGeom>
          <a:noFill/>
        </p:spPr>
        <p:txBody>
          <a:bodyPr wrap="square" lIns="0" rIns="0" tIns="0" bIns="0" anchor="t">
            <a:spAutoFit/>
          </a:bodyPr>
          <a:lstStyle/>
          <a:p>
            <a:pPr algn="l"/>
            <a:r>
              <a:rPr sz="1000" b="1" i="0">
                <a:solidFill>
                  <a:srgbClr val="B13E49"/>
                </a:solidFill>
                <a:latin typeface="Calibri"/>
              </a:rPr>
              <a:t>Rework and lost trust</a:t>
            </a:r>
          </a:p>
        </p:txBody>
      </p:sp>
      <p:sp>
        <p:nvSpPr>
          <p:cNvPr id="33" name="TextBox 32"/>
          <p:cNvSpPr txBox="1"/>
          <p:nvPr/>
        </p:nvSpPr>
        <p:spPr>
          <a:xfrm>
            <a:off x="457200" y="4069080"/>
            <a:ext cx="8183879" cy="548640"/>
          </a:xfrm>
          <a:prstGeom prst="rect">
            <a:avLst/>
          </a:prstGeom>
          <a:noFill/>
        </p:spPr>
        <p:txBody>
          <a:bodyPr wrap="square" lIns="0" rIns="0" tIns="0" bIns="0" anchor="t">
            <a:spAutoFit/>
          </a:bodyPr>
          <a:lstStyle/>
          <a:p>
            <a:pPr algn="l"/>
            <a:r>
              <a:rPr sz="1400" b="1" i="0">
                <a:solidFill>
                  <a:srgbClr val="24283B"/>
                </a:solidFill>
                <a:latin typeface="Calibri"/>
              </a:rPr>
              <a:t>Today the cross-check lives in someone's head. </a:t>
            </a:r>
            <a:r>
              <a:rPr sz="1400" b="0" i="0">
                <a:solidFill>
                  <a:srgbClr val="202331"/>
                </a:solidFill>
                <a:latin typeface="Calibri"/>
              </a:rPr>
              <a:t>Wikis and decision logs store the decision but never re-check it; search finds documents only if you already know to look.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OUR SOLUTION</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Organisational memory that checks itself</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4 / 14</a:t>
            </a:r>
          </a:p>
        </p:txBody>
      </p:sp>
      <p:sp>
        <p:nvSpPr>
          <p:cNvPr id="6" name="Rounded Rectangle 5"/>
          <p:cNvSpPr/>
          <p:nvPr/>
        </p:nvSpPr>
        <p:spPr>
          <a:xfrm>
            <a:off x="457200" y="1280160"/>
            <a:ext cx="4023360" cy="118872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85800" y="1508760"/>
            <a:ext cx="457200" cy="457200"/>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85800" y="1508760"/>
            <a:ext cx="457200" cy="457200"/>
          </a:xfrm>
          <a:prstGeom prst="rect">
            <a:avLst/>
          </a:prstGeom>
          <a:noFill/>
        </p:spPr>
        <p:txBody>
          <a:bodyPr wrap="square" lIns="0" rIns="0" tIns="0" bIns="0" anchor="ctr">
            <a:spAutoFit/>
          </a:bodyPr>
          <a:lstStyle/>
          <a:p>
            <a:pPr algn="ctr"/>
            <a:r>
              <a:rPr sz="1700" b="1" i="0">
                <a:solidFill>
                  <a:srgbClr val="5146C5"/>
                </a:solidFill>
                <a:latin typeface="Calibri"/>
              </a:rPr>
              <a:t>R</a:t>
            </a:r>
          </a:p>
        </p:txBody>
      </p:sp>
      <p:sp>
        <p:nvSpPr>
          <p:cNvPr id="9" name="TextBox 8"/>
          <p:cNvSpPr txBox="1"/>
          <p:nvPr/>
        </p:nvSpPr>
        <p:spPr>
          <a:xfrm>
            <a:off x="1325880" y="1463039"/>
            <a:ext cx="2971800" cy="320040"/>
          </a:xfrm>
          <a:prstGeom prst="rect">
            <a:avLst/>
          </a:prstGeom>
          <a:noFill/>
        </p:spPr>
        <p:txBody>
          <a:bodyPr wrap="square" lIns="0" rIns="0" tIns="0" bIns="0" anchor="t">
            <a:spAutoFit/>
          </a:bodyPr>
          <a:lstStyle/>
          <a:p>
            <a:pPr algn="l"/>
            <a:r>
              <a:rPr sz="1700" b="1" i="0">
                <a:solidFill>
                  <a:srgbClr val="24283B"/>
                </a:solidFill>
                <a:latin typeface="Calibri"/>
              </a:rPr>
              <a:t>Remember</a:t>
            </a:r>
          </a:p>
        </p:txBody>
      </p:sp>
      <p:sp>
        <p:nvSpPr>
          <p:cNvPr id="10" name="TextBox 9"/>
          <p:cNvSpPr txBox="1"/>
          <p:nvPr/>
        </p:nvSpPr>
        <p:spPr>
          <a:xfrm>
            <a:off x="1325880" y="1783080"/>
            <a:ext cx="3017520" cy="640080"/>
          </a:xfrm>
          <a:prstGeom prst="rect">
            <a:avLst/>
          </a:prstGeom>
          <a:noFill/>
        </p:spPr>
        <p:txBody>
          <a:bodyPr wrap="square" lIns="0" rIns="0" tIns="0" bIns="0" anchor="t">
            <a:spAutoFit/>
          </a:bodyPr>
          <a:lstStyle/>
          <a:p>
            <a:pPr algn="l"/>
            <a:r>
              <a:rPr sz="1200" b="0" i="0">
                <a:solidFill>
                  <a:srgbClr val="202331"/>
                </a:solidFill>
                <a:latin typeface="Calibri"/>
              </a:rPr>
              <a:t>A decision register where every decision keeps its owner, rationale, revision and quoted source evidence.</a:t>
            </a:r>
          </a:p>
        </p:txBody>
      </p:sp>
      <p:sp>
        <p:nvSpPr>
          <p:cNvPr id="11" name="Rounded Rectangle 10"/>
          <p:cNvSpPr/>
          <p:nvPr/>
        </p:nvSpPr>
        <p:spPr>
          <a:xfrm>
            <a:off x="4617720" y="1280160"/>
            <a:ext cx="4023360" cy="118872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4846320" y="1508760"/>
            <a:ext cx="457200" cy="457200"/>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846320" y="1508760"/>
            <a:ext cx="457200" cy="457200"/>
          </a:xfrm>
          <a:prstGeom prst="rect">
            <a:avLst/>
          </a:prstGeom>
          <a:noFill/>
        </p:spPr>
        <p:txBody>
          <a:bodyPr wrap="square" lIns="0" rIns="0" tIns="0" bIns="0" anchor="ctr">
            <a:spAutoFit/>
          </a:bodyPr>
          <a:lstStyle/>
          <a:p>
            <a:pPr algn="ctr"/>
            <a:r>
              <a:rPr sz="1700" b="1" i="0">
                <a:solidFill>
                  <a:srgbClr val="5146C5"/>
                </a:solidFill>
                <a:latin typeface="Calibri"/>
              </a:rPr>
              <a:t>W</a:t>
            </a:r>
          </a:p>
        </p:txBody>
      </p:sp>
      <p:sp>
        <p:nvSpPr>
          <p:cNvPr id="14" name="TextBox 13"/>
          <p:cNvSpPr txBox="1"/>
          <p:nvPr/>
        </p:nvSpPr>
        <p:spPr>
          <a:xfrm>
            <a:off x="5486400" y="1463039"/>
            <a:ext cx="2971800" cy="320040"/>
          </a:xfrm>
          <a:prstGeom prst="rect">
            <a:avLst/>
          </a:prstGeom>
          <a:noFill/>
        </p:spPr>
        <p:txBody>
          <a:bodyPr wrap="square" lIns="0" rIns="0" tIns="0" bIns="0" anchor="t">
            <a:spAutoFit/>
          </a:bodyPr>
          <a:lstStyle/>
          <a:p>
            <a:pPr algn="l"/>
            <a:r>
              <a:rPr sz="1700" b="1" i="0">
                <a:solidFill>
                  <a:srgbClr val="24283B"/>
                </a:solidFill>
                <a:latin typeface="Calibri"/>
              </a:rPr>
              <a:t>Watch</a:t>
            </a:r>
          </a:p>
        </p:txBody>
      </p:sp>
      <p:sp>
        <p:nvSpPr>
          <p:cNvPr id="15" name="TextBox 14"/>
          <p:cNvSpPr txBox="1"/>
          <p:nvPr/>
        </p:nvSpPr>
        <p:spPr>
          <a:xfrm>
            <a:off x="5486400" y="1783080"/>
            <a:ext cx="3017520" cy="640080"/>
          </a:xfrm>
          <a:prstGeom prst="rect">
            <a:avLst/>
          </a:prstGeom>
          <a:noFill/>
        </p:spPr>
        <p:txBody>
          <a:bodyPr wrap="square" lIns="0" rIns="0" tIns="0" bIns="0" anchor="t">
            <a:spAutoFit/>
          </a:bodyPr>
          <a:lstStyle/>
          <a:p>
            <a:pPr algn="l"/>
            <a:r>
              <a:rPr sz="1200" b="0" i="0">
                <a:solidFill>
                  <a:srgbClr val="202331"/>
                </a:solidFill>
                <a:latin typeface="Calibri"/>
              </a:rPr>
              <a:t>Connects to a Google Drive folder tree, including Docs, text files and saved Meet transcripts, and snapshots each version.</a:t>
            </a:r>
          </a:p>
        </p:txBody>
      </p:sp>
      <p:sp>
        <p:nvSpPr>
          <p:cNvPr id="16" name="Rounded Rectangle 15"/>
          <p:cNvSpPr/>
          <p:nvPr/>
        </p:nvSpPr>
        <p:spPr>
          <a:xfrm>
            <a:off x="457200" y="2651760"/>
            <a:ext cx="4023360" cy="118872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85800" y="2880360"/>
            <a:ext cx="457200" cy="457200"/>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85800" y="2880360"/>
            <a:ext cx="457200" cy="457200"/>
          </a:xfrm>
          <a:prstGeom prst="rect">
            <a:avLst/>
          </a:prstGeom>
          <a:noFill/>
        </p:spPr>
        <p:txBody>
          <a:bodyPr wrap="square" lIns="0" rIns="0" tIns="0" bIns="0" anchor="ctr">
            <a:spAutoFit/>
          </a:bodyPr>
          <a:lstStyle/>
          <a:p>
            <a:pPr algn="ctr"/>
            <a:r>
              <a:rPr sz="1700" b="1" i="0">
                <a:solidFill>
                  <a:srgbClr val="5146C5"/>
                </a:solidFill>
                <a:latin typeface="Calibri"/>
              </a:rPr>
              <a:t>D</a:t>
            </a:r>
          </a:p>
        </p:txBody>
      </p:sp>
      <p:sp>
        <p:nvSpPr>
          <p:cNvPr id="19" name="TextBox 18"/>
          <p:cNvSpPr txBox="1"/>
          <p:nvPr/>
        </p:nvSpPr>
        <p:spPr>
          <a:xfrm>
            <a:off x="1325880" y="2834640"/>
            <a:ext cx="2971800" cy="320040"/>
          </a:xfrm>
          <a:prstGeom prst="rect">
            <a:avLst/>
          </a:prstGeom>
          <a:noFill/>
        </p:spPr>
        <p:txBody>
          <a:bodyPr wrap="square" lIns="0" rIns="0" tIns="0" bIns="0" anchor="t">
            <a:spAutoFit/>
          </a:bodyPr>
          <a:lstStyle/>
          <a:p>
            <a:pPr algn="l"/>
            <a:r>
              <a:rPr sz="1700" b="1" i="0">
                <a:solidFill>
                  <a:srgbClr val="24283B"/>
                </a:solidFill>
                <a:latin typeface="Calibri"/>
              </a:rPr>
              <a:t>Detect</a:t>
            </a:r>
          </a:p>
        </p:txBody>
      </p:sp>
      <p:sp>
        <p:nvSpPr>
          <p:cNvPr id="20" name="TextBox 19"/>
          <p:cNvSpPr txBox="1"/>
          <p:nvPr/>
        </p:nvSpPr>
        <p:spPr>
          <a:xfrm>
            <a:off x="1325880" y="3154680"/>
            <a:ext cx="3017520" cy="640080"/>
          </a:xfrm>
          <a:prstGeom prst="rect">
            <a:avLst/>
          </a:prstGeom>
          <a:noFill/>
        </p:spPr>
        <p:txBody>
          <a:bodyPr wrap="square" lIns="0" rIns="0" tIns="0" bIns="0" anchor="t">
            <a:spAutoFit/>
          </a:bodyPr>
          <a:lstStyle/>
          <a:p>
            <a:pPr algn="l"/>
            <a:r>
              <a:rPr sz="1200" b="0" i="0">
                <a:solidFill>
                  <a:srgbClr val="202331"/>
                </a:solidFill>
                <a:latin typeface="Calibri"/>
              </a:rPr>
              <a:t>Gemini extracts new facts; typed rules compare them with monitored assumptions and raise cited alerts.</a:t>
            </a:r>
          </a:p>
        </p:txBody>
      </p:sp>
      <p:sp>
        <p:nvSpPr>
          <p:cNvPr id="21" name="Rounded Rectangle 20"/>
          <p:cNvSpPr/>
          <p:nvPr/>
        </p:nvSpPr>
        <p:spPr>
          <a:xfrm>
            <a:off x="4617720" y="2651760"/>
            <a:ext cx="4023360" cy="118872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ounded Rectangle 21"/>
          <p:cNvSpPr/>
          <p:nvPr/>
        </p:nvSpPr>
        <p:spPr>
          <a:xfrm>
            <a:off x="4846320" y="2880360"/>
            <a:ext cx="457200" cy="457200"/>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4846320" y="2880360"/>
            <a:ext cx="457200" cy="457200"/>
          </a:xfrm>
          <a:prstGeom prst="rect">
            <a:avLst/>
          </a:prstGeom>
          <a:noFill/>
        </p:spPr>
        <p:txBody>
          <a:bodyPr wrap="square" lIns="0" rIns="0" tIns="0" bIns="0" anchor="ctr">
            <a:spAutoFit/>
          </a:bodyPr>
          <a:lstStyle/>
          <a:p>
            <a:pPr algn="ctr"/>
            <a:r>
              <a:rPr sz="1700" b="1" i="0">
                <a:solidFill>
                  <a:srgbClr val="5146C5"/>
                </a:solidFill>
                <a:latin typeface="Calibri"/>
              </a:rPr>
              <a:t>E</a:t>
            </a:r>
          </a:p>
        </p:txBody>
      </p:sp>
      <p:sp>
        <p:nvSpPr>
          <p:cNvPr id="24" name="TextBox 23"/>
          <p:cNvSpPr txBox="1"/>
          <p:nvPr/>
        </p:nvSpPr>
        <p:spPr>
          <a:xfrm>
            <a:off x="5486400" y="2834640"/>
            <a:ext cx="2971800" cy="320040"/>
          </a:xfrm>
          <a:prstGeom prst="rect">
            <a:avLst/>
          </a:prstGeom>
          <a:noFill/>
        </p:spPr>
        <p:txBody>
          <a:bodyPr wrap="square" lIns="0" rIns="0" tIns="0" bIns="0" anchor="t">
            <a:spAutoFit/>
          </a:bodyPr>
          <a:lstStyle/>
          <a:p>
            <a:pPr algn="l"/>
            <a:r>
              <a:rPr sz="1700" b="1" i="0">
                <a:solidFill>
                  <a:srgbClr val="24283B"/>
                </a:solidFill>
                <a:latin typeface="Calibri"/>
              </a:rPr>
              <a:t>Explain</a:t>
            </a:r>
          </a:p>
        </p:txBody>
      </p:sp>
      <p:sp>
        <p:nvSpPr>
          <p:cNvPr id="25" name="TextBox 24"/>
          <p:cNvSpPr txBox="1"/>
          <p:nvPr/>
        </p:nvSpPr>
        <p:spPr>
          <a:xfrm>
            <a:off x="5486400" y="3154680"/>
            <a:ext cx="3017520" cy="640080"/>
          </a:xfrm>
          <a:prstGeom prst="rect">
            <a:avLst/>
          </a:prstGeom>
          <a:noFill/>
        </p:spPr>
        <p:txBody>
          <a:bodyPr wrap="square" lIns="0" rIns="0" tIns="0" bIns="0" anchor="t">
            <a:spAutoFit/>
          </a:bodyPr>
          <a:lstStyle/>
          <a:p>
            <a:pPr algn="l"/>
            <a:r>
              <a:rPr sz="1200" b="0" i="0">
                <a:solidFill>
                  <a:srgbClr val="202331"/>
                </a:solidFill>
                <a:latin typeface="Calibri"/>
              </a:rPr>
              <a:t>An interactive impact graph traces the challenged decision and every downstream decision it affects.</a:t>
            </a:r>
          </a:p>
        </p:txBody>
      </p:sp>
      <p:sp>
        <p:nvSpPr>
          <p:cNvPr id="26" name="Rounded Rectangle 25"/>
          <p:cNvSpPr/>
          <p:nvPr/>
        </p:nvSpPr>
        <p:spPr>
          <a:xfrm>
            <a:off x="457200" y="4069080"/>
            <a:ext cx="8183879" cy="548640"/>
          </a:xfrm>
          <a:prstGeom prst="roundRect">
            <a:avLst>
              <a:gd name="adj" fmla="val 20000"/>
            </a:avLst>
          </a:prstGeom>
          <a:solidFill>
            <a:srgbClr val="E8F5F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85800" y="4069080"/>
            <a:ext cx="7772400" cy="548640"/>
          </a:xfrm>
          <a:prstGeom prst="rect">
            <a:avLst/>
          </a:prstGeom>
          <a:noFill/>
        </p:spPr>
        <p:txBody>
          <a:bodyPr wrap="square" lIns="0" rIns="0" tIns="0" bIns="0" anchor="ctr">
            <a:spAutoFit/>
          </a:bodyPr>
          <a:lstStyle/>
          <a:p>
            <a:pPr algn="l"/>
            <a:r>
              <a:rPr sz="1400" b="1" i="0">
                <a:solidFill>
                  <a:srgbClr val="17786C"/>
                </a:solidFill>
                <a:latin typeface="Calibri"/>
              </a:rPr>
              <a:t>Humans stay in charge. </a:t>
            </a:r>
            <a:r>
              <a:rPr sz="1400" b="0" i="0">
                <a:solidFill>
                  <a:srgbClr val="202331"/>
                </a:solidFill>
                <a:latin typeface="Calibri"/>
              </a:rPr>
              <a:t>No decision enters monitoring until an editor confirms it, and no decision changes without a recorded review.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HOW IT WORKS</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From a Drive folder to a reviewed decision in five steps</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5 / 14</a:t>
            </a:r>
          </a:p>
        </p:txBody>
      </p:sp>
      <p:sp>
        <p:nvSpPr>
          <p:cNvPr id="6" name="Rounded Rectangle 5"/>
          <p:cNvSpPr/>
          <p:nvPr/>
        </p:nvSpPr>
        <p:spPr>
          <a:xfrm>
            <a:off x="457200" y="1325880"/>
            <a:ext cx="1517904" cy="27432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21792" y="1508760"/>
            <a:ext cx="384048" cy="384048"/>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21792" y="1508760"/>
            <a:ext cx="384048" cy="384048"/>
          </a:xfrm>
          <a:prstGeom prst="rect">
            <a:avLst/>
          </a:prstGeom>
          <a:noFill/>
        </p:spPr>
        <p:txBody>
          <a:bodyPr wrap="square" lIns="0" rIns="0" tIns="0" bIns="0" anchor="ctr">
            <a:spAutoFit/>
          </a:bodyPr>
          <a:lstStyle/>
          <a:p>
            <a:pPr algn="ctr"/>
            <a:r>
              <a:rPr sz="1500" b="1" i="0">
                <a:solidFill>
                  <a:srgbClr val="5146C5"/>
                </a:solidFill>
                <a:latin typeface="Calibri"/>
              </a:rPr>
              <a:t>1</a:t>
            </a:r>
          </a:p>
        </p:txBody>
      </p:sp>
      <p:sp>
        <p:nvSpPr>
          <p:cNvPr id="9" name="TextBox 8"/>
          <p:cNvSpPr txBox="1"/>
          <p:nvPr/>
        </p:nvSpPr>
        <p:spPr>
          <a:xfrm>
            <a:off x="621792" y="2011680"/>
            <a:ext cx="1234440" cy="320040"/>
          </a:xfrm>
          <a:prstGeom prst="rect">
            <a:avLst/>
          </a:prstGeom>
          <a:noFill/>
        </p:spPr>
        <p:txBody>
          <a:bodyPr wrap="square" lIns="0" rIns="0" tIns="0" bIns="0" anchor="t">
            <a:spAutoFit/>
          </a:bodyPr>
          <a:lstStyle/>
          <a:p>
            <a:pPr algn="l"/>
            <a:r>
              <a:rPr sz="1600" b="1" i="0">
                <a:solidFill>
                  <a:srgbClr val="24283B"/>
                </a:solidFill>
                <a:latin typeface="Calibri"/>
              </a:rPr>
              <a:t>Connect</a:t>
            </a:r>
          </a:p>
        </p:txBody>
      </p:sp>
      <p:sp>
        <p:nvSpPr>
          <p:cNvPr id="10" name="TextBox 9"/>
          <p:cNvSpPr txBox="1"/>
          <p:nvPr/>
        </p:nvSpPr>
        <p:spPr>
          <a:xfrm>
            <a:off x="621792" y="2377440"/>
            <a:ext cx="1243584" cy="1600200"/>
          </a:xfrm>
          <a:prstGeom prst="rect">
            <a:avLst/>
          </a:prstGeom>
          <a:noFill/>
        </p:spPr>
        <p:txBody>
          <a:bodyPr wrap="square" lIns="0" rIns="0" tIns="0" bIns="0" anchor="t">
            <a:spAutoFit/>
          </a:bodyPr>
          <a:lstStyle/>
          <a:p>
            <a:pPr algn="l"/>
            <a:r>
              <a:rPr sz="1200" b="0" i="0">
                <a:solidFill>
                  <a:srgbClr val="202331"/>
                </a:solidFill>
                <a:latin typeface="Calibri"/>
              </a:rPr>
              <a:t>Sign in with Google and connect one Drive folder. Subfolders are discovered automatically.</a:t>
            </a:r>
          </a:p>
        </p:txBody>
      </p:sp>
      <p:cxnSp>
        <p:nvCxnSpPr>
          <p:cNvPr id="11" name="Connector 10"/>
          <p:cNvCxnSpPr/>
          <p:nvPr/>
        </p:nvCxnSpPr>
        <p:spPr>
          <a:xfrm>
            <a:off x="1984248" y="2697480"/>
            <a:ext cx="128016"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2121408" y="1325880"/>
            <a:ext cx="1517904" cy="27432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ounded Rectangle 12"/>
          <p:cNvSpPr/>
          <p:nvPr/>
        </p:nvSpPr>
        <p:spPr>
          <a:xfrm>
            <a:off x="2286000" y="1508760"/>
            <a:ext cx="384048" cy="384048"/>
          </a:xfrm>
          <a:prstGeom prst="roundRect">
            <a:avLst>
              <a:gd name="adj" fmla="val 28000"/>
            </a:avLst>
          </a:prstGeom>
          <a:solidFill>
            <a:srgbClr val="6258D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2286000" y="1508760"/>
            <a:ext cx="384048" cy="384048"/>
          </a:xfrm>
          <a:prstGeom prst="rect">
            <a:avLst/>
          </a:prstGeom>
          <a:noFill/>
        </p:spPr>
        <p:txBody>
          <a:bodyPr wrap="square" lIns="0" rIns="0" tIns="0" bIns="0" anchor="ctr">
            <a:spAutoFit/>
          </a:bodyPr>
          <a:lstStyle/>
          <a:p>
            <a:pPr algn="ctr"/>
            <a:r>
              <a:rPr sz="1500" b="1" i="0">
                <a:solidFill>
                  <a:srgbClr val="FFFFFF"/>
                </a:solidFill>
                <a:latin typeface="Calibri"/>
              </a:rPr>
              <a:t>2</a:t>
            </a:r>
          </a:p>
        </p:txBody>
      </p:sp>
      <p:sp>
        <p:nvSpPr>
          <p:cNvPr id="15" name="TextBox 14"/>
          <p:cNvSpPr txBox="1"/>
          <p:nvPr/>
        </p:nvSpPr>
        <p:spPr>
          <a:xfrm>
            <a:off x="2286000" y="2011680"/>
            <a:ext cx="1234440" cy="320040"/>
          </a:xfrm>
          <a:prstGeom prst="rect">
            <a:avLst/>
          </a:prstGeom>
          <a:noFill/>
        </p:spPr>
        <p:txBody>
          <a:bodyPr wrap="square" lIns="0" rIns="0" tIns="0" bIns="0" anchor="t">
            <a:spAutoFit/>
          </a:bodyPr>
          <a:lstStyle/>
          <a:p>
            <a:pPr algn="l"/>
            <a:r>
              <a:rPr sz="1600" b="1" i="0">
                <a:solidFill>
                  <a:srgbClr val="24283B"/>
                </a:solidFill>
                <a:latin typeface="Calibri"/>
              </a:rPr>
              <a:t>Extract</a:t>
            </a:r>
          </a:p>
        </p:txBody>
      </p:sp>
      <p:sp>
        <p:nvSpPr>
          <p:cNvPr id="16" name="TextBox 15"/>
          <p:cNvSpPr txBox="1"/>
          <p:nvPr/>
        </p:nvSpPr>
        <p:spPr>
          <a:xfrm>
            <a:off x="2286000" y="2377440"/>
            <a:ext cx="1243584" cy="1600200"/>
          </a:xfrm>
          <a:prstGeom prst="rect">
            <a:avLst/>
          </a:prstGeom>
          <a:noFill/>
        </p:spPr>
        <p:txBody>
          <a:bodyPr wrap="square" lIns="0" rIns="0" tIns="0" bIns="0" anchor="t">
            <a:spAutoFit/>
          </a:bodyPr>
          <a:lstStyle/>
          <a:p>
            <a:pPr algn="l"/>
            <a:r>
              <a:rPr sz="1200" b="0" i="0">
                <a:solidFill>
                  <a:srgbClr val="202331"/>
                </a:solidFill>
                <a:latin typeface="Calibri"/>
              </a:rPr>
              <a:t>Gemini proposes decisions, owners, rationale and typed assumptions, each with an exact quote.</a:t>
            </a:r>
          </a:p>
        </p:txBody>
      </p:sp>
      <p:cxnSp>
        <p:nvCxnSpPr>
          <p:cNvPr id="17" name="Connector 16"/>
          <p:cNvCxnSpPr/>
          <p:nvPr/>
        </p:nvCxnSpPr>
        <p:spPr>
          <a:xfrm>
            <a:off x="3648456" y="2697480"/>
            <a:ext cx="128016"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785616" y="1325880"/>
            <a:ext cx="1517904" cy="27432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ounded Rectangle 18"/>
          <p:cNvSpPr/>
          <p:nvPr/>
        </p:nvSpPr>
        <p:spPr>
          <a:xfrm>
            <a:off x="3950208" y="1508760"/>
            <a:ext cx="384048" cy="384048"/>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3950208" y="1508760"/>
            <a:ext cx="384048" cy="384048"/>
          </a:xfrm>
          <a:prstGeom prst="rect">
            <a:avLst/>
          </a:prstGeom>
          <a:noFill/>
        </p:spPr>
        <p:txBody>
          <a:bodyPr wrap="square" lIns="0" rIns="0" tIns="0" bIns="0" anchor="ctr">
            <a:spAutoFit/>
          </a:bodyPr>
          <a:lstStyle/>
          <a:p>
            <a:pPr algn="ctr"/>
            <a:r>
              <a:rPr sz="1500" b="1" i="0">
                <a:solidFill>
                  <a:srgbClr val="5146C5"/>
                </a:solidFill>
                <a:latin typeface="Calibri"/>
              </a:rPr>
              <a:t>3</a:t>
            </a:r>
          </a:p>
        </p:txBody>
      </p:sp>
      <p:sp>
        <p:nvSpPr>
          <p:cNvPr id="21" name="TextBox 20"/>
          <p:cNvSpPr txBox="1"/>
          <p:nvPr/>
        </p:nvSpPr>
        <p:spPr>
          <a:xfrm>
            <a:off x="3950208" y="2011680"/>
            <a:ext cx="1234440" cy="320040"/>
          </a:xfrm>
          <a:prstGeom prst="rect">
            <a:avLst/>
          </a:prstGeom>
          <a:noFill/>
        </p:spPr>
        <p:txBody>
          <a:bodyPr wrap="square" lIns="0" rIns="0" tIns="0" bIns="0" anchor="t">
            <a:spAutoFit/>
          </a:bodyPr>
          <a:lstStyle/>
          <a:p>
            <a:pPr algn="l"/>
            <a:r>
              <a:rPr sz="1600" b="1" i="0">
                <a:solidFill>
                  <a:srgbClr val="24283B"/>
                </a:solidFill>
                <a:latin typeface="Calibri"/>
              </a:rPr>
              <a:t>Confirm</a:t>
            </a:r>
          </a:p>
        </p:txBody>
      </p:sp>
      <p:sp>
        <p:nvSpPr>
          <p:cNvPr id="22" name="TextBox 21"/>
          <p:cNvSpPr txBox="1"/>
          <p:nvPr/>
        </p:nvSpPr>
        <p:spPr>
          <a:xfrm>
            <a:off x="3950208" y="2377440"/>
            <a:ext cx="1243584" cy="1600200"/>
          </a:xfrm>
          <a:prstGeom prst="rect">
            <a:avLst/>
          </a:prstGeom>
          <a:noFill/>
        </p:spPr>
        <p:txBody>
          <a:bodyPr wrap="square" lIns="0" rIns="0" tIns="0" bIns="0" anchor="t">
            <a:spAutoFit/>
          </a:bodyPr>
          <a:lstStyle/>
          <a:p>
            <a:pPr algn="l"/>
            <a:r>
              <a:rPr sz="1200" b="0" i="0">
                <a:solidFill>
                  <a:srgbClr val="202331"/>
                </a:solidFill>
                <a:latin typeface="Calibri"/>
              </a:rPr>
              <a:t>An editor approves the draft. Only confirmed assumptions are monitored.</a:t>
            </a:r>
          </a:p>
        </p:txBody>
      </p:sp>
      <p:cxnSp>
        <p:nvCxnSpPr>
          <p:cNvPr id="23" name="Connector 22"/>
          <p:cNvCxnSpPr/>
          <p:nvPr/>
        </p:nvCxnSpPr>
        <p:spPr>
          <a:xfrm>
            <a:off x="5312664" y="2697480"/>
            <a:ext cx="128016"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449824" y="1325880"/>
            <a:ext cx="1517904" cy="27432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Rounded Rectangle 24"/>
          <p:cNvSpPr/>
          <p:nvPr/>
        </p:nvSpPr>
        <p:spPr>
          <a:xfrm>
            <a:off x="5614416" y="1508760"/>
            <a:ext cx="384048" cy="384048"/>
          </a:xfrm>
          <a:prstGeom prst="roundRect">
            <a:avLst>
              <a:gd name="adj" fmla="val 28000"/>
            </a:avLst>
          </a:prstGeom>
          <a:solidFill>
            <a:srgbClr val="6258D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TextBox 25"/>
          <p:cNvSpPr txBox="1"/>
          <p:nvPr/>
        </p:nvSpPr>
        <p:spPr>
          <a:xfrm>
            <a:off x="5614416" y="1508760"/>
            <a:ext cx="384048" cy="384048"/>
          </a:xfrm>
          <a:prstGeom prst="rect">
            <a:avLst/>
          </a:prstGeom>
          <a:noFill/>
        </p:spPr>
        <p:txBody>
          <a:bodyPr wrap="square" lIns="0" rIns="0" tIns="0" bIns="0" anchor="ctr">
            <a:spAutoFit/>
          </a:bodyPr>
          <a:lstStyle/>
          <a:p>
            <a:pPr algn="ctr"/>
            <a:r>
              <a:rPr sz="1500" b="1" i="0">
                <a:solidFill>
                  <a:srgbClr val="FFFFFF"/>
                </a:solidFill>
                <a:latin typeface="Calibri"/>
              </a:rPr>
              <a:t>4</a:t>
            </a:r>
          </a:p>
        </p:txBody>
      </p:sp>
      <p:sp>
        <p:nvSpPr>
          <p:cNvPr id="27" name="TextBox 26"/>
          <p:cNvSpPr txBox="1"/>
          <p:nvPr/>
        </p:nvSpPr>
        <p:spPr>
          <a:xfrm>
            <a:off x="5614416" y="2011680"/>
            <a:ext cx="1234440" cy="320040"/>
          </a:xfrm>
          <a:prstGeom prst="rect">
            <a:avLst/>
          </a:prstGeom>
          <a:noFill/>
        </p:spPr>
        <p:txBody>
          <a:bodyPr wrap="square" lIns="0" rIns="0" tIns="0" bIns="0" anchor="t">
            <a:spAutoFit/>
          </a:bodyPr>
          <a:lstStyle/>
          <a:p>
            <a:pPr algn="l"/>
            <a:r>
              <a:rPr sz="1600" b="1" i="0">
                <a:solidFill>
                  <a:srgbClr val="24283B"/>
                </a:solidFill>
                <a:latin typeface="Calibri"/>
              </a:rPr>
              <a:t>Assess</a:t>
            </a:r>
          </a:p>
        </p:txBody>
      </p:sp>
      <p:sp>
        <p:nvSpPr>
          <p:cNvPr id="28" name="TextBox 27"/>
          <p:cNvSpPr txBox="1"/>
          <p:nvPr/>
        </p:nvSpPr>
        <p:spPr>
          <a:xfrm>
            <a:off x="5614416" y="2377440"/>
            <a:ext cx="1243584" cy="1600200"/>
          </a:xfrm>
          <a:prstGeom prst="rect">
            <a:avLst/>
          </a:prstGeom>
          <a:noFill/>
        </p:spPr>
        <p:txBody>
          <a:bodyPr wrap="square" lIns="0" rIns="0" tIns="0" bIns="0" anchor="t">
            <a:spAutoFit/>
          </a:bodyPr>
          <a:lstStyle/>
          <a:p>
            <a:pPr algn="l"/>
            <a:r>
              <a:rPr sz="1200" b="0" i="0">
                <a:solidFill>
                  <a:srgbClr val="202331"/>
                </a:solidFill>
                <a:latin typeface="Calibri"/>
              </a:rPr>
              <a:t>New facts are compared by date, amount or status. Contradictions become cited alerts.</a:t>
            </a:r>
          </a:p>
        </p:txBody>
      </p:sp>
      <p:cxnSp>
        <p:nvCxnSpPr>
          <p:cNvPr id="29" name="Connector 28"/>
          <p:cNvCxnSpPr/>
          <p:nvPr/>
        </p:nvCxnSpPr>
        <p:spPr>
          <a:xfrm>
            <a:off x="6976872" y="2697480"/>
            <a:ext cx="128016"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114032" y="1325880"/>
            <a:ext cx="1517904" cy="274320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ounded Rectangle 30"/>
          <p:cNvSpPr/>
          <p:nvPr/>
        </p:nvSpPr>
        <p:spPr>
          <a:xfrm>
            <a:off x="7278624" y="1508760"/>
            <a:ext cx="384048" cy="384048"/>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278624" y="1508760"/>
            <a:ext cx="384048" cy="384048"/>
          </a:xfrm>
          <a:prstGeom prst="rect">
            <a:avLst/>
          </a:prstGeom>
          <a:noFill/>
        </p:spPr>
        <p:txBody>
          <a:bodyPr wrap="square" lIns="0" rIns="0" tIns="0" bIns="0" anchor="ctr">
            <a:spAutoFit/>
          </a:bodyPr>
          <a:lstStyle/>
          <a:p>
            <a:pPr algn="ctr"/>
            <a:r>
              <a:rPr sz="1500" b="1" i="0">
                <a:solidFill>
                  <a:srgbClr val="5146C5"/>
                </a:solidFill>
                <a:latin typeface="Calibri"/>
              </a:rPr>
              <a:t>5</a:t>
            </a:r>
          </a:p>
        </p:txBody>
      </p:sp>
      <p:sp>
        <p:nvSpPr>
          <p:cNvPr id="33" name="TextBox 32"/>
          <p:cNvSpPr txBox="1"/>
          <p:nvPr/>
        </p:nvSpPr>
        <p:spPr>
          <a:xfrm>
            <a:off x="7278624" y="2011680"/>
            <a:ext cx="1234440" cy="320040"/>
          </a:xfrm>
          <a:prstGeom prst="rect">
            <a:avLst/>
          </a:prstGeom>
          <a:noFill/>
        </p:spPr>
        <p:txBody>
          <a:bodyPr wrap="square" lIns="0" rIns="0" tIns="0" bIns="0" anchor="t">
            <a:spAutoFit/>
          </a:bodyPr>
          <a:lstStyle/>
          <a:p>
            <a:pPr algn="l"/>
            <a:r>
              <a:rPr sz="1600" b="1" i="0">
                <a:solidFill>
                  <a:srgbClr val="24283B"/>
                </a:solidFill>
                <a:latin typeface="Calibri"/>
              </a:rPr>
              <a:t>Review</a:t>
            </a:r>
          </a:p>
        </p:txBody>
      </p:sp>
      <p:sp>
        <p:nvSpPr>
          <p:cNvPr id="34" name="TextBox 33"/>
          <p:cNvSpPr txBox="1"/>
          <p:nvPr/>
        </p:nvSpPr>
        <p:spPr>
          <a:xfrm>
            <a:off x="7278624" y="2377440"/>
            <a:ext cx="1243584" cy="1600200"/>
          </a:xfrm>
          <a:prstGeom prst="rect">
            <a:avLst/>
          </a:prstGeom>
          <a:noFill/>
        </p:spPr>
        <p:txBody>
          <a:bodyPr wrap="square" lIns="0" rIns="0" tIns="0" bIns="0" anchor="t">
            <a:spAutoFit/>
          </a:bodyPr>
          <a:lstStyle/>
          <a:p>
            <a:pPr algn="l"/>
            <a:r>
              <a:rPr sz="1200" b="0" i="0">
                <a:solidFill>
                  <a:srgbClr val="202331"/>
                </a:solidFill>
                <a:latin typeface="Calibri"/>
              </a:rPr>
              <a:t>Keep, Revise, Retire, Dismiss or Request clarification, with a rationale and audit entry.</a:t>
            </a:r>
          </a:p>
        </p:txBody>
      </p:sp>
      <p:sp>
        <p:nvSpPr>
          <p:cNvPr id="35" name="TextBox 34"/>
          <p:cNvSpPr txBox="1"/>
          <p:nvPr/>
        </p:nvSpPr>
        <p:spPr>
          <a:xfrm>
            <a:off x="457200" y="4224528"/>
            <a:ext cx="8183879" cy="365760"/>
          </a:xfrm>
          <a:prstGeom prst="rect">
            <a:avLst/>
          </a:prstGeom>
          <a:noFill/>
        </p:spPr>
        <p:txBody>
          <a:bodyPr wrap="square" lIns="0" rIns="0" tIns="0" bIns="0" anchor="t">
            <a:spAutoFit/>
          </a:bodyPr>
          <a:lstStyle/>
          <a:p>
            <a:pPr algn="l"/>
            <a:r>
              <a:rPr sz="1300" b="1" i="0">
                <a:solidFill>
                  <a:srgbClr val="5146C5"/>
                </a:solidFill>
                <a:latin typeface="Calibri"/>
              </a:rPr>
              <a:t>Gen AI steps </a:t>
            </a:r>
            <a:r>
              <a:rPr sz="1300" b="0" i="0">
                <a:solidFill>
                  <a:srgbClr val="202331"/>
                </a:solidFill>
                <a:latin typeface="Calibri"/>
              </a:rPr>
              <a:t>(2, 4) run on Vertex AI through Cloud Tasks and a private Cloud Run worker; </a:t>
            </a:r>
            <a:r>
              <a:rPr sz="1300" b="1" i="0">
                <a:solidFill>
                  <a:srgbClr val="24283B"/>
                </a:solidFill>
                <a:latin typeface="Calibri"/>
              </a:rPr>
              <a:t>people own steps 3 and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THE PROTOTYPE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Every alert shows its receipts</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6 / 14</a:t>
            </a:r>
          </a:p>
        </p:txBody>
      </p:sp>
      <p:sp>
        <p:nvSpPr>
          <p:cNvPr id="6" name="Rounded Rectangle 5"/>
          <p:cNvSpPr/>
          <p:nvPr/>
        </p:nvSpPr>
        <p:spPr>
          <a:xfrm>
            <a:off x="475488" y="1225295"/>
            <a:ext cx="3118104" cy="1401633"/>
          </a:xfrm>
          <a:prstGeom prst="roundRect">
            <a:avLst>
              <a:gd name="adj" fmla="val 4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op-evidence.jpg"/>
          <p:cNvPicPr>
            <a:picLocks noChangeAspect="1"/>
          </p:cNvPicPr>
          <p:nvPr/>
        </p:nvPicPr>
        <p:blipFill>
          <a:blip r:embed="rId2"/>
          <a:stretch>
            <a:fillRect/>
          </a:stretch>
        </p:blipFill>
        <p:spPr>
          <a:xfrm>
            <a:off x="548640" y="1298448"/>
            <a:ext cx="2971800" cy="1255329"/>
          </a:xfrm>
          <a:prstGeom prst="rect">
            <a:avLst/>
          </a:prstGeom>
        </p:spPr>
      </p:pic>
      <p:sp>
        <p:nvSpPr>
          <p:cNvPr id="8" name="Rounded Rectangle 7"/>
          <p:cNvSpPr/>
          <p:nvPr/>
        </p:nvSpPr>
        <p:spPr>
          <a:xfrm>
            <a:off x="3675887" y="1225295"/>
            <a:ext cx="2203704" cy="1316893"/>
          </a:xfrm>
          <a:prstGeom prst="roundRect">
            <a:avLst>
              <a:gd name="adj" fmla="val 4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9" name="Picture 8" descr="crop-fact.jpg"/>
          <p:cNvPicPr>
            <a:picLocks noChangeAspect="1"/>
          </p:cNvPicPr>
          <p:nvPr/>
        </p:nvPicPr>
        <p:blipFill>
          <a:blip r:embed="rId3"/>
          <a:stretch>
            <a:fillRect/>
          </a:stretch>
        </p:blipFill>
        <p:spPr>
          <a:xfrm>
            <a:off x="3749039" y="1298448"/>
            <a:ext cx="2057400" cy="1170589"/>
          </a:xfrm>
          <a:prstGeom prst="rect">
            <a:avLst/>
          </a:prstGeom>
        </p:spPr>
      </p:pic>
      <p:sp>
        <p:nvSpPr>
          <p:cNvPr id="10" name="Rounded Rectangle 9"/>
          <p:cNvSpPr/>
          <p:nvPr/>
        </p:nvSpPr>
        <p:spPr>
          <a:xfrm>
            <a:off x="475488" y="2898648"/>
            <a:ext cx="5404104" cy="1460754"/>
          </a:xfrm>
          <a:prstGeom prst="roundRect">
            <a:avLst>
              <a:gd name="adj" fmla="val 4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Picture 10" descr="crop-audit.jpg"/>
          <p:cNvPicPr>
            <a:picLocks noChangeAspect="1"/>
          </p:cNvPicPr>
          <p:nvPr/>
        </p:nvPicPr>
        <p:blipFill>
          <a:blip r:embed="rId4"/>
          <a:stretch>
            <a:fillRect/>
          </a:stretch>
        </p:blipFill>
        <p:spPr>
          <a:xfrm>
            <a:off x="548640" y="2971800"/>
            <a:ext cx="5257800" cy="1314450"/>
          </a:xfrm>
          <a:prstGeom prst="rect">
            <a:avLst/>
          </a:prstGeom>
        </p:spPr>
      </p:pic>
      <p:sp>
        <p:nvSpPr>
          <p:cNvPr id="12" name="TextBox 11"/>
          <p:cNvSpPr txBox="1"/>
          <p:nvPr/>
        </p:nvSpPr>
        <p:spPr>
          <a:xfrm>
            <a:off x="6172200" y="1261872"/>
            <a:ext cx="2514600" cy="274320"/>
          </a:xfrm>
          <a:prstGeom prst="rect">
            <a:avLst/>
          </a:prstGeom>
          <a:noFill/>
        </p:spPr>
        <p:txBody>
          <a:bodyPr wrap="square" lIns="0" rIns="0" tIns="0" bIns="0" anchor="t">
            <a:spAutoFit/>
          </a:bodyPr>
          <a:lstStyle/>
          <a:p>
            <a:pPr algn="l"/>
            <a:r>
              <a:rPr sz="1400" b="1" i="0">
                <a:solidFill>
                  <a:srgbClr val="24283B"/>
                </a:solidFill>
                <a:latin typeface="Calibri"/>
              </a:rPr>
              <a:t>Verified fact</a:t>
            </a:r>
          </a:p>
        </p:txBody>
      </p:sp>
      <p:sp>
        <p:nvSpPr>
          <p:cNvPr id="13" name="TextBox 12"/>
          <p:cNvSpPr txBox="1"/>
          <p:nvPr/>
        </p:nvSpPr>
        <p:spPr>
          <a:xfrm>
            <a:off x="6172200" y="1536192"/>
            <a:ext cx="2514600" cy="822960"/>
          </a:xfrm>
          <a:prstGeom prst="rect">
            <a:avLst/>
          </a:prstGeom>
          <a:noFill/>
        </p:spPr>
        <p:txBody>
          <a:bodyPr wrap="square" lIns="0" rIns="0" tIns="0" bIns="0" anchor="t">
            <a:spAutoFit/>
          </a:bodyPr>
          <a:lstStyle/>
          <a:p>
            <a:pPr algn="l"/>
            <a:r>
              <a:rPr sz="1200" b="0" i="0">
                <a:solidFill>
                  <a:srgbClr val="202331"/>
                </a:solidFill>
                <a:latin typeface="Calibri"/>
              </a:rPr>
              <a:t>Gemini reads vendor-update.txt and saves one fact, Acme Logistics · delivery date, with the exact sentence it came from.</a:t>
            </a:r>
          </a:p>
        </p:txBody>
      </p:sp>
      <p:sp>
        <p:nvSpPr>
          <p:cNvPr id="14" name="TextBox 13"/>
          <p:cNvSpPr txBox="1"/>
          <p:nvPr/>
        </p:nvSpPr>
        <p:spPr>
          <a:xfrm>
            <a:off x="6172200" y="2340863"/>
            <a:ext cx="2514600" cy="274320"/>
          </a:xfrm>
          <a:prstGeom prst="rect">
            <a:avLst/>
          </a:prstGeom>
          <a:noFill/>
        </p:spPr>
        <p:txBody>
          <a:bodyPr wrap="square" lIns="0" rIns="0" tIns="0" bIns="0" anchor="t">
            <a:spAutoFit/>
          </a:bodyPr>
          <a:lstStyle/>
          <a:p>
            <a:pPr algn="l"/>
            <a:r>
              <a:rPr sz="1400" b="1" i="0">
                <a:solidFill>
                  <a:srgbClr val="24283B"/>
                </a:solidFill>
                <a:latin typeface="Calibri"/>
              </a:rPr>
              <a:t>Side-by-side evidence</a:t>
            </a:r>
          </a:p>
        </p:txBody>
      </p:sp>
      <p:sp>
        <p:nvSpPr>
          <p:cNvPr id="15" name="TextBox 14"/>
          <p:cNvSpPr txBox="1"/>
          <p:nvPr/>
        </p:nvSpPr>
        <p:spPr>
          <a:xfrm>
            <a:off x="6172200" y="2615183"/>
            <a:ext cx="2514600" cy="822960"/>
          </a:xfrm>
          <a:prstGeom prst="rect">
            <a:avLst/>
          </a:prstGeom>
          <a:noFill/>
        </p:spPr>
        <p:txBody>
          <a:bodyPr wrap="square" lIns="0" rIns="0" tIns="0" bIns="0" anchor="t">
            <a:spAutoFit/>
          </a:bodyPr>
          <a:lstStyle/>
          <a:p>
            <a:pPr algn="l"/>
            <a:r>
              <a:rPr sz="1200" b="0" i="0">
                <a:solidFill>
                  <a:srgbClr val="202331"/>
                </a:solidFill>
                <a:latin typeface="Calibri"/>
              </a:rPr>
              <a:t>The alert puts the original Oct 15 assumption next to the new Oct 24 fact, each with an Open source link.</a:t>
            </a:r>
          </a:p>
        </p:txBody>
      </p:sp>
      <p:sp>
        <p:nvSpPr>
          <p:cNvPr id="16" name="TextBox 15"/>
          <p:cNvSpPr txBox="1"/>
          <p:nvPr/>
        </p:nvSpPr>
        <p:spPr>
          <a:xfrm>
            <a:off x="6172200" y="3419855"/>
            <a:ext cx="2514600" cy="274320"/>
          </a:xfrm>
          <a:prstGeom prst="rect">
            <a:avLst/>
          </a:prstGeom>
          <a:noFill/>
        </p:spPr>
        <p:txBody>
          <a:bodyPr wrap="square" lIns="0" rIns="0" tIns="0" bIns="0" anchor="t">
            <a:spAutoFit/>
          </a:bodyPr>
          <a:lstStyle/>
          <a:p>
            <a:pPr algn="l"/>
            <a:r>
              <a:rPr sz="1400" b="1" i="0">
                <a:solidFill>
                  <a:srgbClr val="24283B"/>
                </a:solidFill>
                <a:latin typeface="Calibri"/>
              </a:rPr>
              <a:t>Recorded review</a:t>
            </a:r>
          </a:p>
        </p:txBody>
      </p:sp>
      <p:sp>
        <p:nvSpPr>
          <p:cNvPr id="17" name="TextBox 16"/>
          <p:cNvSpPr txBox="1"/>
          <p:nvPr/>
        </p:nvSpPr>
        <p:spPr>
          <a:xfrm>
            <a:off x="6172200" y="3694175"/>
            <a:ext cx="2514600" cy="822960"/>
          </a:xfrm>
          <a:prstGeom prst="rect">
            <a:avLst/>
          </a:prstGeom>
          <a:noFill/>
        </p:spPr>
        <p:txBody>
          <a:bodyPr wrap="square" lIns="0" rIns="0" tIns="0" bIns="0" anchor="t">
            <a:spAutoFit/>
          </a:bodyPr>
          <a:lstStyle/>
          <a:p>
            <a:pPr algn="l"/>
            <a:r>
              <a:rPr sz="1200" b="0" i="0">
                <a:solidFill>
                  <a:srgbClr val="202331"/>
                </a:solidFill>
                <a:latin typeface="Calibri"/>
              </a:rPr>
              <a:t>The reviewer picks an action and writes a rationale. The audit entry records the decision revision before and after.</a:t>
            </a:r>
          </a:p>
        </p:txBody>
      </p:sp>
      <p:sp>
        <p:nvSpPr>
          <p:cNvPr id="18" name="TextBox 17"/>
          <p:cNvSpPr txBox="1"/>
          <p:nvPr/>
        </p:nvSpPr>
        <p:spPr>
          <a:xfrm>
            <a:off x="457200" y="4370832"/>
            <a:ext cx="5486400" cy="274320"/>
          </a:xfrm>
          <a:prstGeom prst="rect">
            <a:avLst/>
          </a:prstGeom>
          <a:noFill/>
        </p:spPr>
        <p:txBody>
          <a:bodyPr wrap="square" lIns="0" rIns="0" tIns="0" bIns="0" anchor="t">
            <a:spAutoFit/>
          </a:bodyPr>
          <a:lstStyle/>
          <a:p>
            <a:pPr algn="l"/>
            <a:r>
              <a:rPr sz="900" b="0" i="1">
                <a:solidFill>
                  <a:srgbClr val="626A7B"/>
                </a:solidFill>
                <a:latin typeface="Calibri"/>
              </a:rPr>
              <a:t>Screens from the deployed Cloud Run prototype, synthetic project data, 10 Oct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THE FLAGSHIP VIEW</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Follow the ripple: the impact graph</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7 / 14</a:t>
            </a:r>
          </a:p>
        </p:txBody>
      </p:sp>
      <p:sp>
        <p:nvSpPr>
          <p:cNvPr id="6" name="Rounded Rectangle 5"/>
          <p:cNvSpPr/>
          <p:nvPr/>
        </p:nvSpPr>
        <p:spPr>
          <a:xfrm>
            <a:off x="457200" y="1207008"/>
            <a:ext cx="3520440" cy="3246120"/>
          </a:xfrm>
          <a:prstGeom prst="roundRect">
            <a:avLst>
              <a:gd name="adj" fmla="val 4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 name="Picture 6" descr="crop-graph.jpg"/>
          <p:cNvPicPr>
            <a:picLocks noChangeAspect="1"/>
          </p:cNvPicPr>
          <p:nvPr/>
        </p:nvPicPr>
        <p:blipFill>
          <a:blip r:embed="rId2"/>
          <a:stretch>
            <a:fillRect/>
          </a:stretch>
        </p:blipFill>
        <p:spPr>
          <a:xfrm>
            <a:off x="1189473" y="1325880"/>
            <a:ext cx="2055892" cy="3017520"/>
          </a:xfrm>
          <a:prstGeom prst="rect">
            <a:avLst/>
          </a:prstGeom>
        </p:spPr>
      </p:pic>
      <p:sp>
        <p:nvSpPr>
          <p:cNvPr id="8" name="Rounded Rectangle 7"/>
          <p:cNvSpPr/>
          <p:nvPr/>
        </p:nvSpPr>
        <p:spPr>
          <a:xfrm>
            <a:off x="4343400" y="1335024"/>
            <a:ext cx="237744" cy="237744"/>
          </a:xfrm>
          <a:prstGeom prst="roundRect">
            <a:avLst>
              <a:gd name="adj" fmla="val 30000"/>
            </a:avLst>
          </a:prstGeom>
          <a:solidFill>
            <a:srgbClr val="FFF4DE"/>
          </a:solidFill>
          <a:ln w="19050">
            <a:solidFill>
              <a:srgbClr val="B7791F"/>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4727448" y="1280160"/>
            <a:ext cx="3840480" cy="320040"/>
          </a:xfrm>
          <a:prstGeom prst="rect">
            <a:avLst/>
          </a:prstGeom>
          <a:noFill/>
        </p:spPr>
        <p:txBody>
          <a:bodyPr wrap="square" lIns="0" rIns="0" tIns="0" bIns="0" anchor="t">
            <a:spAutoFit/>
          </a:bodyPr>
          <a:lstStyle/>
          <a:p>
            <a:pPr algn="l"/>
            <a:r>
              <a:rPr sz="1400" b="1" i="0">
                <a:solidFill>
                  <a:srgbClr val="24283B"/>
                </a:solidFill>
                <a:latin typeface="Calibri"/>
              </a:rPr>
              <a:t>Evidence trigger</a:t>
            </a:r>
          </a:p>
        </p:txBody>
      </p:sp>
      <p:sp>
        <p:nvSpPr>
          <p:cNvPr id="10" name="TextBox 9"/>
          <p:cNvSpPr txBox="1"/>
          <p:nvPr/>
        </p:nvSpPr>
        <p:spPr>
          <a:xfrm>
            <a:off x="4727448" y="1572768"/>
            <a:ext cx="3840480" cy="457200"/>
          </a:xfrm>
          <a:prstGeom prst="rect">
            <a:avLst/>
          </a:prstGeom>
          <a:noFill/>
        </p:spPr>
        <p:txBody>
          <a:bodyPr wrap="square" lIns="0" rIns="0" tIns="0" bIns="0" anchor="t">
            <a:spAutoFit/>
          </a:bodyPr>
          <a:lstStyle/>
          <a:p>
            <a:pPr algn="l"/>
            <a:r>
              <a:rPr sz="1200" b="0" i="0">
                <a:solidFill>
                  <a:srgbClr val="202331"/>
                </a:solidFill>
                <a:latin typeface="Calibri"/>
              </a:rPr>
              <a:t>The new fact and how far it moved the date (+9 days).</a:t>
            </a:r>
          </a:p>
        </p:txBody>
      </p:sp>
      <p:sp>
        <p:nvSpPr>
          <p:cNvPr id="11" name="Rounded Rectangle 10"/>
          <p:cNvSpPr/>
          <p:nvPr/>
        </p:nvSpPr>
        <p:spPr>
          <a:xfrm>
            <a:off x="4343400" y="2112264"/>
            <a:ext cx="237744" cy="237744"/>
          </a:xfrm>
          <a:prstGeom prst="roundRect">
            <a:avLst>
              <a:gd name="adj" fmla="val 30000"/>
            </a:avLst>
          </a:prstGeom>
          <a:solidFill>
            <a:srgbClr val="FFF0F2"/>
          </a:solidFill>
          <a:ln w="19050">
            <a:solidFill>
              <a:srgbClr val="B13E49"/>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4727448" y="2057400"/>
            <a:ext cx="3840480" cy="320040"/>
          </a:xfrm>
          <a:prstGeom prst="rect">
            <a:avLst/>
          </a:prstGeom>
          <a:noFill/>
        </p:spPr>
        <p:txBody>
          <a:bodyPr wrap="square" lIns="0" rIns="0" tIns="0" bIns="0" anchor="t">
            <a:spAutoFit/>
          </a:bodyPr>
          <a:lstStyle/>
          <a:p>
            <a:pPr algn="l"/>
            <a:r>
              <a:rPr sz="1400" b="1" i="0">
                <a:solidFill>
                  <a:srgbClr val="24283B"/>
                </a:solidFill>
                <a:latin typeface="Calibri"/>
              </a:rPr>
              <a:t>Direct challenge</a:t>
            </a:r>
          </a:p>
        </p:txBody>
      </p:sp>
      <p:sp>
        <p:nvSpPr>
          <p:cNvPr id="13" name="TextBox 12"/>
          <p:cNvSpPr txBox="1"/>
          <p:nvPr/>
        </p:nvSpPr>
        <p:spPr>
          <a:xfrm>
            <a:off x="4727448" y="2350008"/>
            <a:ext cx="3840480" cy="457200"/>
          </a:xfrm>
          <a:prstGeom prst="rect">
            <a:avLst/>
          </a:prstGeom>
          <a:noFill/>
        </p:spPr>
        <p:txBody>
          <a:bodyPr wrap="square" lIns="0" rIns="0" tIns="0" bIns="0" anchor="t">
            <a:spAutoFit/>
          </a:bodyPr>
          <a:lstStyle/>
          <a:p>
            <a:pPr algn="l"/>
            <a:r>
              <a:rPr sz="1200" b="0" i="0">
                <a:solidFill>
                  <a:srgbClr val="202331"/>
                </a:solidFill>
                <a:latin typeface="Calibri"/>
              </a:rPr>
              <a:t>The decision whose monitored assumption is contradicted.</a:t>
            </a:r>
          </a:p>
        </p:txBody>
      </p:sp>
      <p:sp>
        <p:nvSpPr>
          <p:cNvPr id="14" name="Rounded Rectangle 13"/>
          <p:cNvSpPr/>
          <p:nvPr/>
        </p:nvSpPr>
        <p:spPr>
          <a:xfrm>
            <a:off x="4343400" y="2889504"/>
            <a:ext cx="237744" cy="237744"/>
          </a:xfrm>
          <a:prstGeom prst="roundRect">
            <a:avLst>
              <a:gd name="adj" fmla="val 30000"/>
            </a:avLst>
          </a:prstGeom>
          <a:solidFill>
            <a:srgbClr val="EAF2FB"/>
          </a:solidFill>
          <a:ln w="19050">
            <a:solidFill>
              <a:srgbClr val="3F74AD"/>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727448" y="2834640"/>
            <a:ext cx="3840480" cy="320040"/>
          </a:xfrm>
          <a:prstGeom prst="rect">
            <a:avLst/>
          </a:prstGeom>
          <a:noFill/>
        </p:spPr>
        <p:txBody>
          <a:bodyPr wrap="square" lIns="0" rIns="0" tIns="0" bIns="0" anchor="t">
            <a:spAutoFit/>
          </a:bodyPr>
          <a:lstStyle/>
          <a:p>
            <a:pPr algn="l"/>
            <a:r>
              <a:rPr sz="1400" b="1" i="0">
                <a:solidFill>
                  <a:srgbClr val="24283B"/>
                </a:solidFill>
                <a:latin typeface="Calibri"/>
              </a:rPr>
              <a:t>Downstream effect</a:t>
            </a:r>
          </a:p>
        </p:txBody>
      </p:sp>
      <p:sp>
        <p:nvSpPr>
          <p:cNvPr id="16" name="TextBox 15"/>
          <p:cNvSpPr txBox="1"/>
          <p:nvPr/>
        </p:nvSpPr>
        <p:spPr>
          <a:xfrm>
            <a:off x="4727448" y="3127248"/>
            <a:ext cx="3840480" cy="457200"/>
          </a:xfrm>
          <a:prstGeom prst="rect">
            <a:avLst/>
          </a:prstGeom>
          <a:noFill/>
        </p:spPr>
        <p:txBody>
          <a:bodyPr wrap="square" lIns="0" rIns="0" tIns="0" bIns="0" anchor="t">
            <a:spAutoFit/>
          </a:bodyPr>
          <a:lstStyle/>
          <a:p>
            <a:pPr algn="l"/>
            <a:r>
              <a:rPr sz="1200" b="0" i="0">
                <a:solidFill>
                  <a:srgbClr val="202331"/>
                </a:solidFill>
                <a:latin typeface="Calibri"/>
              </a:rPr>
              <a:t>Decisions that depend on it through recorded links, shown as projected effects.</a:t>
            </a:r>
          </a:p>
        </p:txBody>
      </p:sp>
      <p:sp>
        <p:nvSpPr>
          <p:cNvPr id="17" name="Rounded Rectangle 16"/>
          <p:cNvSpPr/>
          <p:nvPr/>
        </p:nvSpPr>
        <p:spPr>
          <a:xfrm>
            <a:off x="4343400" y="3657600"/>
            <a:ext cx="4297680" cy="713232"/>
          </a:xfrm>
          <a:prstGeom prst="roundRect">
            <a:avLst>
              <a:gd name="adj" fmla="val 12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4526280" y="3657600"/>
            <a:ext cx="3977639" cy="713232"/>
          </a:xfrm>
          <a:prstGeom prst="rect">
            <a:avLst/>
          </a:prstGeom>
          <a:noFill/>
        </p:spPr>
        <p:txBody>
          <a:bodyPr wrap="square" lIns="0" rIns="0" tIns="0" bIns="0" anchor="ctr">
            <a:spAutoFit/>
          </a:bodyPr>
          <a:lstStyle/>
          <a:p>
            <a:pPr algn="l"/>
            <a:r>
              <a:rPr sz="1200" b="0" i="0">
                <a:solidFill>
                  <a:srgbClr val="202331"/>
                </a:solidFill>
                <a:latin typeface="Calibri"/>
              </a:rPr>
              <a:t>Ordered dependency path, direct evidence kept separate from projections. Works by mouse or keyboard, and at phone width (390 px).</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GEN AI IMPLEMENTATION</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Gemini reads. Rules check. People decide.</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8 / 14</a:t>
            </a:r>
          </a:p>
        </p:txBody>
      </p:sp>
      <p:sp>
        <p:nvSpPr>
          <p:cNvPr id="6" name="Rounded Rectangle 5"/>
          <p:cNvSpPr/>
          <p:nvPr/>
        </p:nvSpPr>
        <p:spPr>
          <a:xfrm>
            <a:off x="457200" y="1280160"/>
            <a:ext cx="2606040" cy="269748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457200" y="1280160"/>
            <a:ext cx="2606040" cy="457200"/>
          </a:xfrm>
          <a:prstGeom prst="roundRect">
            <a:avLst>
              <a:gd name="adj" fmla="val 18000"/>
            </a:avLst>
          </a:prstGeom>
          <a:solidFill>
            <a:srgbClr val="6258D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40080" y="1280160"/>
            <a:ext cx="2286000" cy="457200"/>
          </a:xfrm>
          <a:prstGeom prst="rect">
            <a:avLst/>
          </a:prstGeom>
          <a:noFill/>
        </p:spPr>
        <p:txBody>
          <a:bodyPr wrap="square" lIns="0" rIns="0" tIns="0" bIns="0" anchor="ctr">
            <a:spAutoFit/>
          </a:bodyPr>
          <a:lstStyle/>
          <a:p>
            <a:pPr algn="l"/>
            <a:r>
              <a:rPr sz="1300" b="1" i="0">
                <a:solidFill>
                  <a:srgbClr val="FFFFFF"/>
                </a:solidFill>
                <a:latin typeface="Calibri"/>
              </a:rPr>
              <a:t>Gemini 2.5 Flash · Vertex AI</a:t>
            </a:r>
          </a:p>
        </p:txBody>
      </p:sp>
      <p:sp>
        <p:nvSpPr>
          <p:cNvPr id="9" name="TextBox 8"/>
          <p:cNvSpPr txBox="1"/>
          <p:nvPr/>
        </p:nvSpPr>
        <p:spPr>
          <a:xfrm>
            <a:off x="658368" y="1874519"/>
            <a:ext cx="2240280" cy="2057400"/>
          </a:xfrm>
          <a:prstGeom prst="rect">
            <a:avLst/>
          </a:prstGeom>
          <a:noFill/>
        </p:spPr>
        <p:txBody>
          <a:bodyPr wrap="square" lIns="0" rIns="0" tIns="0" bIns="0">
            <a:spAutoFit/>
          </a:bodyPr>
          <a:lstStyle/>
          <a:p>
            <a:pPr marL="182880" indent="-182880">
              <a:spcAft>
                <a:spcPts val="600"/>
              </a:spcAft>
              <a:buClr>
                <a:srgbClr val="6258D8"/>
              </a:buClr>
              <a:buFont typeface="Arial"/>
              <a:buChar char="•"/>
            </a:pPr>
            <a:r>
              <a:rPr sz="1200" b="0">
                <a:solidFill>
                  <a:srgbClr val="202331"/>
                </a:solidFill>
                <a:latin typeface="Calibri"/>
              </a:rPr>
              <a:t>Schema-constrained JSON output (Pydantic schema), temperature 0</a:t>
            </a:r>
          </a:p>
          <a:p>
            <a:pPr marL="182880" indent="-182880">
              <a:spcAft>
                <a:spcPts val="600"/>
              </a:spcAft>
              <a:buClr>
                <a:srgbClr val="6258D8"/>
              </a:buClr>
              <a:buFont typeface="Arial"/>
              <a:buChar char="•"/>
            </a:pPr>
            <a:r>
              <a:rPr sz="1200" b="0">
                <a:solidFill>
                  <a:srgbClr val="202331"/>
                </a:solidFill>
                <a:latin typeface="Calibri"/>
              </a:rPr>
              <a:t>Extracts decisions, owners, rationale, typed assumptions and facts</a:t>
            </a:r>
          </a:p>
          <a:p>
            <a:pPr marL="182880" indent="-182880">
              <a:spcAft>
                <a:spcPts val="600"/>
              </a:spcAft>
              <a:buClr>
                <a:srgbClr val="6258D8"/>
              </a:buClr>
              <a:buFont typeface="Arial"/>
              <a:buChar char="•"/>
            </a:pPr>
            <a:r>
              <a:rPr sz="1200" b="0">
                <a:solidFill>
                  <a:srgbClr val="202331"/>
                </a:solidFill>
                <a:latin typeface="Calibri"/>
              </a:rPr>
              <a:t>Labels each fact confirmed, tentative or negated</a:t>
            </a:r>
          </a:p>
        </p:txBody>
      </p:sp>
      <p:cxnSp>
        <p:nvCxnSpPr>
          <p:cNvPr id="10" name="Connector 9"/>
          <p:cNvCxnSpPr/>
          <p:nvPr/>
        </p:nvCxnSpPr>
        <p:spPr>
          <a:xfrm>
            <a:off x="3081528" y="2606040"/>
            <a:ext cx="146304"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3246120" y="1280160"/>
            <a:ext cx="2606040" cy="269748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246120" y="1280160"/>
            <a:ext cx="2606040" cy="457200"/>
          </a:xfrm>
          <a:prstGeom prst="roundRect">
            <a:avLst>
              <a:gd name="adj" fmla="val 18000"/>
            </a:avLst>
          </a:prstGeom>
          <a:solidFill>
            <a:srgbClr val="2428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29000" y="1280160"/>
            <a:ext cx="2286000" cy="457200"/>
          </a:xfrm>
          <a:prstGeom prst="rect">
            <a:avLst/>
          </a:prstGeom>
          <a:noFill/>
        </p:spPr>
        <p:txBody>
          <a:bodyPr wrap="square" lIns="0" rIns="0" tIns="0" bIns="0" anchor="ctr">
            <a:spAutoFit/>
          </a:bodyPr>
          <a:lstStyle/>
          <a:p>
            <a:pPr algn="l"/>
            <a:r>
              <a:rPr sz="1300" b="1" i="0">
                <a:solidFill>
                  <a:srgbClr val="FFFFFF"/>
                </a:solidFill>
                <a:latin typeface="Calibri"/>
              </a:rPr>
              <a:t>Verification layer</a:t>
            </a:r>
          </a:p>
        </p:txBody>
      </p:sp>
      <p:sp>
        <p:nvSpPr>
          <p:cNvPr id="14" name="TextBox 13"/>
          <p:cNvSpPr txBox="1"/>
          <p:nvPr/>
        </p:nvSpPr>
        <p:spPr>
          <a:xfrm>
            <a:off x="3447288" y="1874519"/>
            <a:ext cx="2240280" cy="2057400"/>
          </a:xfrm>
          <a:prstGeom prst="rect">
            <a:avLst/>
          </a:prstGeom>
          <a:noFill/>
        </p:spPr>
        <p:txBody>
          <a:bodyPr wrap="square" lIns="0" rIns="0" tIns="0" bIns="0">
            <a:spAutoFit/>
          </a:bodyPr>
          <a:lstStyle/>
          <a:p>
            <a:pPr marL="182880" indent="-182880">
              <a:spcAft>
                <a:spcPts val="600"/>
              </a:spcAft>
              <a:buClr>
                <a:srgbClr val="24283B"/>
              </a:buClr>
              <a:buFont typeface="Arial"/>
              <a:buChar char="•"/>
            </a:pPr>
            <a:r>
              <a:rPr sz="1200" b="0">
                <a:solidFill>
                  <a:srgbClr val="202331"/>
                </a:solidFill>
                <a:latin typeface="Calibri"/>
              </a:rPr>
              <a:t>Every quote must resolve to an exact span in an immutable source snapshot, or it is dropped</a:t>
            </a:r>
          </a:p>
          <a:p>
            <a:pPr marL="182880" indent="-182880">
              <a:spcAft>
                <a:spcPts val="600"/>
              </a:spcAft>
              <a:buClr>
                <a:srgbClr val="24283B"/>
              </a:buClr>
              <a:buFont typeface="Arial"/>
              <a:buChar char="•"/>
            </a:pPr>
            <a:r>
              <a:rPr sz="1200" b="0">
                <a:solidFill>
                  <a:srgbClr val="202331"/>
                </a:solidFill>
                <a:latin typeface="Calibri"/>
              </a:rPr>
              <a:t>Dates, amounts and statuses compared by typed rules, not by the model</a:t>
            </a:r>
          </a:p>
          <a:p>
            <a:pPr marL="182880" indent="-182880">
              <a:spcAft>
                <a:spcPts val="600"/>
              </a:spcAft>
              <a:buClr>
                <a:srgbClr val="24283B"/>
              </a:buClr>
              <a:buFont typeface="Arial"/>
              <a:buChar char="•"/>
            </a:pPr>
            <a:r>
              <a:rPr sz="1200" b="0">
                <a:solidFill>
                  <a:srgbClr val="202331"/>
                </a:solidFill>
                <a:latin typeface="Calibri"/>
              </a:rPr>
              <a:t>Verified results reused when the source is unchanged</a:t>
            </a:r>
          </a:p>
        </p:txBody>
      </p:sp>
      <p:cxnSp>
        <p:nvCxnSpPr>
          <p:cNvPr id="15" name="Connector 14"/>
          <p:cNvCxnSpPr/>
          <p:nvPr/>
        </p:nvCxnSpPr>
        <p:spPr>
          <a:xfrm>
            <a:off x="5870448" y="2606040"/>
            <a:ext cx="146304" cy="0"/>
          </a:xfrm>
          <a:prstGeom prst="line">
            <a:avLst/>
          </a:prstGeom>
          <a:ln w="25400">
            <a:solidFill>
              <a:srgbClr val="A59EEF"/>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6035040" y="1280160"/>
            <a:ext cx="2606040" cy="269748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035040" y="1280160"/>
            <a:ext cx="2606040" cy="457200"/>
          </a:xfrm>
          <a:prstGeom prst="roundRect">
            <a:avLst>
              <a:gd name="adj" fmla="val 18000"/>
            </a:avLst>
          </a:prstGeom>
          <a:solidFill>
            <a:srgbClr val="23B8A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17920" y="1280160"/>
            <a:ext cx="2286000" cy="457200"/>
          </a:xfrm>
          <a:prstGeom prst="rect">
            <a:avLst/>
          </a:prstGeom>
          <a:noFill/>
        </p:spPr>
        <p:txBody>
          <a:bodyPr wrap="square" lIns="0" rIns="0" tIns="0" bIns="0" anchor="ctr">
            <a:spAutoFit/>
          </a:bodyPr>
          <a:lstStyle/>
          <a:p>
            <a:pPr algn="l"/>
            <a:r>
              <a:rPr sz="1300" b="1" i="0">
                <a:solidFill>
                  <a:srgbClr val="FFFFFF"/>
                </a:solidFill>
                <a:latin typeface="Calibri"/>
              </a:rPr>
              <a:t>Human checkpoint</a:t>
            </a:r>
          </a:p>
        </p:txBody>
      </p:sp>
      <p:sp>
        <p:nvSpPr>
          <p:cNvPr id="19" name="TextBox 18"/>
          <p:cNvSpPr txBox="1"/>
          <p:nvPr/>
        </p:nvSpPr>
        <p:spPr>
          <a:xfrm>
            <a:off x="6236207" y="1874519"/>
            <a:ext cx="2240280" cy="2057400"/>
          </a:xfrm>
          <a:prstGeom prst="rect">
            <a:avLst/>
          </a:prstGeom>
          <a:noFill/>
        </p:spPr>
        <p:txBody>
          <a:bodyPr wrap="square" lIns="0" rIns="0" tIns="0" bIns="0">
            <a:spAutoFit/>
          </a:bodyPr>
          <a:lstStyle/>
          <a:p>
            <a:pPr marL="182880" indent="-182880">
              <a:spcAft>
                <a:spcPts val="600"/>
              </a:spcAft>
              <a:buClr>
                <a:srgbClr val="23B8A7"/>
              </a:buClr>
              <a:buFont typeface="Arial"/>
              <a:buChar char="•"/>
            </a:pPr>
            <a:r>
              <a:rPr sz="1200" b="0">
                <a:solidFill>
                  <a:srgbClr val="202331"/>
                </a:solidFill>
                <a:latin typeface="Calibri"/>
              </a:rPr>
              <a:t>Drafts wait for editor confirmation</a:t>
            </a:r>
          </a:p>
          <a:p>
            <a:pPr marL="182880" indent="-182880">
              <a:spcAft>
                <a:spcPts val="600"/>
              </a:spcAft>
              <a:buClr>
                <a:srgbClr val="23B8A7"/>
              </a:buClr>
              <a:buFont typeface="Arial"/>
              <a:buChar char="•"/>
            </a:pPr>
            <a:r>
              <a:rPr sz="1200" b="0">
                <a:solidFill>
                  <a:srgbClr val="202331"/>
                </a:solidFill>
                <a:latin typeface="Calibri"/>
              </a:rPr>
              <a:t>Alerts state coverage: contradiction, supported or evidence unclear</a:t>
            </a:r>
          </a:p>
          <a:p>
            <a:pPr marL="182880" indent="-182880">
              <a:spcAft>
                <a:spcPts val="600"/>
              </a:spcAft>
              <a:buClr>
                <a:srgbClr val="23B8A7"/>
              </a:buClr>
              <a:buFont typeface="Arial"/>
              <a:buChar char="•"/>
            </a:pPr>
            <a:r>
              <a:rPr sz="1200" b="0">
                <a:solidFill>
                  <a:srgbClr val="202331"/>
                </a:solidFill>
                <a:latin typeface="Calibri"/>
              </a:rPr>
              <a:t>Five review actions, each with a rationale and audit trail</a:t>
            </a:r>
          </a:p>
        </p:txBody>
      </p:sp>
      <p:sp>
        <p:nvSpPr>
          <p:cNvPr id="20" name="TextBox 19"/>
          <p:cNvSpPr txBox="1"/>
          <p:nvPr/>
        </p:nvSpPr>
        <p:spPr>
          <a:xfrm>
            <a:off x="457200" y="4160520"/>
            <a:ext cx="8183879" cy="457200"/>
          </a:xfrm>
          <a:prstGeom prst="rect">
            <a:avLst/>
          </a:prstGeom>
          <a:noFill/>
        </p:spPr>
        <p:txBody>
          <a:bodyPr wrap="square" lIns="0" rIns="0" tIns="0" bIns="0" anchor="t">
            <a:spAutoFit/>
          </a:bodyPr>
          <a:lstStyle/>
          <a:p>
            <a:pPr algn="l"/>
            <a:r>
              <a:rPr sz="1300" b="1" i="0">
                <a:solidFill>
                  <a:srgbClr val="24283B"/>
                </a:solidFill>
                <a:latin typeface="Calibri"/>
              </a:rPr>
              <a:t>Why split the work: </a:t>
            </a:r>
            <a:r>
              <a:rPr sz="1300" b="0" i="0">
                <a:solidFill>
                  <a:srgbClr val="202331"/>
                </a:solidFill>
                <a:latin typeface="Calibri"/>
              </a:rPr>
              <a:t>a false alert costs more trust than a missed one. Gemini handles language; deterministic code handles arithmetic and citations.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ARCHITECTURE</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Serverless on Google Cloud, private by default</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9 / 14</a:t>
            </a:r>
          </a:p>
        </p:txBody>
      </p:sp>
      <p:sp>
        <p:nvSpPr>
          <p:cNvPr id="6" name="Rounded Rectangle 5"/>
          <p:cNvSpPr/>
          <p:nvPr/>
        </p:nvSpPr>
        <p:spPr>
          <a:xfrm>
            <a:off x="1874519" y="1188720"/>
            <a:ext cx="6766560" cy="3429000"/>
          </a:xfrm>
          <a:prstGeom prst="roundRect">
            <a:avLst>
              <a:gd name="adj" fmla="val 4000"/>
            </a:avLst>
          </a:prstGeom>
          <a:solidFill>
            <a:srgbClr val="F1F0FD"/>
          </a:solidFill>
          <a:ln w="9525">
            <a:solidFill>
              <a:srgbClr val="DCD8FA"/>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2011680" y="1243584"/>
            <a:ext cx="3657600" cy="201168"/>
          </a:xfrm>
          <a:prstGeom prst="rect">
            <a:avLst/>
          </a:prstGeom>
          <a:noFill/>
        </p:spPr>
        <p:txBody>
          <a:bodyPr wrap="square" lIns="0" rIns="0" tIns="0" bIns="0" anchor="t">
            <a:spAutoFit/>
          </a:bodyPr>
          <a:lstStyle/>
          <a:p>
            <a:pPr algn="l"/>
            <a:r>
              <a:rPr sz="800" b="1" i="0" spc="100">
                <a:solidFill>
                  <a:srgbClr val="5146C5"/>
                </a:solidFill>
                <a:latin typeface="Calibri"/>
              </a:rPr>
              <a:t>GOOGLE CLOUD  ·  asia-southeast1</a:t>
            </a:r>
          </a:p>
        </p:txBody>
      </p:sp>
      <p:sp>
        <p:nvSpPr>
          <p:cNvPr id="8" name="Rounded Rectangle 7"/>
          <p:cNvSpPr/>
          <p:nvPr/>
        </p:nvSpPr>
        <p:spPr>
          <a:xfrm>
            <a:off x="457200" y="2331720"/>
            <a:ext cx="1188720" cy="822960"/>
          </a:xfrm>
          <a:prstGeom prst="roundRect">
            <a:avLst>
              <a:gd name="adj" fmla="val 14000"/>
            </a:avLst>
          </a:prstGeom>
          <a:solidFill>
            <a:srgbClr val="FFFFFF"/>
          </a:solidFill>
          <a:ln w="12700">
            <a:solidFill>
              <a:srgbClr val="E3E6E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30352" y="2395727"/>
            <a:ext cx="1042416" cy="237744"/>
          </a:xfrm>
          <a:prstGeom prst="rect">
            <a:avLst/>
          </a:prstGeom>
          <a:noFill/>
        </p:spPr>
        <p:txBody>
          <a:bodyPr wrap="square" lIns="0" rIns="0" tIns="0" bIns="0" anchor="t">
            <a:spAutoFit/>
          </a:bodyPr>
          <a:lstStyle/>
          <a:p>
            <a:pPr algn="ctr"/>
            <a:r>
              <a:rPr sz="1100" b="1" i="0">
                <a:solidFill>
                  <a:srgbClr val="24283B"/>
                </a:solidFill>
                <a:latin typeface="Calibri"/>
              </a:rPr>
              <a:t>Project team</a:t>
            </a:r>
          </a:p>
        </p:txBody>
      </p:sp>
      <p:sp>
        <p:nvSpPr>
          <p:cNvPr id="10" name="TextBox 9"/>
          <p:cNvSpPr txBox="1"/>
          <p:nvPr/>
        </p:nvSpPr>
        <p:spPr>
          <a:xfrm>
            <a:off x="530352" y="2633472"/>
            <a:ext cx="1042416" cy="475488"/>
          </a:xfrm>
          <a:prstGeom prst="rect">
            <a:avLst/>
          </a:prstGeom>
          <a:noFill/>
        </p:spPr>
        <p:txBody>
          <a:bodyPr wrap="square" lIns="0" rIns="0" tIns="0" bIns="0" anchor="t">
            <a:spAutoFit/>
          </a:bodyPr>
          <a:lstStyle/>
          <a:p>
            <a:pPr algn="ctr"/>
            <a:r>
              <a:rPr sz="900" b="0" i="0">
                <a:solidFill>
                  <a:srgbClr val="626A7B"/>
                </a:solidFill>
                <a:latin typeface="Calibri"/>
              </a:rPr>
              <a:t>Browser, Google sign-in</a:t>
            </a:r>
          </a:p>
        </p:txBody>
      </p:sp>
      <p:sp>
        <p:nvSpPr>
          <p:cNvPr id="11" name="Rounded Rectangle 10"/>
          <p:cNvSpPr/>
          <p:nvPr/>
        </p:nvSpPr>
        <p:spPr>
          <a:xfrm>
            <a:off x="2057400" y="2331720"/>
            <a:ext cx="1463040" cy="822960"/>
          </a:xfrm>
          <a:prstGeom prst="roundRect">
            <a:avLst>
              <a:gd name="adj" fmla="val 14000"/>
            </a:avLst>
          </a:prstGeom>
          <a:solidFill>
            <a:srgbClr val="6258D8"/>
          </a:solidFill>
          <a:ln w="12700">
            <a:solidFill>
              <a:srgbClr val="6258D8"/>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2130552" y="2395727"/>
            <a:ext cx="1316736" cy="237744"/>
          </a:xfrm>
          <a:prstGeom prst="rect">
            <a:avLst/>
          </a:prstGeom>
          <a:noFill/>
        </p:spPr>
        <p:txBody>
          <a:bodyPr wrap="square" lIns="0" rIns="0" tIns="0" bIns="0" anchor="t">
            <a:spAutoFit/>
          </a:bodyPr>
          <a:lstStyle/>
          <a:p>
            <a:pPr algn="ctr"/>
            <a:r>
              <a:rPr sz="1100" b="1" i="0">
                <a:solidFill>
                  <a:srgbClr val="FFFFFF"/>
                </a:solidFill>
                <a:latin typeface="Calibri"/>
              </a:rPr>
              <a:t>Cloud Run · Web</a:t>
            </a:r>
          </a:p>
        </p:txBody>
      </p:sp>
      <p:sp>
        <p:nvSpPr>
          <p:cNvPr id="13" name="TextBox 12"/>
          <p:cNvSpPr txBox="1"/>
          <p:nvPr/>
        </p:nvSpPr>
        <p:spPr>
          <a:xfrm>
            <a:off x="2130552" y="2633472"/>
            <a:ext cx="1316736" cy="475488"/>
          </a:xfrm>
          <a:prstGeom prst="rect">
            <a:avLst/>
          </a:prstGeom>
          <a:noFill/>
        </p:spPr>
        <p:txBody>
          <a:bodyPr wrap="square" lIns="0" rIns="0" tIns="0" bIns="0" anchor="t">
            <a:spAutoFit/>
          </a:bodyPr>
          <a:lstStyle/>
          <a:p>
            <a:pPr algn="ctr"/>
            <a:r>
              <a:rPr sz="900" b="0" i="0">
                <a:solidFill>
                  <a:srgbClr val="E6E4FF"/>
                </a:solidFill>
                <a:latin typeface="Calibri"/>
              </a:rPr>
              <a:t>Next.js, public; same-origin API proxy</a:t>
            </a:r>
          </a:p>
        </p:txBody>
      </p:sp>
      <p:sp>
        <p:nvSpPr>
          <p:cNvPr id="14" name="Rounded Rectangle 13"/>
          <p:cNvSpPr/>
          <p:nvPr/>
        </p:nvSpPr>
        <p:spPr>
          <a:xfrm>
            <a:off x="3840480" y="2331720"/>
            <a:ext cx="1463040" cy="822960"/>
          </a:xfrm>
          <a:prstGeom prst="roundRect">
            <a:avLst>
              <a:gd name="adj" fmla="val 14000"/>
            </a:avLst>
          </a:prstGeom>
          <a:solidFill>
            <a:srgbClr val="24283B"/>
          </a:solidFill>
          <a:ln w="12700">
            <a:solidFill>
              <a:srgbClr val="24283B"/>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913632" y="2395727"/>
            <a:ext cx="1316736" cy="237744"/>
          </a:xfrm>
          <a:prstGeom prst="rect">
            <a:avLst/>
          </a:prstGeom>
          <a:noFill/>
        </p:spPr>
        <p:txBody>
          <a:bodyPr wrap="square" lIns="0" rIns="0" tIns="0" bIns="0" anchor="t">
            <a:spAutoFit/>
          </a:bodyPr>
          <a:lstStyle/>
          <a:p>
            <a:pPr algn="ctr"/>
            <a:r>
              <a:rPr sz="1100" b="1" i="0">
                <a:solidFill>
                  <a:srgbClr val="FFFFFF"/>
                </a:solidFill>
                <a:latin typeface="Calibri"/>
              </a:rPr>
              <a:t>Cloud Run · API</a:t>
            </a:r>
          </a:p>
        </p:txBody>
      </p:sp>
      <p:sp>
        <p:nvSpPr>
          <p:cNvPr id="16" name="TextBox 15"/>
          <p:cNvSpPr txBox="1"/>
          <p:nvPr/>
        </p:nvSpPr>
        <p:spPr>
          <a:xfrm>
            <a:off x="3913632" y="2633472"/>
            <a:ext cx="1316736" cy="475488"/>
          </a:xfrm>
          <a:prstGeom prst="rect">
            <a:avLst/>
          </a:prstGeom>
          <a:noFill/>
        </p:spPr>
        <p:txBody>
          <a:bodyPr wrap="square" lIns="0" rIns="0" tIns="0" bIns="0" anchor="t">
            <a:spAutoFit/>
          </a:bodyPr>
          <a:lstStyle/>
          <a:p>
            <a:pPr algn="ctr"/>
            <a:r>
              <a:rPr sz="900" b="0" i="0">
                <a:solidFill>
                  <a:srgbClr val="C9CCE0"/>
                </a:solidFill>
                <a:latin typeface="Calibri"/>
              </a:rPr>
              <a:t>FastAPI, private; IAM invoker only</a:t>
            </a:r>
          </a:p>
        </p:txBody>
      </p:sp>
      <p:sp>
        <p:nvSpPr>
          <p:cNvPr id="17" name="Rounded Rectangle 16"/>
          <p:cNvSpPr/>
          <p:nvPr/>
        </p:nvSpPr>
        <p:spPr>
          <a:xfrm>
            <a:off x="5623560" y="2331720"/>
            <a:ext cx="1463040" cy="822960"/>
          </a:xfrm>
          <a:prstGeom prst="roundRect">
            <a:avLst>
              <a:gd name="adj" fmla="val 14000"/>
            </a:avLst>
          </a:prstGeom>
          <a:solidFill>
            <a:srgbClr val="FFFFFF"/>
          </a:solidFill>
          <a:ln w="12700">
            <a:solidFill>
              <a:srgbClr val="E3E6E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696712" y="2395727"/>
            <a:ext cx="1316736" cy="237744"/>
          </a:xfrm>
          <a:prstGeom prst="rect">
            <a:avLst/>
          </a:prstGeom>
          <a:noFill/>
        </p:spPr>
        <p:txBody>
          <a:bodyPr wrap="square" lIns="0" rIns="0" tIns="0" bIns="0" anchor="t">
            <a:spAutoFit/>
          </a:bodyPr>
          <a:lstStyle/>
          <a:p>
            <a:pPr algn="ctr"/>
            <a:r>
              <a:rPr sz="1100" b="1" i="0">
                <a:solidFill>
                  <a:srgbClr val="24283B"/>
                </a:solidFill>
                <a:latin typeface="Calibri"/>
              </a:rPr>
              <a:t>Cloud Tasks</a:t>
            </a:r>
          </a:p>
        </p:txBody>
      </p:sp>
      <p:sp>
        <p:nvSpPr>
          <p:cNvPr id="19" name="TextBox 18"/>
          <p:cNvSpPr txBox="1"/>
          <p:nvPr/>
        </p:nvSpPr>
        <p:spPr>
          <a:xfrm>
            <a:off x="5696712" y="2633472"/>
            <a:ext cx="1316736" cy="475488"/>
          </a:xfrm>
          <a:prstGeom prst="rect">
            <a:avLst/>
          </a:prstGeom>
          <a:noFill/>
        </p:spPr>
        <p:txBody>
          <a:bodyPr wrap="square" lIns="0" rIns="0" tIns="0" bIns="0" anchor="t">
            <a:spAutoFit/>
          </a:bodyPr>
          <a:lstStyle/>
          <a:p>
            <a:pPr algn="ctr"/>
            <a:r>
              <a:rPr sz="900" b="0" i="0">
                <a:solidFill>
                  <a:srgbClr val="626A7B"/>
                </a:solidFill>
                <a:latin typeface="Calibri"/>
              </a:rPr>
              <a:t>Queued jobs, retries, idempotent receipts</a:t>
            </a:r>
          </a:p>
        </p:txBody>
      </p:sp>
      <p:sp>
        <p:nvSpPr>
          <p:cNvPr id="20" name="Rounded Rectangle 19"/>
          <p:cNvSpPr/>
          <p:nvPr/>
        </p:nvSpPr>
        <p:spPr>
          <a:xfrm>
            <a:off x="7269480" y="2331720"/>
            <a:ext cx="1234440" cy="822960"/>
          </a:xfrm>
          <a:prstGeom prst="roundRect">
            <a:avLst>
              <a:gd name="adj" fmla="val 14000"/>
            </a:avLst>
          </a:prstGeom>
          <a:solidFill>
            <a:srgbClr val="24283B"/>
          </a:solidFill>
          <a:ln w="12700">
            <a:solidFill>
              <a:srgbClr val="24283B"/>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7342631" y="2395727"/>
            <a:ext cx="1088136" cy="237744"/>
          </a:xfrm>
          <a:prstGeom prst="rect">
            <a:avLst/>
          </a:prstGeom>
          <a:noFill/>
        </p:spPr>
        <p:txBody>
          <a:bodyPr wrap="square" lIns="0" rIns="0" tIns="0" bIns="0" anchor="t">
            <a:spAutoFit/>
          </a:bodyPr>
          <a:lstStyle/>
          <a:p>
            <a:pPr algn="ctr"/>
            <a:r>
              <a:rPr sz="1100" b="1" i="0">
                <a:solidFill>
                  <a:srgbClr val="FFFFFF"/>
                </a:solidFill>
                <a:latin typeface="Calibri"/>
              </a:rPr>
              <a:t>Worker</a:t>
            </a:r>
          </a:p>
        </p:txBody>
      </p:sp>
      <p:sp>
        <p:nvSpPr>
          <p:cNvPr id="22" name="TextBox 21"/>
          <p:cNvSpPr txBox="1"/>
          <p:nvPr/>
        </p:nvSpPr>
        <p:spPr>
          <a:xfrm>
            <a:off x="7342631" y="2633472"/>
            <a:ext cx="1088136" cy="475488"/>
          </a:xfrm>
          <a:prstGeom prst="rect">
            <a:avLst/>
          </a:prstGeom>
          <a:noFill/>
        </p:spPr>
        <p:txBody>
          <a:bodyPr wrap="square" lIns="0" rIns="0" tIns="0" bIns="0" anchor="t">
            <a:spAutoFit/>
          </a:bodyPr>
          <a:lstStyle/>
          <a:p>
            <a:pPr algn="ctr"/>
            <a:r>
              <a:rPr sz="900" b="0" i="0">
                <a:solidFill>
                  <a:srgbClr val="C9CCE0"/>
                </a:solidFill>
                <a:latin typeface="Calibri"/>
              </a:rPr>
              <a:t>Cloud Run, private; refresh, extract, assess</a:t>
            </a:r>
          </a:p>
        </p:txBody>
      </p:sp>
      <p:sp>
        <p:nvSpPr>
          <p:cNvPr id="23" name="Rounded Rectangle 22"/>
          <p:cNvSpPr/>
          <p:nvPr/>
        </p:nvSpPr>
        <p:spPr>
          <a:xfrm>
            <a:off x="2057400" y="1508760"/>
            <a:ext cx="1463040" cy="640080"/>
          </a:xfrm>
          <a:prstGeom prst="roundRect">
            <a:avLst>
              <a:gd name="adj" fmla="val 14000"/>
            </a:avLst>
          </a:prstGeom>
          <a:solidFill>
            <a:srgbClr val="FFFFFF"/>
          </a:solidFill>
          <a:ln w="12700">
            <a:solidFill>
              <a:srgbClr val="E3E6E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xtBox 23"/>
          <p:cNvSpPr txBox="1"/>
          <p:nvPr/>
        </p:nvSpPr>
        <p:spPr>
          <a:xfrm>
            <a:off x="2130552" y="1572768"/>
            <a:ext cx="1316736" cy="237744"/>
          </a:xfrm>
          <a:prstGeom prst="rect">
            <a:avLst/>
          </a:prstGeom>
          <a:noFill/>
        </p:spPr>
        <p:txBody>
          <a:bodyPr wrap="square" lIns="0" rIns="0" tIns="0" bIns="0" anchor="t">
            <a:spAutoFit/>
          </a:bodyPr>
          <a:lstStyle/>
          <a:p>
            <a:pPr algn="ctr"/>
            <a:r>
              <a:rPr sz="1100" b="1" i="0">
                <a:solidFill>
                  <a:srgbClr val="24283B"/>
                </a:solidFill>
                <a:latin typeface="Calibri"/>
              </a:rPr>
              <a:t>Firebase Auth</a:t>
            </a:r>
          </a:p>
        </p:txBody>
      </p:sp>
      <p:sp>
        <p:nvSpPr>
          <p:cNvPr id="25" name="TextBox 24"/>
          <p:cNvSpPr txBox="1"/>
          <p:nvPr/>
        </p:nvSpPr>
        <p:spPr>
          <a:xfrm>
            <a:off x="2130552" y="1810512"/>
            <a:ext cx="1316736" cy="292607"/>
          </a:xfrm>
          <a:prstGeom prst="rect">
            <a:avLst/>
          </a:prstGeom>
          <a:noFill/>
        </p:spPr>
        <p:txBody>
          <a:bodyPr wrap="square" lIns="0" rIns="0" tIns="0" bIns="0" anchor="t">
            <a:spAutoFit/>
          </a:bodyPr>
          <a:lstStyle/>
          <a:p>
            <a:pPr algn="ctr"/>
            <a:r>
              <a:rPr sz="900" b="0" i="0">
                <a:solidFill>
                  <a:srgbClr val="626A7B"/>
                </a:solidFill>
                <a:latin typeface="Calibri"/>
              </a:rPr>
              <a:t>ID token on every call</a:t>
            </a:r>
          </a:p>
        </p:txBody>
      </p:sp>
      <p:sp>
        <p:nvSpPr>
          <p:cNvPr id="26" name="Rounded Rectangle 25"/>
          <p:cNvSpPr/>
          <p:nvPr/>
        </p:nvSpPr>
        <p:spPr>
          <a:xfrm>
            <a:off x="3840480" y="3429000"/>
            <a:ext cx="1463040" cy="731520"/>
          </a:xfrm>
          <a:prstGeom prst="roundRect">
            <a:avLst>
              <a:gd name="adj" fmla="val 14000"/>
            </a:avLst>
          </a:prstGeom>
          <a:solidFill>
            <a:srgbClr val="FFFFFF"/>
          </a:solidFill>
          <a:ln w="12700">
            <a:solidFill>
              <a:srgbClr val="E3E6E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3913632" y="3493008"/>
            <a:ext cx="1316736" cy="237744"/>
          </a:xfrm>
          <a:prstGeom prst="rect">
            <a:avLst/>
          </a:prstGeom>
          <a:noFill/>
        </p:spPr>
        <p:txBody>
          <a:bodyPr wrap="square" lIns="0" rIns="0" tIns="0" bIns="0" anchor="t">
            <a:spAutoFit/>
          </a:bodyPr>
          <a:lstStyle/>
          <a:p>
            <a:pPr algn="ctr"/>
            <a:r>
              <a:rPr sz="1100" b="1" i="0">
                <a:solidFill>
                  <a:srgbClr val="24283B"/>
                </a:solidFill>
                <a:latin typeface="Calibri"/>
              </a:rPr>
              <a:t>Firestore</a:t>
            </a:r>
          </a:p>
        </p:txBody>
      </p:sp>
      <p:sp>
        <p:nvSpPr>
          <p:cNvPr id="28" name="TextBox 27"/>
          <p:cNvSpPr txBox="1"/>
          <p:nvPr/>
        </p:nvSpPr>
        <p:spPr>
          <a:xfrm>
            <a:off x="3913632" y="3730752"/>
            <a:ext cx="1316736" cy="384048"/>
          </a:xfrm>
          <a:prstGeom prst="rect">
            <a:avLst/>
          </a:prstGeom>
          <a:noFill/>
        </p:spPr>
        <p:txBody>
          <a:bodyPr wrap="square" lIns="0" rIns="0" tIns="0" bIns="0" anchor="t">
            <a:spAutoFit/>
          </a:bodyPr>
          <a:lstStyle/>
          <a:p>
            <a:pPr algn="ctr"/>
            <a:r>
              <a:rPr sz="900" b="0" i="0">
                <a:solidFill>
                  <a:srgbClr val="626A7B"/>
                </a:solidFill>
                <a:latin typeface="Calibri"/>
              </a:rPr>
              <a:t>Decisions, facts, alerts, audit</a:t>
            </a:r>
          </a:p>
        </p:txBody>
      </p:sp>
      <p:sp>
        <p:nvSpPr>
          <p:cNvPr id="29" name="Rounded Rectangle 28"/>
          <p:cNvSpPr/>
          <p:nvPr/>
        </p:nvSpPr>
        <p:spPr>
          <a:xfrm>
            <a:off x="5623560" y="3429000"/>
            <a:ext cx="1463040" cy="731520"/>
          </a:xfrm>
          <a:prstGeom prst="roundRect">
            <a:avLst>
              <a:gd name="adj" fmla="val 14000"/>
            </a:avLst>
          </a:prstGeom>
          <a:solidFill>
            <a:srgbClr val="FFFFFF"/>
          </a:solidFill>
          <a:ln w="12700">
            <a:solidFill>
              <a:srgbClr val="E3E6E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5696712" y="3493008"/>
            <a:ext cx="1316736" cy="237744"/>
          </a:xfrm>
          <a:prstGeom prst="rect">
            <a:avLst/>
          </a:prstGeom>
          <a:noFill/>
        </p:spPr>
        <p:txBody>
          <a:bodyPr wrap="square" lIns="0" rIns="0" tIns="0" bIns="0" anchor="t">
            <a:spAutoFit/>
          </a:bodyPr>
          <a:lstStyle/>
          <a:p>
            <a:pPr algn="ctr"/>
            <a:r>
              <a:rPr sz="1100" b="1" i="0">
                <a:solidFill>
                  <a:srgbClr val="24283B"/>
                </a:solidFill>
                <a:latin typeface="Calibri"/>
              </a:rPr>
              <a:t>Secret Manager</a:t>
            </a:r>
          </a:p>
        </p:txBody>
      </p:sp>
      <p:sp>
        <p:nvSpPr>
          <p:cNvPr id="31" name="TextBox 30"/>
          <p:cNvSpPr txBox="1"/>
          <p:nvPr/>
        </p:nvSpPr>
        <p:spPr>
          <a:xfrm>
            <a:off x="5696712" y="3730752"/>
            <a:ext cx="1316736" cy="384048"/>
          </a:xfrm>
          <a:prstGeom prst="rect">
            <a:avLst/>
          </a:prstGeom>
          <a:noFill/>
        </p:spPr>
        <p:txBody>
          <a:bodyPr wrap="square" lIns="0" rIns="0" tIns="0" bIns="0" anchor="t">
            <a:spAutoFit/>
          </a:bodyPr>
          <a:lstStyle/>
          <a:p>
            <a:pPr algn="ctr"/>
            <a:r>
              <a:rPr sz="900" b="0" i="0">
                <a:solidFill>
                  <a:srgbClr val="626A7B"/>
                </a:solidFill>
                <a:latin typeface="Calibri"/>
              </a:rPr>
              <a:t>Per-project OAuth tokens</a:t>
            </a:r>
          </a:p>
        </p:txBody>
      </p:sp>
      <p:sp>
        <p:nvSpPr>
          <p:cNvPr id="32" name="Rounded Rectangle 31"/>
          <p:cNvSpPr/>
          <p:nvPr/>
        </p:nvSpPr>
        <p:spPr>
          <a:xfrm>
            <a:off x="7269480" y="1508760"/>
            <a:ext cx="1234440" cy="640080"/>
          </a:xfrm>
          <a:prstGeom prst="roundRect">
            <a:avLst>
              <a:gd name="adj" fmla="val 14000"/>
            </a:avLst>
          </a:prstGeom>
          <a:solidFill>
            <a:srgbClr val="E8F5F2"/>
          </a:solidFill>
          <a:ln w="12700">
            <a:solidFill>
              <a:srgbClr val="9FDCD3"/>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7342631" y="1572768"/>
            <a:ext cx="1088136" cy="237744"/>
          </a:xfrm>
          <a:prstGeom prst="rect">
            <a:avLst/>
          </a:prstGeom>
          <a:noFill/>
        </p:spPr>
        <p:txBody>
          <a:bodyPr wrap="square" lIns="0" rIns="0" tIns="0" bIns="0" anchor="t">
            <a:spAutoFit/>
          </a:bodyPr>
          <a:lstStyle/>
          <a:p>
            <a:pPr algn="ctr"/>
            <a:r>
              <a:rPr sz="1100" b="1" i="0">
                <a:solidFill>
                  <a:srgbClr val="17786C"/>
                </a:solidFill>
                <a:latin typeface="Calibri"/>
              </a:rPr>
              <a:t>Vertex AI</a:t>
            </a:r>
          </a:p>
        </p:txBody>
      </p:sp>
      <p:sp>
        <p:nvSpPr>
          <p:cNvPr id="34" name="TextBox 33"/>
          <p:cNvSpPr txBox="1"/>
          <p:nvPr/>
        </p:nvSpPr>
        <p:spPr>
          <a:xfrm>
            <a:off x="7342631" y="1810512"/>
            <a:ext cx="1088136" cy="292607"/>
          </a:xfrm>
          <a:prstGeom prst="rect">
            <a:avLst/>
          </a:prstGeom>
          <a:noFill/>
        </p:spPr>
        <p:txBody>
          <a:bodyPr wrap="square" lIns="0" rIns="0" tIns="0" bIns="0" anchor="t">
            <a:spAutoFit/>
          </a:bodyPr>
          <a:lstStyle/>
          <a:p>
            <a:pPr algn="ctr"/>
            <a:r>
              <a:rPr sz="900" b="0" i="0">
                <a:solidFill>
                  <a:srgbClr val="626A7B"/>
                </a:solidFill>
                <a:latin typeface="Calibri"/>
              </a:rPr>
              <a:t>Gemini 2.5 Flash</a:t>
            </a:r>
          </a:p>
        </p:txBody>
      </p:sp>
      <p:sp>
        <p:nvSpPr>
          <p:cNvPr id="35" name="Rounded Rectangle 34"/>
          <p:cNvSpPr/>
          <p:nvPr/>
        </p:nvSpPr>
        <p:spPr>
          <a:xfrm>
            <a:off x="7269480" y="3429000"/>
            <a:ext cx="1234440" cy="731520"/>
          </a:xfrm>
          <a:prstGeom prst="roundRect">
            <a:avLst>
              <a:gd name="adj" fmla="val 14000"/>
            </a:avLst>
          </a:prstGeom>
          <a:solidFill>
            <a:srgbClr val="FFFFFF"/>
          </a:solidFill>
          <a:ln w="12700">
            <a:solidFill>
              <a:srgbClr val="E3E6EE"/>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42631" y="3493008"/>
            <a:ext cx="1088136" cy="237744"/>
          </a:xfrm>
          <a:prstGeom prst="rect">
            <a:avLst/>
          </a:prstGeom>
          <a:noFill/>
        </p:spPr>
        <p:txBody>
          <a:bodyPr wrap="square" lIns="0" rIns="0" tIns="0" bIns="0" anchor="t">
            <a:spAutoFit/>
          </a:bodyPr>
          <a:lstStyle/>
          <a:p>
            <a:pPr algn="ctr"/>
            <a:r>
              <a:rPr sz="1100" b="1" i="0">
                <a:solidFill>
                  <a:srgbClr val="24283B"/>
                </a:solidFill>
                <a:latin typeface="Calibri"/>
              </a:rPr>
              <a:t>Workspace APIs</a:t>
            </a:r>
          </a:p>
        </p:txBody>
      </p:sp>
      <p:sp>
        <p:nvSpPr>
          <p:cNvPr id="37" name="TextBox 36"/>
          <p:cNvSpPr txBox="1"/>
          <p:nvPr/>
        </p:nvSpPr>
        <p:spPr>
          <a:xfrm>
            <a:off x="7342631" y="3730752"/>
            <a:ext cx="1088136" cy="384048"/>
          </a:xfrm>
          <a:prstGeom prst="rect">
            <a:avLst/>
          </a:prstGeom>
          <a:noFill/>
        </p:spPr>
        <p:txBody>
          <a:bodyPr wrap="square" lIns="0" rIns="0" tIns="0" bIns="0" anchor="t">
            <a:spAutoFit/>
          </a:bodyPr>
          <a:lstStyle/>
          <a:p>
            <a:pPr algn="ctr"/>
            <a:r>
              <a:rPr sz="900" b="0" i="0">
                <a:solidFill>
                  <a:srgbClr val="626A7B"/>
                </a:solidFill>
                <a:latin typeface="Calibri"/>
              </a:rPr>
              <a:t>Drive, Docs, Meet transcripts</a:t>
            </a:r>
          </a:p>
        </p:txBody>
      </p:sp>
      <p:cxnSp>
        <p:nvCxnSpPr>
          <p:cNvPr id="38" name="Connector 37"/>
          <p:cNvCxnSpPr/>
          <p:nvPr/>
        </p:nvCxnSpPr>
        <p:spPr>
          <a:xfrm>
            <a:off x="1645920" y="2743200"/>
            <a:ext cx="411480" cy="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3520440" y="2743200"/>
            <a:ext cx="320040" cy="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a:off x="5303520" y="2743200"/>
            <a:ext cx="320040" cy="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7086600" y="2743200"/>
            <a:ext cx="182880" cy="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V="1">
            <a:off x="2788920" y="2148840"/>
            <a:ext cx="0" cy="18288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4572000" y="3154680"/>
            <a:ext cx="0" cy="27432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a:off x="5303520" y="3017520"/>
            <a:ext cx="457200" cy="41148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V="1">
            <a:off x="7882127" y="2148840"/>
            <a:ext cx="0" cy="18288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7882127" y="3154680"/>
            <a:ext cx="0" cy="274320"/>
          </a:xfrm>
          <a:prstGeom prst="line">
            <a:avLst/>
          </a:prstGeom>
          <a:ln w="19050">
            <a:solidFill>
              <a:srgbClr val="6258D8"/>
            </a:solidFill>
            <a:tailEnd type="triangle" w="med" len="med"/>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457200" y="3429000"/>
            <a:ext cx="1325880" cy="1097280"/>
          </a:xfrm>
          <a:prstGeom prst="rect">
            <a:avLst/>
          </a:prstGeom>
          <a:noFill/>
        </p:spPr>
        <p:txBody>
          <a:bodyPr wrap="square" lIns="0" rIns="0" tIns="0" bIns="0" anchor="t">
            <a:spAutoFit/>
          </a:bodyPr>
          <a:lstStyle/>
          <a:p>
            <a:pPr algn="l"/>
            <a:r>
              <a:rPr sz="1000" b="0" i="1">
                <a:solidFill>
                  <a:srgbClr val="626A7B"/>
                </a:solidFill>
                <a:latin typeface="Calibri"/>
              </a:rPr>
              <a:t>Browser never holds database, storage or AI credentials.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FEASIBILITY</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Built, deployed and rehearsed, not just designed</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10 / 14</a:t>
            </a:r>
          </a:p>
        </p:txBody>
      </p:sp>
      <p:sp>
        <p:nvSpPr>
          <p:cNvPr id="6" name="Rounded Rectangle 5"/>
          <p:cNvSpPr/>
          <p:nvPr/>
        </p:nvSpPr>
        <p:spPr>
          <a:xfrm>
            <a:off x="457200" y="1280160"/>
            <a:ext cx="1920240" cy="169164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640080" y="1389888"/>
            <a:ext cx="1645920" cy="594360"/>
          </a:xfrm>
          <a:prstGeom prst="rect">
            <a:avLst/>
          </a:prstGeom>
          <a:noFill/>
        </p:spPr>
        <p:txBody>
          <a:bodyPr wrap="square" lIns="0" rIns="0" tIns="0" bIns="0" anchor="t">
            <a:spAutoFit/>
          </a:bodyPr>
          <a:lstStyle/>
          <a:p>
            <a:pPr algn="l"/>
            <a:r>
              <a:rPr sz="3400" b="1" i="0">
                <a:solidFill>
                  <a:srgbClr val="6258D8"/>
                </a:solidFill>
                <a:latin typeface="Calibri"/>
              </a:rPr>
              <a:t>30/30</a:t>
            </a:r>
          </a:p>
        </p:txBody>
      </p:sp>
      <p:sp>
        <p:nvSpPr>
          <p:cNvPr id="8" name="TextBox 7"/>
          <p:cNvSpPr txBox="1"/>
          <p:nvPr/>
        </p:nvSpPr>
        <p:spPr>
          <a:xfrm>
            <a:off x="640080" y="2011680"/>
            <a:ext cx="1600200" cy="914400"/>
          </a:xfrm>
          <a:prstGeom prst="rect">
            <a:avLst/>
          </a:prstGeom>
          <a:noFill/>
        </p:spPr>
        <p:txBody>
          <a:bodyPr wrap="square" lIns="0" rIns="0" tIns="0" bIns="0" anchor="t">
            <a:spAutoFit/>
          </a:bodyPr>
          <a:lstStyle/>
          <a:p>
            <a:pPr algn="l"/>
            <a:r>
              <a:rPr sz="1100" b="0" i="0">
                <a:solidFill>
                  <a:srgbClr val="202331"/>
                </a:solidFill>
                <a:latin typeface="Calibri"/>
              </a:rPr>
              <a:t>synthetic comparison cases classified correctly: 5 expected alerts, 0 unexpected</a:t>
            </a:r>
          </a:p>
        </p:txBody>
      </p:sp>
      <p:sp>
        <p:nvSpPr>
          <p:cNvPr id="9" name="Rounded Rectangle 8"/>
          <p:cNvSpPr/>
          <p:nvPr/>
        </p:nvSpPr>
        <p:spPr>
          <a:xfrm>
            <a:off x="2532888" y="1280160"/>
            <a:ext cx="1920240" cy="169164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715768" y="1389888"/>
            <a:ext cx="1645920" cy="594360"/>
          </a:xfrm>
          <a:prstGeom prst="rect">
            <a:avLst/>
          </a:prstGeom>
          <a:noFill/>
        </p:spPr>
        <p:txBody>
          <a:bodyPr wrap="square" lIns="0" rIns="0" tIns="0" bIns="0" anchor="t">
            <a:spAutoFit/>
          </a:bodyPr>
          <a:lstStyle/>
          <a:p>
            <a:pPr algn="l"/>
            <a:r>
              <a:rPr sz="3400" b="1" i="0">
                <a:solidFill>
                  <a:srgbClr val="6258D8"/>
                </a:solidFill>
                <a:latin typeface="Calibri"/>
              </a:rPr>
              <a:t>~25 s</a:t>
            </a:r>
          </a:p>
        </p:txBody>
      </p:sp>
      <p:sp>
        <p:nvSpPr>
          <p:cNvPr id="11" name="TextBox 10"/>
          <p:cNvSpPr txBox="1"/>
          <p:nvPr/>
        </p:nvSpPr>
        <p:spPr>
          <a:xfrm>
            <a:off x="2715768" y="2011680"/>
            <a:ext cx="1600200" cy="914400"/>
          </a:xfrm>
          <a:prstGeom prst="rect">
            <a:avLst/>
          </a:prstGeom>
          <a:noFill/>
        </p:spPr>
        <p:txBody>
          <a:bodyPr wrap="square" lIns="0" rIns="0" tIns="0" bIns="0" anchor="t">
            <a:spAutoFit/>
          </a:bodyPr>
          <a:lstStyle/>
          <a:p>
            <a:pPr algn="l"/>
            <a:r>
              <a:rPr sz="1100" b="0" i="0">
                <a:solidFill>
                  <a:srgbClr val="202331"/>
                </a:solidFill>
                <a:latin typeface="Calibri"/>
              </a:rPr>
              <a:t>click-to-result assessment through Cloud Tasks and the private worker (one timed run)</a:t>
            </a:r>
          </a:p>
        </p:txBody>
      </p:sp>
      <p:sp>
        <p:nvSpPr>
          <p:cNvPr id="12" name="Rounded Rectangle 11"/>
          <p:cNvSpPr/>
          <p:nvPr/>
        </p:nvSpPr>
        <p:spPr>
          <a:xfrm>
            <a:off x="4608576" y="1280160"/>
            <a:ext cx="1920240" cy="169164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4791456" y="1389888"/>
            <a:ext cx="1645920" cy="594360"/>
          </a:xfrm>
          <a:prstGeom prst="rect">
            <a:avLst/>
          </a:prstGeom>
          <a:noFill/>
        </p:spPr>
        <p:txBody>
          <a:bodyPr wrap="square" lIns="0" rIns="0" tIns="0" bIns="0" anchor="t">
            <a:spAutoFit/>
          </a:bodyPr>
          <a:lstStyle/>
          <a:p>
            <a:pPr algn="l"/>
            <a:r>
              <a:rPr sz="3400" b="1" i="0">
                <a:solidFill>
                  <a:srgbClr val="6258D8"/>
                </a:solidFill>
                <a:latin typeface="Calibri"/>
              </a:rPr>
              <a:t>2</a:t>
            </a:r>
          </a:p>
        </p:txBody>
      </p:sp>
      <p:sp>
        <p:nvSpPr>
          <p:cNvPr id="14" name="TextBox 13"/>
          <p:cNvSpPr txBox="1"/>
          <p:nvPr/>
        </p:nvSpPr>
        <p:spPr>
          <a:xfrm>
            <a:off x="4791456" y="2011680"/>
            <a:ext cx="1600200" cy="914400"/>
          </a:xfrm>
          <a:prstGeom prst="rect">
            <a:avLst/>
          </a:prstGeom>
          <a:noFill/>
        </p:spPr>
        <p:txBody>
          <a:bodyPr wrap="square" lIns="0" rIns="0" tIns="0" bIns="0" anchor="t">
            <a:spAutoFit/>
          </a:bodyPr>
          <a:lstStyle/>
          <a:p>
            <a:pPr algn="l"/>
            <a:r>
              <a:rPr sz="1100" b="0" i="0">
                <a:solidFill>
                  <a:srgbClr val="202331"/>
                </a:solidFill>
                <a:latin typeface="Calibri"/>
              </a:rPr>
              <a:t>full end-to-end rehearsals on the deployed app: Drive, Gemini, alert, graph, review</a:t>
            </a:r>
          </a:p>
        </p:txBody>
      </p:sp>
      <p:sp>
        <p:nvSpPr>
          <p:cNvPr id="15" name="Rounded Rectangle 14"/>
          <p:cNvSpPr/>
          <p:nvPr/>
        </p:nvSpPr>
        <p:spPr>
          <a:xfrm>
            <a:off x="6684264" y="1280160"/>
            <a:ext cx="1920240" cy="169164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6867144" y="1389888"/>
            <a:ext cx="1645920" cy="594360"/>
          </a:xfrm>
          <a:prstGeom prst="rect">
            <a:avLst/>
          </a:prstGeom>
          <a:noFill/>
        </p:spPr>
        <p:txBody>
          <a:bodyPr wrap="square" lIns="0" rIns="0" tIns="0" bIns="0" anchor="t">
            <a:spAutoFit/>
          </a:bodyPr>
          <a:lstStyle/>
          <a:p>
            <a:pPr algn="l"/>
            <a:r>
              <a:rPr sz="3400" b="1" i="0">
                <a:solidFill>
                  <a:srgbClr val="6258D8"/>
                </a:solidFill>
                <a:latin typeface="Calibri"/>
              </a:rPr>
              <a:t>11</a:t>
            </a:r>
          </a:p>
        </p:txBody>
      </p:sp>
      <p:sp>
        <p:nvSpPr>
          <p:cNvPr id="17" name="TextBox 16"/>
          <p:cNvSpPr txBox="1"/>
          <p:nvPr/>
        </p:nvSpPr>
        <p:spPr>
          <a:xfrm>
            <a:off x="6867144" y="2011680"/>
            <a:ext cx="1600200" cy="914400"/>
          </a:xfrm>
          <a:prstGeom prst="rect">
            <a:avLst/>
          </a:prstGeom>
          <a:noFill/>
        </p:spPr>
        <p:txBody>
          <a:bodyPr wrap="square" lIns="0" rIns="0" tIns="0" bIns="0" anchor="t">
            <a:spAutoFit/>
          </a:bodyPr>
          <a:lstStyle/>
          <a:p>
            <a:pPr algn="l"/>
            <a:r>
              <a:rPr sz="1100" b="0" i="0">
                <a:solidFill>
                  <a:srgbClr val="202331"/>
                </a:solidFill>
                <a:latin typeface="Calibri"/>
              </a:rPr>
              <a:t>live Drive sources re-crawled with no duplicate versions or jobs</a:t>
            </a:r>
          </a:p>
        </p:txBody>
      </p:sp>
      <p:sp>
        <p:nvSpPr>
          <p:cNvPr id="18" name="Rounded Rectangle 17"/>
          <p:cNvSpPr/>
          <p:nvPr/>
        </p:nvSpPr>
        <p:spPr>
          <a:xfrm>
            <a:off x="457200" y="3154680"/>
            <a:ext cx="8183879" cy="132588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685800" y="3246120"/>
            <a:ext cx="3657600" cy="274320"/>
          </a:xfrm>
          <a:prstGeom prst="rect">
            <a:avLst/>
          </a:prstGeom>
          <a:noFill/>
        </p:spPr>
        <p:txBody>
          <a:bodyPr wrap="square" lIns="0" rIns="0" tIns="0" bIns="0" anchor="t">
            <a:spAutoFit/>
          </a:bodyPr>
          <a:lstStyle/>
          <a:p>
            <a:pPr algn="l"/>
            <a:r>
              <a:rPr sz="1400" b="1" i="0">
                <a:solidFill>
                  <a:srgbClr val="24283B"/>
                </a:solidFill>
                <a:latin typeface="Calibri"/>
              </a:rPr>
              <a:t>Hardened for the real world</a:t>
            </a:r>
          </a:p>
        </p:txBody>
      </p:sp>
      <p:sp>
        <p:nvSpPr>
          <p:cNvPr id="20" name="TextBox 19"/>
          <p:cNvSpPr txBox="1"/>
          <p:nvPr/>
        </p:nvSpPr>
        <p:spPr>
          <a:xfrm>
            <a:off x="685800" y="3584448"/>
            <a:ext cx="3840480" cy="914400"/>
          </a:xfrm>
          <a:prstGeom prst="rect">
            <a:avLst/>
          </a:prstGeom>
          <a:noFill/>
        </p:spPr>
        <p:txBody>
          <a:bodyPr wrap="square" lIns="0" rIns="0" tIns="0" bIns="0">
            <a:spAutoFit/>
          </a:bodyPr>
          <a:lstStyle/>
          <a:p>
            <a:pPr marL="182880" indent="-182880">
              <a:spcAft>
                <a:spcPts val="600"/>
              </a:spcAft>
              <a:buClr>
                <a:srgbClr val="6258D8"/>
              </a:buClr>
              <a:buFont typeface="Arial"/>
              <a:buChar char="•"/>
            </a:pPr>
            <a:r>
              <a:rPr sz="1200" b="0">
                <a:solidFill>
                  <a:srgbClr val="202331"/>
                </a:solidFill>
                <a:latin typeface="Calibri"/>
              </a:rPr>
              <a:t>Worker retry, manual redispatch and recovery after a corrected file</a:t>
            </a:r>
          </a:p>
          <a:p>
            <a:pPr marL="182880" indent="-182880">
              <a:spcAft>
                <a:spcPts val="600"/>
              </a:spcAft>
              <a:buClr>
                <a:srgbClr val="6258D8"/>
              </a:buClr>
              <a:buFont typeface="Arial"/>
              <a:buChar char="•"/>
            </a:pPr>
            <a:r>
              <a:rPr sz="1200" b="0">
                <a:solidFill>
                  <a:srgbClr val="202331"/>
                </a:solidFill>
                <a:latin typeface="Calibri"/>
              </a:rPr>
              <a:t>Unavailable-folder errors shown and recovered in the UI</a:t>
            </a:r>
          </a:p>
        </p:txBody>
      </p:sp>
      <p:sp>
        <p:nvSpPr>
          <p:cNvPr id="21" name="TextBox 20"/>
          <p:cNvSpPr txBox="1"/>
          <p:nvPr/>
        </p:nvSpPr>
        <p:spPr>
          <a:xfrm>
            <a:off x="4617720" y="3584448"/>
            <a:ext cx="3840480" cy="914400"/>
          </a:xfrm>
          <a:prstGeom prst="rect">
            <a:avLst/>
          </a:prstGeom>
          <a:noFill/>
        </p:spPr>
        <p:txBody>
          <a:bodyPr wrap="square" lIns="0" rIns="0" tIns="0" bIns="0">
            <a:spAutoFit/>
          </a:bodyPr>
          <a:lstStyle/>
          <a:p>
            <a:pPr marL="182880" indent="-182880">
              <a:spcAft>
                <a:spcPts val="600"/>
              </a:spcAft>
              <a:buClr>
                <a:srgbClr val="6258D8"/>
              </a:buClr>
              <a:buFont typeface="Arial"/>
              <a:buChar char="•"/>
            </a:pPr>
            <a:r>
              <a:rPr sz="1200" b="0">
                <a:solidFill>
                  <a:srgbClr val="202331"/>
                </a:solidFill>
                <a:latin typeface="Calibri"/>
              </a:rPr>
              <a:t>OAuth refresh tokens in Secret Manager, rotated per version</a:t>
            </a:r>
          </a:p>
          <a:p>
            <a:pPr marL="182880" indent="-182880">
              <a:spcAft>
                <a:spcPts val="600"/>
              </a:spcAft>
              <a:buClr>
                <a:srgbClr val="6258D8"/>
              </a:buClr>
              <a:buFont typeface="Arial"/>
              <a:buChar char="•"/>
            </a:pPr>
            <a:r>
              <a:rPr sz="1200" b="0">
                <a:solidFill>
                  <a:srgbClr val="202331"/>
                </a:solidFill>
                <a:latin typeface="Calibri"/>
              </a:rPr>
              <a:t>Access logs off for callback URLs carrying one-time codes</a:t>
            </a:r>
          </a:p>
        </p:txBody>
      </p:sp>
      <p:sp>
        <p:nvSpPr>
          <p:cNvPr id="22" name="TextBox 21"/>
          <p:cNvSpPr txBox="1"/>
          <p:nvPr/>
        </p:nvSpPr>
        <p:spPr>
          <a:xfrm>
            <a:off x="457200" y="4544568"/>
            <a:ext cx="8183879" cy="228600"/>
          </a:xfrm>
          <a:prstGeom prst="rect">
            <a:avLst/>
          </a:prstGeom>
          <a:noFill/>
        </p:spPr>
        <p:txBody>
          <a:bodyPr wrap="square" lIns="0" rIns="0" tIns="0" bIns="0" anchor="t">
            <a:spAutoFit/>
          </a:bodyPr>
          <a:lstStyle/>
          <a:p>
            <a:pPr algn="l"/>
            <a:r>
              <a:rPr sz="900" b="0" i="1">
                <a:solidFill>
                  <a:srgbClr val="626A7B"/>
                </a:solidFill>
                <a:latin typeface="Calibri"/>
              </a:rPr>
              <a:t>All figures from synthetic test data (Oct 2026). They show the pipeline works end to end; they are not production accuracy estimates.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INNOVATION</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From storing decisions to monitoring them</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11 / 14</a:t>
            </a:r>
          </a:p>
        </p:txBody>
      </p:sp>
      <p:sp>
        <p:nvSpPr>
          <p:cNvPr id="6" name="Rounded Rectangle 5"/>
          <p:cNvSpPr/>
          <p:nvPr/>
        </p:nvSpPr>
        <p:spPr>
          <a:xfrm>
            <a:off x="457200" y="1234440"/>
            <a:ext cx="8183879" cy="283464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7315200" y="1280160"/>
            <a:ext cx="1325880" cy="2743200"/>
          </a:xfrm>
          <a:prstGeom prst="roundRect">
            <a:avLst>
              <a:gd name="adj" fmla="val 6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566928" y="1307592"/>
            <a:ext cx="2660904" cy="457200"/>
          </a:xfrm>
          <a:prstGeom prst="rect">
            <a:avLst/>
          </a:prstGeom>
          <a:noFill/>
        </p:spPr>
        <p:txBody>
          <a:bodyPr wrap="square" lIns="0" rIns="0" tIns="0" bIns="0" anchor="ctr">
            <a:spAutoFit/>
          </a:bodyPr>
          <a:lstStyle/>
          <a:p>
            <a:pPr algn="l"/>
            <a:r>
              <a:rPr sz="1100" b="1" i="0">
                <a:solidFill>
                  <a:srgbClr val="24283B"/>
                </a:solidFill>
                <a:latin typeface="Calibri"/>
              </a:rPr>
              <a:t/>
            </a:r>
          </a:p>
        </p:txBody>
      </p:sp>
      <p:sp>
        <p:nvSpPr>
          <p:cNvPr id="9" name="TextBox 8"/>
          <p:cNvSpPr txBox="1"/>
          <p:nvPr/>
        </p:nvSpPr>
        <p:spPr>
          <a:xfrm>
            <a:off x="3447288" y="1307592"/>
            <a:ext cx="1106424" cy="457200"/>
          </a:xfrm>
          <a:prstGeom prst="rect">
            <a:avLst/>
          </a:prstGeom>
          <a:noFill/>
        </p:spPr>
        <p:txBody>
          <a:bodyPr wrap="square" lIns="0" rIns="0" tIns="0" bIns="0" anchor="ctr">
            <a:spAutoFit/>
          </a:bodyPr>
          <a:lstStyle/>
          <a:p>
            <a:pPr algn="ctr"/>
            <a:r>
              <a:rPr sz="1100" b="1" i="0">
                <a:solidFill>
                  <a:srgbClr val="24283B"/>
                </a:solidFill>
                <a:latin typeface="Calibri"/>
              </a:rPr>
              <a:t>Wikis &amp; decision logs</a:t>
            </a:r>
          </a:p>
        </p:txBody>
      </p:sp>
      <p:sp>
        <p:nvSpPr>
          <p:cNvPr id="10" name="TextBox 9"/>
          <p:cNvSpPr txBox="1"/>
          <p:nvPr/>
        </p:nvSpPr>
        <p:spPr>
          <a:xfrm>
            <a:off x="4773168" y="1307592"/>
            <a:ext cx="1106424" cy="457200"/>
          </a:xfrm>
          <a:prstGeom prst="rect">
            <a:avLst/>
          </a:prstGeom>
          <a:noFill/>
        </p:spPr>
        <p:txBody>
          <a:bodyPr wrap="square" lIns="0" rIns="0" tIns="0" bIns="0" anchor="ctr">
            <a:spAutoFit/>
          </a:bodyPr>
          <a:lstStyle/>
          <a:p>
            <a:pPr algn="ctr"/>
            <a:r>
              <a:rPr sz="1100" b="1" i="0">
                <a:solidFill>
                  <a:srgbClr val="24283B"/>
                </a:solidFill>
                <a:latin typeface="Calibri"/>
              </a:rPr>
              <a:t>AI meeting notes</a:t>
            </a:r>
          </a:p>
        </p:txBody>
      </p:sp>
      <p:sp>
        <p:nvSpPr>
          <p:cNvPr id="11" name="TextBox 10"/>
          <p:cNvSpPr txBox="1"/>
          <p:nvPr/>
        </p:nvSpPr>
        <p:spPr>
          <a:xfrm>
            <a:off x="6099048" y="1307592"/>
            <a:ext cx="1106424" cy="457200"/>
          </a:xfrm>
          <a:prstGeom prst="rect">
            <a:avLst/>
          </a:prstGeom>
          <a:noFill/>
        </p:spPr>
        <p:txBody>
          <a:bodyPr wrap="square" lIns="0" rIns="0" tIns="0" bIns="0" anchor="ctr">
            <a:spAutoFit/>
          </a:bodyPr>
          <a:lstStyle/>
          <a:p>
            <a:pPr algn="ctr"/>
            <a:r>
              <a:rPr sz="1100" b="1" i="0">
                <a:solidFill>
                  <a:srgbClr val="24283B"/>
                </a:solidFill>
                <a:latin typeface="Calibri"/>
              </a:rPr>
              <a:t>Enterprise search</a:t>
            </a:r>
          </a:p>
        </p:txBody>
      </p:sp>
      <p:sp>
        <p:nvSpPr>
          <p:cNvPr id="12" name="TextBox 11"/>
          <p:cNvSpPr txBox="1"/>
          <p:nvPr/>
        </p:nvSpPr>
        <p:spPr>
          <a:xfrm>
            <a:off x="7424927" y="1307592"/>
            <a:ext cx="1106424" cy="457200"/>
          </a:xfrm>
          <a:prstGeom prst="rect">
            <a:avLst/>
          </a:prstGeom>
          <a:noFill/>
        </p:spPr>
        <p:txBody>
          <a:bodyPr wrap="square" lIns="0" rIns="0" tIns="0" bIns="0" anchor="ctr">
            <a:spAutoFit/>
          </a:bodyPr>
          <a:lstStyle/>
          <a:p>
            <a:pPr algn="ctr"/>
            <a:r>
              <a:rPr sz="1100" b="1" i="0">
                <a:solidFill>
                  <a:srgbClr val="5146C5"/>
                </a:solidFill>
                <a:latin typeface="Calibri"/>
              </a:rPr>
              <a:t>Decision Radar</a:t>
            </a:r>
          </a:p>
        </p:txBody>
      </p:sp>
      <p:cxnSp>
        <p:nvCxnSpPr>
          <p:cNvPr id="13" name="Connector 12"/>
          <p:cNvCxnSpPr/>
          <p:nvPr/>
        </p:nvCxnSpPr>
        <p:spPr>
          <a:xfrm>
            <a:off x="594360" y="1737360"/>
            <a:ext cx="6720840" cy="0"/>
          </a:xfrm>
          <a:prstGeom prst="line">
            <a:avLst/>
          </a:prstGeom>
          <a:ln w="9525">
            <a:solidFill>
              <a:srgbClr val="E3E6EE"/>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0080" y="1737360"/>
            <a:ext cx="2606040" cy="457200"/>
          </a:xfrm>
          <a:prstGeom prst="rect">
            <a:avLst/>
          </a:prstGeom>
          <a:noFill/>
        </p:spPr>
        <p:txBody>
          <a:bodyPr wrap="square" lIns="0" rIns="0" tIns="0" bIns="0" anchor="ctr">
            <a:spAutoFit/>
          </a:bodyPr>
          <a:lstStyle/>
          <a:p>
            <a:pPr algn="l"/>
            <a:r>
              <a:rPr sz="1200" b="0" i="0">
                <a:solidFill>
                  <a:srgbClr val="202331"/>
                </a:solidFill>
                <a:latin typeface="Calibri"/>
              </a:rPr>
              <a:t>Captures decision, owner and rationale</a:t>
            </a:r>
          </a:p>
        </p:txBody>
      </p:sp>
      <p:sp>
        <p:nvSpPr>
          <p:cNvPr id="15" name="TextBox 14"/>
          <p:cNvSpPr txBox="1"/>
          <p:nvPr/>
        </p:nvSpPr>
        <p:spPr>
          <a:xfrm>
            <a:off x="3337560" y="1737360"/>
            <a:ext cx="1325880" cy="457200"/>
          </a:xfrm>
          <a:prstGeom prst="rect">
            <a:avLst/>
          </a:prstGeom>
          <a:noFill/>
        </p:spPr>
        <p:txBody>
          <a:bodyPr wrap="square" lIns="0" rIns="0" tIns="0" bIns="0" anchor="ctr">
            <a:spAutoFit/>
          </a:bodyPr>
          <a:lstStyle/>
          <a:p>
            <a:pPr algn="ctr"/>
            <a:r>
              <a:rPr sz="1600" b="0" i="0">
                <a:solidFill>
                  <a:srgbClr val="24283B"/>
                </a:solidFill>
                <a:latin typeface="Calibri"/>
              </a:rPr>
              <a:t>●</a:t>
            </a:r>
          </a:p>
        </p:txBody>
      </p:sp>
      <p:sp>
        <p:nvSpPr>
          <p:cNvPr id="16" name="TextBox 15"/>
          <p:cNvSpPr txBox="1"/>
          <p:nvPr/>
        </p:nvSpPr>
        <p:spPr>
          <a:xfrm>
            <a:off x="4663440" y="17373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17" name="TextBox 16"/>
          <p:cNvSpPr txBox="1"/>
          <p:nvPr/>
        </p:nvSpPr>
        <p:spPr>
          <a:xfrm>
            <a:off x="5989320" y="17373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18" name="TextBox 17"/>
          <p:cNvSpPr txBox="1"/>
          <p:nvPr/>
        </p:nvSpPr>
        <p:spPr>
          <a:xfrm>
            <a:off x="7315200" y="1737360"/>
            <a:ext cx="1325880" cy="457200"/>
          </a:xfrm>
          <a:prstGeom prst="rect">
            <a:avLst/>
          </a:prstGeom>
          <a:noFill/>
        </p:spPr>
        <p:txBody>
          <a:bodyPr wrap="square" lIns="0" rIns="0" tIns="0" bIns="0" anchor="ctr">
            <a:spAutoFit/>
          </a:bodyPr>
          <a:lstStyle/>
          <a:p>
            <a:pPr algn="ctr"/>
            <a:r>
              <a:rPr sz="1600" b="0" i="0">
                <a:solidFill>
                  <a:srgbClr val="5146C5"/>
                </a:solidFill>
                <a:latin typeface="Calibri"/>
              </a:rPr>
              <a:t>●</a:t>
            </a:r>
          </a:p>
        </p:txBody>
      </p:sp>
      <p:cxnSp>
        <p:nvCxnSpPr>
          <p:cNvPr id="19" name="Connector 18"/>
          <p:cNvCxnSpPr/>
          <p:nvPr/>
        </p:nvCxnSpPr>
        <p:spPr>
          <a:xfrm>
            <a:off x="594360" y="2194560"/>
            <a:ext cx="6720840" cy="0"/>
          </a:xfrm>
          <a:prstGeom prst="line">
            <a:avLst/>
          </a:prstGeom>
          <a:ln w="9525">
            <a:solidFill>
              <a:srgbClr val="E3E6EE"/>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0080" y="2194560"/>
            <a:ext cx="2606040" cy="457200"/>
          </a:xfrm>
          <a:prstGeom prst="rect">
            <a:avLst/>
          </a:prstGeom>
          <a:noFill/>
        </p:spPr>
        <p:txBody>
          <a:bodyPr wrap="square" lIns="0" rIns="0" tIns="0" bIns="0" anchor="ctr">
            <a:spAutoFit/>
          </a:bodyPr>
          <a:lstStyle/>
          <a:p>
            <a:pPr algn="l"/>
            <a:r>
              <a:rPr sz="1200" b="0" i="0">
                <a:solidFill>
                  <a:srgbClr val="202331"/>
                </a:solidFill>
                <a:latin typeface="Calibri"/>
              </a:rPr>
              <a:t>Re-checks decisions when new evidence lands</a:t>
            </a:r>
          </a:p>
        </p:txBody>
      </p:sp>
      <p:sp>
        <p:nvSpPr>
          <p:cNvPr id="21" name="TextBox 20"/>
          <p:cNvSpPr txBox="1"/>
          <p:nvPr/>
        </p:nvSpPr>
        <p:spPr>
          <a:xfrm>
            <a:off x="3337560" y="21945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22" name="TextBox 21"/>
          <p:cNvSpPr txBox="1"/>
          <p:nvPr/>
        </p:nvSpPr>
        <p:spPr>
          <a:xfrm>
            <a:off x="4663440" y="21945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23" name="TextBox 22"/>
          <p:cNvSpPr txBox="1"/>
          <p:nvPr/>
        </p:nvSpPr>
        <p:spPr>
          <a:xfrm>
            <a:off x="5989320" y="21945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24" name="TextBox 23"/>
          <p:cNvSpPr txBox="1"/>
          <p:nvPr/>
        </p:nvSpPr>
        <p:spPr>
          <a:xfrm>
            <a:off x="7315200" y="2194560"/>
            <a:ext cx="1325880" cy="457200"/>
          </a:xfrm>
          <a:prstGeom prst="rect">
            <a:avLst/>
          </a:prstGeom>
          <a:noFill/>
        </p:spPr>
        <p:txBody>
          <a:bodyPr wrap="square" lIns="0" rIns="0" tIns="0" bIns="0" anchor="ctr">
            <a:spAutoFit/>
          </a:bodyPr>
          <a:lstStyle/>
          <a:p>
            <a:pPr algn="ctr"/>
            <a:r>
              <a:rPr sz="1600" b="0" i="0">
                <a:solidFill>
                  <a:srgbClr val="5146C5"/>
                </a:solidFill>
                <a:latin typeface="Calibri"/>
              </a:rPr>
              <a:t>●</a:t>
            </a:r>
          </a:p>
        </p:txBody>
      </p:sp>
      <p:cxnSp>
        <p:nvCxnSpPr>
          <p:cNvPr id="25" name="Connector 24"/>
          <p:cNvCxnSpPr/>
          <p:nvPr/>
        </p:nvCxnSpPr>
        <p:spPr>
          <a:xfrm>
            <a:off x="594360" y="2651760"/>
            <a:ext cx="6720840" cy="0"/>
          </a:xfrm>
          <a:prstGeom prst="line">
            <a:avLst/>
          </a:prstGeom>
          <a:ln w="9525">
            <a:solidFill>
              <a:srgbClr val="E3E6EE"/>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0080" y="2651760"/>
            <a:ext cx="2606040" cy="457200"/>
          </a:xfrm>
          <a:prstGeom prst="rect">
            <a:avLst/>
          </a:prstGeom>
          <a:noFill/>
        </p:spPr>
        <p:txBody>
          <a:bodyPr wrap="square" lIns="0" rIns="0" tIns="0" bIns="0" anchor="ctr">
            <a:spAutoFit/>
          </a:bodyPr>
          <a:lstStyle/>
          <a:p>
            <a:pPr algn="l"/>
            <a:r>
              <a:rPr sz="1200" b="0" i="0">
                <a:solidFill>
                  <a:srgbClr val="202331"/>
                </a:solidFill>
                <a:latin typeface="Calibri"/>
              </a:rPr>
              <a:t>Quote-level citations resolved to source spans</a:t>
            </a:r>
          </a:p>
        </p:txBody>
      </p:sp>
      <p:sp>
        <p:nvSpPr>
          <p:cNvPr id="27" name="TextBox 26"/>
          <p:cNvSpPr txBox="1"/>
          <p:nvPr/>
        </p:nvSpPr>
        <p:spPr>
          <a:xfrm>
            <a:off x="3337560" y="26517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28" name="TextBox 27"/>
          <p:cNvSpPr txBox="1"/>
          <p:nvPr/>
        </p:nvSpPr>
        <p:spPr>
          <a:xfrm>
            <a:off x="4663440" y="26517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29" name="TextBox 28"/>
          <p:cNvSpPr txBox="1"/>
          <p:nvPr/>
        </p:nvSpPr>
        <p:spPr>
          <a:xfrm>
            <a:off x="5989320" y="26517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30" name="TextBox 29"/>
          <p:cNvSpPr txBox="1"/>
          <p:nvPr/>
        </p:nvSpPr>
        <p:spPr>
          <a:xfrm>
            <a:off x="7315200" y="2651760"/>
            <a:ext cx="1325880" cy="457200"/>
          </a:xfrm>
          <a:prstGeom prst="rect">
            <a:avLst/>
          </a:prstGeom>
          <a:noFill/>
        </p:spPr>
        <p:txBody>
          <a:bodyPr wrap="square" lIns="0" rIns="0" tIns="0" bIns="0" anchor="ctr">
            <a:spAutoFit/>
          </a:bodyPr>
          <a:lstStyle/>
          <a:p>
            <a:pPr algn="ctr"/>
            <a:r>
              <a:rPr sz="1600" b="0" i="0">
                <a:solidFill>
                  <a:srgbClr val="5146C5"/>
                </a:solidFill>
                <a:latin typeface="Calibri"/>
              </a:rPr>
              <a:t>●</a:t>
            </a:r>
          </a:p>
        </p:txBody>
      </p:sp>
      <p:cxnSp>
        <p:nvCxnSpPr>
          <p:cNvPr id="31" name="Connector 30"/>
          <p:cNvCxnSpPr/>
          <p:nvPr/>
        </p:nvCxnSpPr>
        <p:spPr>
          <a:xfrm>
            <a:off x="594360" y="3108960"/>
            <a:ext cx="6720840" cy="0"/>
          </a:xfrm>
          <a:prstGeom prst="line">
            <a:avLst/>
          </a:prstGeom>
          <a:ln w="9525">
            <a:solidFill>
              <a:srgbClr val="E3E6EE"/>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640080" y="3108960"/>
            <a:ext cx="2606040" cy="457200"/>
          </a:xfrm>
          <a:prstGeom prst="rect">
            <a:avLst/>
          </a:prstGeom>
          <a:noFill/>
        </p:spPr>
        <p:txBody>
          <a:bodyPr wrap="square" lIns="0" rIns="0" tIns="0" bIns="0" anchor="ctr">
            <a:spAutoFit/>
          </a:bodyPr>
          <a:lstStyle/>
          <a:p>
            <a:pPr algn="l"/>
            <a:r>
              <a:rPr sz="1200" b="0" i="0">
                <a:solidFill>
                  <a:srgbClr val="202331"/>
                </a:solidFill>
                <a:latin typeface="Calibri"/>
              </a:rPr>
              <a:t>Shows downstream decisions affected</a:t>
            </a:r>
          </a:p>
        </p:txBody>
      </p:sp>
      <p:sp>
        <p:nvSpPr>
          <p:cNvPr id="33" name="TextBox 32"/>
          <p:cNvSpPr txBox="1"/>
          <p:nvPr/>
        </p:nvSpPr>
        <p:spPr>
          <a:xfrm>
            <a:off x="3337560" y="31089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34" name="TextBox 33"/>
          <p:cNvSpPr txBox="1"/>
          <p:nvPr/>
        </p:nvSpPr>
        <p:spPr>
          <a:xfrm>
            <a:off x="4663440" y="31089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35" name="TextBox 34"/>
          <p:cNvSpPr txBox="1"/>
          <p:nvPr/>
        </p:nvSpPr>
        <p:spPr>
          <a:xfrm>
            <a:off x="5989320" y="31089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36" name="TextBox 35"/>
          <p:cNvSpPr txBox="1"/>
          <p:nvPr/>
        </p:nvSpPr>
        <p:spPr>
          <a:xfrm>
            <a:off x="7315200" y="3108960"/>
            <a:ext cx="1325880" cy="457200"/>
          </a:xfrm>
          <a:prstGeom prst="rect">
            <a:avLst/>
          </a:prstGeom>
          <a:noFill/>
        </p:spPr>
        <p:txBody>
          <a:bodyPr wrap="square" lIns="0" rIns="0" tIns="0" bIns="0" anchor="ctr">
            <a:spAutoFit/>
          </a:bodyPr>
          <a:lstStyle/>
          <a:p>
            <a:pPr algn="ctr"/>
            <a:r>
              <a:rPr sz="1600" b="0" i="0">
                <a:solidFill>
                  <a:srgbClr val="5146C5"/>
                </a:solidFill>
                <a:latin typeface="Calibri"/>
              </a:rPr>
              <a:t>●</a:t>
            </a:r>
          </a:p>
        </p:txBody>
      </p:sp>
      <p:cxnSp>
        <p:nvCxnSpPr>
          <p:cNvPr id="37" name="Connector 36"/>
          <p:cNvCxnSpPr/>
          <p:nvPr/>
        </p:nvCxnSpPr>
        <p:spPr>
          <a:xfrm>
            <a:off x="594360" y="3566160"/>
            <a:ext cx="6720840" cy="0"/>
          </a:xfrm>
          <a:prstGeom prst="line">
            <a:avLst/>
          </a:prstGeom>
          <a:ln w="9525">
            <a:solidFill>
              <a:srgbClr val="E3E6EE"/>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40080" y="3566160"/>
            <a:ext cx="2606040" cy="457200"/>
          </a:xfrm>
          <a:prstGeom prst="rect">
            <a:avLst/>
          </a:prstGeom>
          <a:noFill/>
        </p:spPr>
        <p:txBody>
          <a:bodyPr wrap="square" lIns="0" rIns="0" tIns="0" bIns="0" anchor="ctr">
            <a:spAutoFit/>
          </a:bodyPr>
          <a:lstStyle/>
          <a:p>
            <a:pPr algn="l"/>
            <a:r>
              <a:rPr sz="1200" b="0" i="0">
                <a:solidFill>
                  <a:srgbClr val="202331"/>
                </a:solidFill>
                <a:latin typeface="Calibri"/>
              </a:rPr>
              <a:t>Human review with an audit trail</a:t>
            </a:r>
          </a:p>
        </p:txBody>
      </p:sp>
      <p:sp>
        <p:nvSpPr>
          <p:cNvPr id="39" name="TextBox 38"/>
          <p:cNvSpPr txBox="1"/>
          <p:nvPr/>
        </p:nvSpPr>
        <p:spPr>
          <a:xfrm>
            <a:off x="3337560" y="35661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40" name="TextBox 39"/>
          <p:cNvSpPr txBox="1"/>
          <p:nvPr/>
        </p:nvSpPr>
        <p:spPr>
          <a:xfrm>
            <a:off x="4663440" y="35661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41" name="TextBox 40"/>
          <p:cNvSpPr txBox="1"/>
          <p:nvPr/>
        </p:nvSpPr>
        <p:spPr>
          <a:xfrm>
            <a:off x="5989320" y="3566160"/>
            <a:ext cx="1325880" cy="457200"/>
          </a:xfrm>
          <a:prstGeom prst="rect">
            <a:avLst/>
          </a:prstGeom>
          <a:noFill/>
        </p:spPr>
        <p:txBody>
          <a:bodyPr wrap="square" lIns="0" rIns="0" tIns="0" bIns="0" anchor="ctr">
            <a:spAutoFit/>
          </a:bodyPr>
          <a:lstStyle/>
          <a:p>
            <a:pPr algn="ctr"/>
            <a:r>
              <a:rPr sz="1600" b="0" i="0">
                <a:solidFill>
                  <a:srgbClr val="8D93A5"/>
                </a:solidFill>
                <a:latin typeface="Calibri"/>
              </a:rPr>
              <a:t>○</a:t>
            </a:r>
          </a:p>
        </p:txBody>
      </p:sp>
      <p:sp>
        <p:nvSpPr>
          <p:cNvPr id="42" name="TextBox 41"/>
          <p:cNvSpPr txBox="1"/>
          <p:nvPr/>
        </p:nvSpPr>
        <p:spPr>
          <a:xfrm>
            <a:off x="7315200" y="3566160"/>
            <a:ext cx="1325880" cy="457200"/>
          </a:xfrm>
          <a:prstGeom prst="rect">
            <a:avLst/>
          </a:prstGeom>
          <a:noFill/>
        </p:spPr>
        <p:txBody>
          <a:bodyPr wrap="square" lIns="0" rIns="0" tIns="0" bIns="0" anchor="ctr">
            <a:spAutoFit/>
          </a:bodyPr>
          <a:lstStyle/>
          <a:p>
            <a:pPr algn="ctr"/>
            <a:r>
              <a:rPr sz="1600" b="0" i="0">
                <a:solidFill>
                  <a:srgbClr val="5146C5"/>
                </a:solidFill>
                <a:latin typeface="Calibri"/>
              </a:rPr>
              <a:t>●</a:t>
            </a:r>
          </a:p>
        </p:txBody>
      </p:sp>
      <p:sp>
        <p:nvSpPr>
          <p:cNvPr id="43" name="TextBox 42"/>
          <p:cNvSpPr txBox="1"/>
          <p:nvPr/>
        </p:nvSpPr>
        <p:spPr>
          <a:xfrm>
            <a:off x="457200" y="4206240"/>
            <a:ext cx="8183879" cy="365760"/>
          </a:xfrm>
          <a:prstGeom prst="rect">
            <a:avLst/>
          </a:prstGeom>
          <a:noFill/>
        </p:spPr>
        <p:txBody>
          <a:bodyPr wrap="square" lIns="0" rIns="0" tIns="0" bIns="0" anchor="t">
            <a:spAutoFit/>
          </a:bodyPr>
          <a:lstStyle/>
          <a:p>
            <a:pPr algn="l"/>
            <a:r>
              <a:rPr sz="1000" b="0" i="0">
                <a:solidFill>
                  <a:srgbClr val="24283B"/>
                </a:solidFill>
                <a:latin typeface="Calibri"/>
              </a:rPr>
              <a:t>●</a:t>
            </a:r>
            <a:r>
              <a:rPr sz="1000" b="0" i="0">
                <a:solidFill>
                  <a:srgbClr val="626A7B"/>
                </a:solidFill>
                <a:latin typeface="Calibri"/>
              </a:rPr>
              <a:t> built in    </a:t>
            </a:r>
            <a:r>
              <a:rPr sz="1000" b="0" i="0">
                <a:solidFill>
                  <a:srgbClr val="8D93A5"/>
                </a:solidFill>
                <a:latin typeface="Calibri"/>
              </a:rPr>
              <a:t>◐</a:t>
            </a:r>
            <a:r>
              <a:rPr sz="1000" b="0" i="0">
                <a:solidFill>
                  <a:srgbClr val="626A7B"/>
                </a:solidFill>
                <a:latin typeface="Calibri"/>
              </a:rPr>
              <a:t> partial or manual    </a:t>
            </a:r>
            <a:r>
              <a:rPr sz="1000" b="0" i="0">
                <a:solidFill>
                  <a:srgbClr val="8D93A5"/>
                </a:solidFill>
                <a:latin typeface="Calibri"/>
              </a:rPr>
              <a:t>○</a:t>
            </a:r>
            <a:r>
              <a:rPr sz="1000" b="0" i="0">
                <a:solidFill>
                  <a:srgbClr val="626A7B"/>
                </a:solidFill>
                <a:latin typeface="Calibri"/>
              </a:rPr>
              <a:t> not addressed    </a:t>
            </a:r>
            <a:r>
              <a:rPr sz="1000" b="0" i="1">
                <a:solidFill>
                  <a:srgbClr val="626A7B"/>
                </a:solidFill>
                <a:latin typeface="Calibri"/>
              </a:rPr>
              <a:t>Team assessment of typical tools in each category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IMPACT</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Who benefits, and how</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12 / 14</a:t>
            </a:r>
          </a:p>
        </p:txBody>
      </p:sp>
      <p:sp>
        <p:nvSpPr>
          <p:cNvPr id="6" name="Rounded Rectangle 5"/>
          <p:cNvSpPr/>
          <p:nvPr/>
        </p:nvSpPr>
        <p:spPr>
          <a:xfrm>
            <a:off x="457200" y="1280160"/>
            <a:ext cx="2606040" cy="242316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58368" y="1463040"/>
            <a:ext cx="502920" cy="502920"/>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8368" y="1463040"/>
            <a:ext cx="502920" cy="502920"/>
          </a:xfrm>
          <a:prstGeom prst="rect">
            <a:avLst/>
          </a:prstGeom>
          <a:noFill/>
        </p:spPr>
        <p:txBody>
          <a:bodyPr wrap="square" lIns="0" rIns="0" tIns="0" bIns="0" anchor="ctr">
            <a:spAutoFit/>
          </a:bodyPr>
          <a:lstStyle/>
          <a:p>
            <a:pPr algn="ctr"/>
            <a:r>
              <a:rPr sz="1400" b="1" i="0">
                <a:solidFill>
                  <a:srgbClr val="5146C5"/>
                </a:solidFill>
                <a:latin typeface="Calibri"/>
              </a:rPr>
              <a:t>PM</a:t>
            </a:r>
          </a:p>
        </p:txBody>
      </p:sp>
      <p:sp>
        <p:nvSpPr>
          <p:cNvPr id="9" name="TextBox 8"/>
          <p:cNvSpPr txBox="1"/>
          <p:nvPr/>
        </p:nvSpPr>
        <p:spPr>
          <a:xfrm>
            <a:off x="1280160" y="1463040"/>
            <a:ext cx="1691640" cy="502920"/>
          </a:xfrm>
          <a:prstGeom prst="rect">
            <a:avLst/>
          </a:prstGeom>
          <a:noFill/>
        </p:spPr>
        <p:txBody>
          <a:bodyPr wrap="square" lIns="0" rIns="0" tIns="0" bIns="0" anchor="ctr">
            <a:spAutoFit/>
          </a:bodyPr>
          <a:lstStyle/>
          <a:p>
            <a:pPr algn="l"/>
            <a:r>
              <a:rPr sz="1400" b="1" i="0">
                <a:solidFill>
                  <a:srgbClr val="24283B"/>
                </a:solidFill>
                <a:latin typeface="Calibri"/>
              </a:rPr>
              <a:t>Project &amp; program managers</a:t>
            </a:r>
          </a:p>
        </p:txBody>
      </p:sp>
      <p:sp>
        <p:nvSpPr>
          <p:cNvPr id="10" name="TextBox 9"/>
          <p:cNvSpPr txBox="1"/>
          <p:nvPr/>
        </p:nvSpPr>
        <p:spPr>
          <a:xfrm>
            <a:off x="685800" y="2148840"/>
            <a:ext cx="2194560" cy="1508760"/>
          </a:xfrm>
          <a:prstGeom prst="rect">
            <a:avLst/>
          </a:prstGeom>
          <a:noFill/>
        </p:spPr>
        <p:txBody>
          <a:bodyPr wrap="square" lIns="0" rIns="0" tIns="0" bIns="0">
            <a:spAutoFit/>
          </a:bodyPr>
          <a:lstStyle/>
          <a:p>
            <a:pPr marL="182880" indent="-182880">
              <a:spcAft>
                <a:spcPts val="600"/>
              </a:spcAft>
              <a:buClr>
                <a:srgbClr val="6258D8"/>
              </a:buClr>
              <a:buFont typeface="Arial"/>
              <a:buChar char="•"/>
            </a:pPr>
            <a:r>
              <a:rPr sz="1200" b="0">
                <a:solidFill>
                  <a:srgbClr val="202331"/>
                </a:solidFill>
                <a:latin typeface="Calibri"/>
              </a:rPr>
              <a:t>See a contradicted assumption when the evidence lands, not at the next status meeting</a:t>
            </a:r>
          </a:p>
          <a:p>
            <a:pPr marL="182880" indent="-182880">
              <a:spcAft>
                <a:spcPts val="600"/>
              </a:spcAft>
              <a:buClr>
                <a:srgbClr val="6258D8"/>
              </a:buClr>
              <a:buFont typeface="Arial"/>
              <a:buChar char="•"/>
            </a:pPr>
            <a:r>
              <a:rPr sz="1200" b="0">
                <a:solidFill>
                  <a:srgbClr val="202331"/>
                </a:solidFill>
                <a:latin typeface="Calibri"/>
              </a:rPr>
              <a:t>Know which downstream decisions to revisit first</a:t>
            </a:r>
          </a:p>
        </p:txBody>
      </p:sp>
      <p:sp>
        <p:nvSpPr>
          <p:cNvPr id="11" name="Rounded Rectangle 10"/>
          <p:cNvSpPr/>
          <p:nvPr/>
        </p:nvSpPr>
        <p:spPr>
          <a:xfrm>
            <a:off x="3246120" y="1280160"/>
            <a:ext cx="2606040" cy="242316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447288" y="1463040"/>
            <a:ext cx="502920" cy="502920"/>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47288" y="1463040"/>
            <a:ext cx="502920" cy="502920"/>
          </a:xfrm>
          <a:prstGeom prst="rect">
            <a:avLst/>
          </a:prstGeom>
          <a:noFill/>
        </p:spPr>
        <p:txBody>
          <a:bodyPr wrap="square" lIns="0" rIns="0" tIns="0" bIns="0" anchor="ctr">
            <a:spAutoFit/>
          </a:bodyPr>
          <a:lstStyle/>
          <a:p>
            <a:pPr algn="ctr"/>
            <a:r>
              <a:rPr sz="1400" b="1" i="0">
                <a:solidFill>
                  <a:srgbClr val="5146C5"/>
                </a:solidFill>
                <a:latin typeface="Calibri"/>
              </a:rPr>
              <a:t>TM</a:t>
            </a:r>
          </a:p>
        </p:txBody>
      </p:sp>
      <p:sp>
        <p:nvSpPr>
          <p:cNvPr id="14" name="TextBox 13"/>
          <p:cNvSpPr txBox="1"/>
          <p:nvPr/>
        </p:nvSpPr>
        <p:spPr>
          <a:xfrm>
            <a:off x="4069080" y="1463040"/>
            <a:ext cx="1691640" cy="502920"/>
          </a:xfrm>
          <a:prstGeom prst="rect">
            <a:avLst/>
          </a:prstGeom>
          <a:noFill/>
        </p:spPr>
        <p:txBody>
          <a:bodyPr wrap="square" lIns="0" rIns="0" tIns="0" bIns="0" anchor="ctr">
            <a:spAutoFit/>
          </a:bodyPr>
          <a:lstStyle/>
          <a:p>
            <a:pPr algn="l"/>
            <a:r>
              <a:rPr sz="1400" b="1" i="0">
                <a:solidFill>
                  <a:srgbClr val="24283B"/>
                </a:solidFill>
                <a:latin typeface="Calibri"/>
              </a:rPr>
              <a:t>Team contributors</a:t>
            </a:r>
          </a:p>
        </p:txBody>
      </p:sp>
      <p:sp>
        <p:nvSpPr>
          <p:cNvPr id="15" name="TextBox 14"/>
          <p:cNvSpPr txBox="1"/>
          <p:nvPr/>
        </p:nvSpPr>
        <p:spPr>
          <a:xfrm>
            <a:off x="3474720" y="2148840"/>
            <a:ext cx="2194560" cy="1508760"/>
          </a:xfrm>
          <a:prstGeom prst="rect">
            <a:avLst/>
          </a:prstGeom>
          <a:noFill/>
        </p:spPr>
        <p:txBody>
          <a:bodyPr wrap="square" lIns="0" rIns="0" tIns="0" bIns="0">
            <a:spAutoFit/>
          </a:bodyPr>
          <a:lstStyle/>
          <a:p>
            <a:pPr marL="182880" indent="-182880">
              <a:spcAft>
                <a:spcPts val="600"/>
              </a:spcAft>
              <a:buClr>
                <a:srgbClr val="6258D8"/>
              </a:buClr>
              <a:buFont typeface="Arial"/>
              <a:buChar char="•"/>
            </a:pPr>
            <a:r>
              <a:rPr sz="1200" b="0">
                <a:solidFill>
                  <a:srgbClr val="202331"/>
                </a:solidFill>
                <a:latin typeface="Calibri"/>
              </a:rPr>
              <a:t>Keep working in Docs, Drive and Meet: no new tool to update</a:t>
            </a:r>
          </a:p>
          <a:p>
            <a:pPr marL="182880" indent="-182880">
              <a:spcAft>
                <a:spcPts val="600"/>
              </a:spcAft>
              <a:buClr>
                <a:srgbClr val="6258D8"/>
              </a:buClr>
              <a:buFont typeface="Arial"/>
              <a:buChar char="•"/>
            </a:pPr>
            <a:r>
              <a:rPr sz="1200" b="0">
                <a:solidFill>
                  <a:srgbClr val="202331"/>
                </a:solidFill>
                <a:latin typeface="Calibri"/>
              </a:rPr>
              <a:t>Spend less time answering 'why did we decide this?'</a:t>
            </a:r>
          </a:p>
        </p:txBody>
      </p:sp>
      <p:sp>
        <p:nvSpPr>
          <p:cNvPr id="16" name="Rounded Rectangle 15"/>
          <p:cNvSpPr/>
          <p:nvPr/>
        </p:nvSpPr>
        <p:spPr>
          <a:xfrm>
            <a:off x="6035040" y="1280160"/>
            <a:ext cx="2606040" cy="242316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236207" y="1463040"/>
            <a:ext cx="502920" cy="502920"/>
          </a:xfrm>
          <a:prstGeom prst="roundRect">
            <a:avLst>
              <a:gd name="adj" fmla="val 28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207" y="1463040"/>
            <a:ext cx="502920" cy="502920"/>
          </a:xfrm>
          <a:prstGeom prst="rect">
            <a:avLst/>
          </a:prstGeom>
          <a:noFill/>
        </p:spPr>
        <p:txBody>
          <a:bodyPr wrap="square" lIns="0" rIns="0" tIns="0" bIns="0" anchor="ctr">
            <a:spAutoFit/>
          </a:bodyPr>
          <a:lstStyle/>
          <a:p>
            <a:pPr algn="ctr"/>
            <a:r>
              <a:rPr sz="1200" b="1" i="0">
                <a:solidFill>
                  <a:srgbClr val="5146C5"/>
                </a:solidFill>
                <a:latin typeface="Calibri"/>
              </a:rPr>
              <a:t>GOV</a:t>
            </a:r>
          </a:p>
        </p:txBody>
      </p:sp>
      <p:sp>
        <p:nvSpPr>
          <p:cNvPr id="19" name="TextBox 18"/>
          <p:cNvSpPr txBox="1"/>
          <p:nvPr/>
        </p:nvSpPr>
        <p:spPr>
          <a:xfrm>
            <a:off x="6858000" y="1463040"/>
            <a:ext cx="1691640" cy="502920"/>
          </a:xfrm>
          <a:prstGeom prst="rect">
            <a:avLst/>
          </a:prstGeom>
          <a:noFill/>
        </p:spPr>
        <p:txBody>
          <a:bodyPr wrap="square" lIns="0" rIns="0" tIns="0" bIns="0" anchor="ctr">
            <a:spAutoFit/>
          </a:bodyPr>
          <a:lstStyle/>
          <a:p>
            <a:pPr algn="l"/>
            <a:r>
              <a:rPr sz="1400" b="1" i="0">
                <a:solidFill>
                  <a:srgbClr val="24283B"/>
                </a:solidFill>
                <a:latin typeface="Calibri"/>
              </a:rPr>
              <a:t>Leaders, PMO &amp; audit</a:t>
            </a:r>
          </a:p>
        </p:txBody>
      </p:sp>
      <p:sp>
        <p:nvSpPr>
          <p:cNvPr id="20" name="TextBox 19"/>
          <p:cNvSpPr txBox="1"/>
          <p:nvPr/>
        </p:nvSpPr>
        <p:spPr>
          <a:xfrm>
            <a:off x="6263640" y="2148840"/>
            <a:ext cx="2194560" cy="1508760"/>
          </a:xfrm>
          <a:prstGeom prst="rect">
            <a:avLst/>
          </a:prstGeom>
          <a:noFill/>
        </p:spPr>
        <p:txBody>
          <a:bodyPr wrap="square" lIns="0" rIns="0" tIns="0" bIns="0">
            <a:spAutoFit/>
          </a:bodyPr>
          <a:lstStyle/>
          <a:p>
            <a:pPr marL="182880" indent="-182880">
              <a:spcAft>
                <a:spcPts val="600"/>
              </a:spcAft>
              <a:buClr>
                <a:srgbClr val="6258D8"/>
              </a:buClr>
              <a:buFont typeface="Arial"/>
              <a:buChar char="•"/>
            </a:pPr>
            <a:r>
              <a:rPr sz="1200" b="0">
                <a:solidFill>
                  <a:srgbClr val="202331"/>
                </a:solidFill>
                <a:latin typeface="Calibri"/>
              </a:rPr>
              <a:t>Every decision change has evidence, a rationale and a named reviewer</a:t>
            </a:r>
          </a:p>
          <a:p>
            <a:pPr marL="182880" indent="-182880">
              <a:spcAft>
                <a:spcPts val="600"/>
              </a:spcAft>
              <a:buClr>
                <a:srgbClr val="6258D8"/>
              </a:buClr>
              <a:buFont typeface="Arial"/>
              <a:buChar char="•"/>
            </a:pPr>
            <a:r>
              <a:rPr sz="1200" b="0">
                <a:solidFill>
                  <a:srgbClr val="202331"/>
                </a:solidFill>
                <a:latin typeface="Calibri"/>
              </a:rPr>
              <a:t>A searchable record of how decisions held up over time</a:t>
            </a:r>
          </a:p>
        </p:txBody>
      </p:sp>
      <p:sp>
        <p:nvSpPr>
          <p:cNvPr id="21" name="Rounded Rectangle 20"/>
          <p:cNvSpPr/>
          <p:nvPr/>
        </p:nvSpPr>
        <p:spPr>
          <a:xfrm>
            <a:off x="457200" y="3886200"/>
            <a:ext cx="8183879" cy="713232"/>
          </a:xfrm>
          <a:prstGeom prst="roundRect">
            <a:avLst>
              <a:gd name="adj" fmla="val 15000"/>
            </a:avLst>
          </a:prstGeom>
          <a:solidFill>
            <a:srgbClr val="E8F5F2"/>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886200"/>
            <a:ext cx="7772400" cy="713232"/>
          </a:xfrm>
          <a:prstGeom prst="rect">
            <a:avLst/>
          </a:prstGeom>
          <a:noFill/>
        </p:spPr>
        <p:txBody>
          <a:bodyPr wrap="square" lIns="0" rIns="0" tIns="0" bIns="0" anchor="ctr">
            <a:spAutoFit/>
          </a:bodyPr>
          <a:lstStyle/>
          <a:p>
            <a:pPr algn="l"/>
            <a:r>
              <a:rPr sz="1300" b="1" i="0">
                <a:solidFill>
                  <a:srgbClr val="17786C"/>
                </a:solidFill>
                <a:latin typeface="Calibri"/>
              </a:rPr>
              <a:t>For the wider community: </a:t>
            </a:r>
            <a:r>
              <a:rPr sz="1300" b="0" i="0">
                <a:solidFill>
                  <a:srgbClr val="202331"/>
                </a:solidFill>
                <a:latin typeface="Calibri"/>
              </a:rPr>
              <a:t>any team on Google Workspace (startups, nonprofits, public-sector projects, enterprises) gets decision governance that used to need a dedicated PMO.</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8FC"/>
        </a:solidFill>
        <a:effectLst/>
      </p:bgPr>
    </p:bg>
    <p:spTree>
      <p:nvGrpSpPr>
        <p:cNvPr id="1" name=""/>
        <p:cNvGrpSpPr/>
        <p:nvPr/>
      </p:nvGrpSpPr>
      <p:grpSpPr/>
      <p:sp>
        <p:nvSpPr>
          <p:cNvPr id="2" name="TextBox 1"/>
          <p:cNvSpPr txBox="1"/>
          <p:nvPr/>
        </p:nvSpPr>
        <p:spPr>
          <a:xfrm>
            <a:off x="457200" y="292608"/>
            <a:ext cx="8229600" cy="228600"/>
          </a:xfrm>
          <a:prstGeom prst="rect">
            <a:avLst/>
          </a:prstGeom>
          <a:noFill/>
        </p:spPr>
        <p:txBody>
          <a:bodyPr wrap="square" lIns="0" rIns="0" tIns="0" bIns="0" anchor="t">
            <a:spAutoFit/>
          </a:bodyPr>
          <a:lstStyle/>
          <a:p>
            <a:pPr algn="l"/>
            <a:r>
              <a:rPr sz="1000" b="1" i="0" spc="140">
                <a:solidFill>
                  <a:srgbClr val="6258D8"/>
                </a:solidFill>
                <a:latin typeface="Calibri"/>
              </a:rPr>
              <a:t>SCALABILITY &amp; ROADMAP</a:t>
            </a:r>
          </a:p>
        </p:txBody>
      </p:sp>
      <p:sp>
        <p:nvSpPr>
          <p:cNvPr id="3" name="TextBox 2"/>
          <p:cNvSpPr txBox="1"/>
          <p:nvPr/>
        </p:nvSpPr>
        <p:spPr>
          <a:xfrm>
            <a:off x="457200" y="502920"/>
            <a:ext cx="8229600" cy="548640"/>
          </a:xfrm>
          <a:prstGeom prst="rect">
            <a:avLst/>
          </a:prstGeom>
          <a:noFill/>
        </p:spPr>
        <p:txBody>
          <a:bodyPr wrap="square" lIns="0" rIns="0" tIns="0" bIns="0" anchor="t">
            <a:spAutoFit/>
          </a:bodyPr>
          <a:lstStyle/>
          <a:p>
            <a:pPr algn="l"/>
            <a:r>
              <a:rPr sz="2800" b="1" i="0">
                <a:solidFill>
                  <a:srgbClr val="24283B"/>
                </a:solidFill>
                <a:latin typeface="Calibri"/>
              </a:rPr>
              <a:t>Designed to grow from one team to the enterprise</a:t>
            </a:r>
          </a:p>
        </p:txBody>
      </p:sp>
      <p:sp>
        <p:nvSpPr>
          <p:cNvPr id="4" name="TextBox 3"/>
          <p:cNvSpPr txBox="1"/>
          <p:nvPr/>
        </p:nvSpPr>
        <p:spPr>
          <a:xfrm>
            <a:off x="457200" y="4818888"/>
            <a:ext cx="4572000" cy="182880"/>
          </a:xfrm>
          <a:prstGeom prst="rect">
            <a:avLst/>
          </a:prstGeom>
          <a:noFill/>
        </p:spPr>
        <p:txBody>
          <a:bodyPr wrap="square" lIns="0" rIns="0" tIns="0" bIns="0" anchor="t">
            <a:spAutoFit/>
          </a:bodyPr>
          <a:lstStyle/>
          <a:p>
            <a:pPr algn="l"/>
            <a:r>
              <a:rPr sz="900" b="0" i="0">
                <a:solidFill>
                  <a:srgbClr val="626A7B"/>
                </a:solidFill>
                <a:latin typeface="Calibri"/>
              </a:rPr>
              <a:t>Decision </a:t>
            </a:r>
            <a:r>
              <a:rPr sz="900" b="1" i="0">
                <a:solidFill>
                  <a:srgbClr val="6258D8"/>
                </a:solidFill>
                <a:latin typeface="Calibri"/>
              </a:rPr>
              <a:t>Radar</a:t>
            </a:r>
            <a:r>
              <a:rPr sz="900" b="0" i="0">
                <a:solidFill>
                  <a:srgbClr val="626A7B"/>
                </a:solidFill>
                <a:latin typeface="Calibri"/>
              </a:rPr>
              <a:t>  ·  Team GeminiMaxx  ·  Future of Work &amp; Enterprise Productivity</a:t>
            </a:r>
          </a:p>
        </p:txBody>
      </p:sp>
      <p:sp>
        <p:nvSpPr>
          <p:cNvPr id="5" name="TextBox 4"/>
          <p:cNvSpPr txBox="1"/>
          <p:nvPr/>
        </p:nvSpPr>
        <p:spPr>
          <a:xfrm>
            <a:off x="8138160" y="4818888"/>
            <a:ext cx="548640" cy="182880"/>
          </a:xfrm>
          <a:prstGeom prst="rect">
            <a:avLst/>
          </a:prstGeom>
          <a:noFill/>
        </p:spPr>
        <p:txBody>
          <a:bodyPr wrap="square" lIns="0" rIns="0" tIns="0" bIns="0" anchor="t">
            <a:spAutoFit/>
          </a:bodyPr>
          <a:lstStyle/>
          <a:p>
            <a:pPr algn="r"/>
            <a:r>
              <a:rPr sz="900" b="0" i="0">
                <a:solidFill>
                  <a:srgbClr val="626A7B"/>
                </a:solidFill>
                <a:latin typeface="Calibri"/>
              </a:rPr>
              <a:t>13 / 14</a:t>
            </a:r>
          </a:p>
        </p:txBody>
      </p:sp>
      <p:sp>
        <p:nvSpPr>
          <p:cNvPr id="6" name="Rounded Rectangle 5"/>
          <p:cNvSpPr/>
          <p:nvPr/>
        </p:nvSpPr>
        <p:spPr>
          <a:xfrm>
            <a:off x="457200" y="1234440"/>
            <a:ext cx="2606040" cy="256032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Rounded Rectangle 6"/>
          <p:cNvSpPr/>
          <p:nvPr/>
        </p:nvSpPr>
        <p:spPr>
          <a:xfrm>
            <a:off x="658368" y="1371600"/>
            <a:ext cx="731520" cy="274320"/>
          </a:xfrm>
          <a:prstGeom prst="roundRect">
            <a:avLst>
              <a:gd name="adj" fmla="val 50000"/>
            </a:avLst>
          </a:prstGeom>
          <a:solidFill>
            <a:srgbClr val="6258D8"/>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58368" y="1371600"/>
            <a:ext cx="731520" cy="274320"/>
          </a:xfrm>
          <a:prstGeom prst="rect">
            <a:avLst/>
          </a:prstGeom>
          <a:noFill/>
        </p:spPr>
        <p:txBody>
          <a:bodyPr wrap="square" lIns="0" rIns="0" tIns="0" bIns="0" anchor="ctr">
            <a:spAutoFit/>
          </a:bodyPr>
          <a:lstStyle/>
          <a:p>
            <a:pPr algn="ctr"/>
            <a:r>
              <a:rPr sz="1000" b="1" i="0" spc="100">
                <a:solidFill>
                  <a:srgbClr val="FFFFFF"/>
                </a:solidFill>
                <a:latin typeface="Calibri"/>
              </a:rPr>
              <a:t>NOW</a:t>
            </a:r>
          </a:p>
        </p:txBody>
      </p:sp>
      <p:sp>
        <p:nvSpPr>
          <p:cNvPr id="9" name="TextBox 8"/>
          <p:cNvSpPr txBox="1"/>
          <p:nvPr/>
        </p:nvSpPr>
        <p:spPr>
          <a:xfrm>
            <a:off x="658368" y="1719072"/>
            <a:ext cx="2286000" cy="274320"/>
          </a:xfrm>
          <a:prstGeom prst="rect">
            <a:avLst/>
          </a:prstGeom>
          <a:noFill/>
        </p:spPr>
        <p:txBody>
          <a:bodyPr wrap="square" lIns="0" rIns="0" tIns="0" bIns="0" anchor="t">
            <a:spAutoFit/>
          </a:bodyPr>
          <a:lstStyle/>
          <a:p>
            <a:pPr algn="l"/>
            <a:r>
              <a:rPr sz="1300" b="1" i="0">
                <a:solidFill>
                  <a:srgbClr val="24283B"/>
                </a:solidFill>
                <a:latin typeface="Calibri"/>
              </a:rPr>
              <a:t>Working prototype</a:t>
            </a:r>
          </a:p>
        </p:txBody>
      </p:sp>
      <p:sp>
        <p:nvSpPr>
          <p:cNvPr id="10" name="TextBox 9"/>
          <p:cNvSpPr txBox="1"/>
          <p:nvPr/>
        </p:nvSpPr>
        <p:spPr>
          <a:xfrm>
            <a:off x="658368" y="2057400"/>
            <a:ext cx="2240280" cy="1691640"/>
          </a:xfrm>
          <a:prstGeom prst="rect">
            <a:avLst/>
          </a:prstGeom>
          <a:noFill/>
        </p:spPr>
        <p:txBody>
          <a:bodyPr wrap="square" lIns="0" rIns="0" tIns="0" bIns="0">
            <a:spAutoFit/>
          </a:bodyPr>
          <a:lstStyle/>
          <a:p>
            <a:pPr marL="182880" indent="-182880">
              <a:spcAft>
                <a:spcPts val="400"/>
              </a:spcAft>
              <a:buClr>
                <a:srgbClr val="6258D8"/>
              </a:buClr>
              <a:buFont typeface="Arial"/>
              <a:buChar char="•"/>
            </a:pPr>
            <a:r>
              <a:rPr sz="1200" b="0">
                <a:solidFill>
                  <a:srgbClr val="202331"/>
                </a:solidFill>
                <a:latin typeface="Calibri"/>
              </a:rPr>
              <a:t>One Drive folder tree per project</a:t>
            </a:r>
          </a:p>
          <a:p>
            <a:pPr marL="182880" indent="-182880">
              <a:spcAft>
                <a:spcPts val="400"/>
              </a:spcAft>
              <a:buClr>
                <a:srgbClr val="6258D8"/>
              </a:buClr>
              <a:buFont typeface="Arial"/>
              <a:buChar char="•"/>
            </a:pPr>
            <a:r>
              <a:rPr sz="1200" b="0">
                <a:solidFill>
                  <a:srgbClr val="202331"/>
                </a:solidFill>
                <a:latin typeface="Calibri"/>
              </a:rPr>
              <a:t>Docs, text files, saved Meet transcripts</a:t>
            </a:r>
          </a:p>
          <a:p>
            <a:pPr marL="182880" indent="-182880">
              <a:spcAft>
                <a:spcPts val="400"/>
              </a:spcAft>
              <a:buClr>
                <a:srgbClr val="6258D8"/>
              </a:buClr>
              <a:buFont typeface="Arial"/>
              <a:buChar char="•"/>
            </a:pPr>
            <a:r>
              <a:rPr sz="1200" b="0">
                <a:solidFill>
                  <a:srgbClr val="202331"/>
                </a:solidFill>
                <a:latin typeface="Calibri"/>
              </a:rPr>
              <a:t>Date, amount and status rules</a:t>
            </a:r>
          </a:p>
          <a:p>
            <a:pPr marL="182880" indent="-182880">
              <a:spcAft>
                <a:spcPts val="400"/>
              </a:spcAft>
              <a:buClr>
                <a:srgbClr val="6258D8"/>
              </a:buClr>
              <a:buFont typeface="Arial"/>
              <a:buChar char="•"/>
            </a:pPr>
            <a:r>
              <a:rPr sz="1200" b="0">
                <a:solidFill>
                  <a:srgbClr val="202331"/>
                </a:solidFill>
                <a:latin typeface="Calibri"/>
              </a:rPr>
              <a:t>Impact graph and five review actions</a:t>
            </a:r>
          </a:p>
        </p:txBody>
      </p:sp>
      <p:sp>
        <p:nvSpPr>
          <p:cNvPr id="11" name="Rounded Rectangle 10"/>
          <p:cNvSpPr/>
          <p:nvPr/>
        </p:nvSpPr>
        <p:spPr>
          <a:xfrm>
            <a:off x="3246120" y="1234440"/>
            <a:ext cx="2606040" cy="256032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ounded Rectangle 11"/>
          <p:cNvSpPr/>
          <p:nvPr/>
        </p:nvSpPr>
        <p:spPr>
          <a:xfrm>
            <a:off x="3447288" y="1371600"/>
            <a:ext cx="731520" cy="274320"/>
          </a:xfrm>
          <a:prstGeom prst="roundRect">
            <a:avLst>
              <a:gd name="adj" fmla="val 50000"/>
            </a:avLst>
          </a:prstGeom>
          <a:solidFill>
            <a:srgbClr val="24283B"/>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3447288" y="1371600"/>
            <a:ext cx="731520" cy="274320"/>
          </a:xfrm>
          <a:prstGeom prst="rect">
            <a:avLst/>
          </a:prstGeom>
          <a:noFill/>
        </p:spPr>
        <p:txBody>
          <a:bodyPr wrap="square" lIns="0" rIns="0" tIns="0" bIns="0" anchor="ctr">
            <a:spAutoFit/>
          </a:bodyPr>
          <a:lstStyle/>
          <a:p>
            <a:pPr algn="ctr"/>
            <a:r>
              <a:rPr sz="1000" b="1" i="0" spc="100">
                <a:solidFill>
                  <a:srgbClr val="FFFFFF"/>
                </a:solidFill>
                <a:latin typeface="Calibri"/>
              </a:rPr>
              <a:t>NEXT</a:t>
            </a:r>
          </a:p>
        </p:txBody>
      </p:sp>
      <p:sp>
        <p:nvSpPr>
          <p:cNvPr id="14" name="TextBox 13"/>
          <p:cNvSpPr txBox="1"/>
          <p:nvPr/>
        </p:nvSpPr>
        <p:spPr>
          <a:xfrm>
            <a:off x="3447288" y="1719072"/>
            <a:ext cx="2286000" cy="274320"/>
          </a:xfrm>
          <a:prstGeom prst="rect">
            <a:avLst/>
          </a:prstGeom>
          <a:noFill/>
        </p:spPr>
        <p:txBody>
          <a:bodyPr wrap="square" lIns="0" rIns="0" tIns="0" bIns="0" anchor="t">
            <a:spAutoFit/>
          </a:bodyPr>
          <a:lstStyle/>
          <a:p>
            <a:pPr algn="l"/>
            <a:r>
              <a:rPr sz="1300" b="1" i="0">
                <a:solidFill>
                  <a:srgbClr val="24283B"/>
                </a:solidFill>
                <a:latin typeface="Calibri"/>
              </a:rPr>
              <a:t>Built, in final testing</a:t>
            </a:r>
          </a:p>
        </p:txBody>
      </p:sp>
      <p:sp>
        <p:nvSpPr>
          <p:cNvPr id="15" name="TextBox 14"/>
          <p:cNvSpPr txBox="1"/>
          <p:nvPr/>
        </p:nvSpPr>
        <p:spPr>
          <a:xfrm>
            <a:off x="3447288" y="2057400"/>
            <a:ext cx="2240280" cy="1691640"/>
          </a:xfrm>
          <a:prstGeom prst="rect">
            <a:avLst/>
          </a:prstGeom>
          <a:noFill/>
        </p:spPr>
        <p:txBody>
          <a:bodyPr wrap="square" lIns="0" rIns="0" tIns="0" bIns="0">
            <a:spAutoFit/>
          </a:bodyPr>
          <a:lstStyle/>
          <a:p>
            <a:pPr marL="182880" indent="-182880">
              <a:spcAft>
                <a:spcPts val="400"/>
              </a:spcAft>
              <a:buClr>
                <a:srgbClr val="24283B"/>
              </a:buClr>
              <a:buFont typeface="Arial"/>
              <a:buChar char="•"/>
            </a:pPr>
            <a:r>
              <a:rPr sz="1200" b="0">
                <a:solidFill>
                  <a:srgbClr val="202331"/>
                </a:solidFill>
                <a:latin typeface="Calibri"/>
              </a:rPr>
              <a:t>Sheets, CSV and XLSX row mapping</a:t>
            </a:r>
          </a:p>
          <a:p>
            <a:pPr marL="182880" indent="-182880">
              <a:spcAft>
                <a:spcPts val="400"/>
              </a:spcAft>
              <a:buClr>
                <a:srgbClr val="24283B"/>
              </a:buClr>
              <a:buFont typeface="Arial"/>
              <a:buChar char="•"/>
            </a:pPr>
            <a:r>
              <a:rPr sz="1200" b="0">
                <a:solidFill>
                  <a:srgbClr val="202331"/>
                </a:solidFill>
                <a:latin typeface="Calibri"/>
              </a:rPr>
              <a:t>Live Meet transcripts via Workspace Events and Pub/Sub</a:t>
            </a:r>
          </a:p>
          <a:p>
            <a:pPr marL="182880" indent="-182880">
              <a:spcAft>
                <a:spcPts val="400"/>
              </a:spcAft>
              <a:buClr>
                <a:srgbClr val="24283B"/>
              </a:buClr>
              <a:buFont typeface="Arial"/>
              <a:buChar char="•"/>
            </a:pPr>
            <a:r>
              <a:rPr sz="1200" b="0">
                <a:solidFill>
                  <a:srgbClr val="202331"/>
                </a:solidFill>
                <a:latin typeface="Calibri"/>
              </a:rPr>
              <a:t>Cited impact briefs exported to Google Docs</a:t>
            </a:r>
          </a:p>
          <a:p>
            <a:pPr marL="182880" indent="-182880">
              <a:spcAft>
                <a:spcPts val="400"/>
              </a:spcAft>
              <a:buClr>
                <a:srgbClr val="24283B"/>
              </a:buClr>
              <a:buFont typeface="Arial"/>
              <a:buChar char="•"/>
            </a:pPr>
            <a:r>
              <a:rPr sz="1200" b="0">
                <a:solidFill>
                  <a:srgbClr val="202331"/>
                </a:solidFill>
                <a:latin typeface="Calibri"/>
              </a:rPr>
              <a:t>Per-viewer native file permission checks</a:t>
            </a:r>
          </a:p>
        </p:txBody>
      </p:sp>
      <p:sp>
        <p:nvSpPr>
          <p:cNvPr id="16" name="Rounded Rectangle 15"/>
          <p:cNvSpPr/>
          <p:nvPr/>
        </p:nvSpPr>
        <p:spPr>
          <a:xfrm>
            <a:off x="6035040" y="1234440"/>
            <a:ext cx="2606040" cy="2560320"/>
          </a:xfrm>
          <a:prstGeom prst="roundRect">
            <a:avLst>
              <a:gd name="adj" fmla="val 6000"/>
            </a:avLst>
          </a:prstGeom>
          <a:solidFill>
            <a:srgbClr val="FFFFFF"/>
          </a:solidFill>
          <a:ln w="9525">
            <a:solidFill>
              <a:srgbClr val="E3E6EE"/>
            </a:solidFill>
          </a:ln>
          <a:effectLst>
            <a:outerShdw blurRad="190500" dist="38100" dir="5400000" algn="t" rotWithShape="0">
              <a:srgbClr val="1F2343">
                <a:alpha val="9000"/>
              </a:srgbClr>
            </a:outerShdw>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ounded Rectangle 16"/>
          <p:cNvSpPr/>
          <p:nvPr/>
        </p:nvSpPr>
        <p:spPr>
          <a:xfrm>
            <a:off x="6236207" y="1371600"/>
            <a:ext cx="731520" cy="274320"/>
          </a:xfrm>
          <a:prstGeom prst="roundRect">
            <a:avLst>
              <a:gd name="adj" fmla="val 50000"/>
            </a:avLst>
          </a:prstGeom>
          <a:solidFill>
            <a:srgbClr val="23B8A7"/>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236207" y="1371600"/>
            <a:ext cx="731520" cy="274320"/>
          </a:xfrm>
          <a:prstGeom prst="rect">
            <a:avLst/>
          </a:prstGeom>
          <a:noFill/>
        </p:spPr>
        <p:txBody>
          <a:bodyPr wrap="square" lIns="0" rIns="0" tIns="0" bIns="0" anchor="ctr">
            <a:spAutoFit/>
          </a:bodyPr>
          <a:lstStyle/>
          <a:p>
            <a:pPr algn="ctr"/>
            <a:r>
              <a:rPr sz="1000" b="1" i="0" spc="100">
                <a:solidFill>
                  <a:srgbClr val="FFFFFF"/>
                </a:solidFill>
                <a:latin typeface="Calibri"/>
              </a:rPr>
              <a:t>LATER</a:t>
            </a:r>
          </a:p>
        </p:txBody>
      </p:sp>
      <p:sp>
        <p:nvSpPr>
          <p:cNvPr id="19" name="TextBox 18"/>
          <p:cNvSpPr txBox="1"/>
          <p:nvPr/>
        </p:nvSpPr>
        <p:spPr>
          <a:xfrm>
            <a:off x="6236207" y="1719072"/>
            <a:ext cx="2286000" cy="274320"/>
          </a:xfrm>
          <a:prstGeom prst="rect">
            <a:avLst/>
          </a:prstGeom>
          <a:noFill/>
        </p:spPr>
        <p:txBody>
          <a:bodyPr wrap="square" lIns="0" rIns="0" tIns="0" bIns="0" anchor="t">
            <a:spAutoFit/>
          </a:bodyPr>
          <a:lstStyle/>
          <a:p>
            <a:pPr algn="l"/>
            <a:r>
              <a:rPr sz="1300" b="1" i="0">
                <a:solidFill>
                  <a:srgbClr val="24283B"/>
                </a:solidFill>
                <a:latin typeface="Calibri"/>
              </a:rPr>
              <a:t>Enterprise scale</a:t>
            </a:r>
          </a:p>
        </p:txBody>
      </p:sp>
      <p:sp>
        <p:nvSpPr>
          <p:cNvPr id="20" name="TextBox 19"/>
          <p:cNvSpPr txBox="1"/>
          <p:nvPr/>
        </p:nvSpPr>
        <p:spPr>
          <a:xfrm>
            <a:off x="6236207" y="2057400"/>
            <a:ext cx="2240280" cy="1691640"/>
          </a:xfrm>
          <a:prstGeom prst="rect">
            <a:avLst/>
          </a:prstGeom>
          <a:noFill/>
        </p:spPr>
        <p:txBody>
          <a:bodyPr wrap="square" lIns="0" rIns="0" tIns="0" bIns="0">
            <a:spAutoFit/>
          </a:bodyPr>
          <a:lstStyle/>
          <a:p>
            <a:pPr marL="182880" indent="-182880">
              <a:spcAft>
                <a:spcPts val="400"/>
              </a:spcAft>
              <a:buClr>
                <a:srgbClr val="23B8A7"/>
              </a:buClr>
              <a:buFont typeface="Arial"/>
              <a:buChar char="•"/>
            </a:pPr>
            <a:r>
              <a:rPr sz="1200" b="0">
                <a:solidFill>
                  <a:srgbClr val="202331"/>
                </a:solidFill>
                <a:latin typeface="Calibri"/>
              </a:rPr>
              <a:t>Vertex AI Search retrieval for thousands of assumptions</a:t>
            </a:r>
          </a:p>
          <a:p>
            <a:pPr marL="182880" indent="-182880">
              <a:spcAft>
                <a:spcPts val="400"/>
              </a:spcAft>
              <a:buClr>
                <a:srgbClr val="23B8A7"/>
              </a:buClr>
              <a:buFont typeface="Arial"/>
              <a:buChar char="•"/>
            </a:pPr>
            <a:r>
              <a:rPr sz="1200" b="0">
                <a:solidFill>
                  <a:srgbClr val="202331"/>
                </a:solidFill>
                <a:latin typeface="Calibri"/>
              </a:rPr>
              <a:t>Jira, Chat and Gmail connectors</a:t>
            </a:r>
          </a:p>
          <a:p>
            <a:pPr marL="182880" indent="-182880">
              <a:spcAft>
                <a:spcPts val="400"/>
              </a:spcAft>
              <a:buClr>
                <a:srgbClr val="23B8A7"/>
              </a:buClr>
              <a:buFont typeface="Arial"/>
              <a:buChar char="•"/>
            </a:pPr>
            <a:r>
              <a:rPr sz="1200" b="0">
                <a:solidFill>
                  <a:srgbClr val="202331"/>
                </a:solidFill>
                <a:latin typeface="Calibri"/>
              </a:rPr>
              <a:t>Shared Drives and org-wide discovery</a:t>
            </a:r>
          </a:p>
          <a:p>
            <a:pPr marL="182880" indent="-182880">
              <a:spcAft>
                <a:spcPts val="400"/>
              </a:spcAft>
              <a:buClr>
                <a:srgbClr val="23B8A7"/>
              </a:buClr>
              <a:buFont typeface="Arial"/>
              <a:buChar char="•"/>
            </a:pPr>
            <a:r>
              <a:rPr sz="1200" b="0">
                <a:solidFill>
                  <a:srgbClr val="202331"/>
                </a:solidFill>
                <a:latin typeface="Calibri"/>
              </a:rPr>
              <a:t>Portfolio view across projects</a:t>
            </a:r>
          </a:p>
        </p:txBody>
      </p:sp>
      <p:sp>
        <p:nvSpPr>
          <p:cNvPr id="21" name="Rounded Rectangle 20"/>
          <p:cNvSpPr/>
          <p:nvPr/>
        </p:nvSpPr>
        <p:spPr>
          <a:xfrm>
            <a:off x="457200" y="3950208"/>
            <a:ext cx="8183879" cy="685800"/>
          </a:xfrm>
          <a:prstGeom prst="roundRect">
            <a:avLst>
              <a:gd name="adj" fmla="val 15000"/>
            </a:avLst>
          </a:prstGeom>
          <a:solidFill>
            <a:srgbClr val="EEECFF"/>
          </a:solidFill>
          <a:ln>
            <a:no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685800" y="3950208"/>
            <a:ext cx="7772400" cy="685800"/>
          </a:xfrm>
          <a:prstGeom prst="rect">
            <a:avLst/>
          </a:prstGeom>
          <a:noFill/>
        </p:spPr>
        <p:txBody>
          <a:bodyPr wrap="square" lIns="0" rIns="0" tIns="0" bIns="0" anchor="ctr">
            <a:spAutoFit/>
          </a:bodyPr>
          <a:lstStyle/>
          <a:p>
            <a:pPr algn="l"/>
            <a:r>
              <a:rPr sz="1200" b="1" i="0">
                <a:solidFill>
                  <a:srgbClr val="24283B"/>
                </a:solidFill>
                <a:latin typeface="Calibri"/>
              </a:rPr>
              <a:t>Why it scales: </a:t>
            </a:r>
            <a:r>
              <a:rPr sz="1200" b="0" i="0">
                <a:solidFill>
                  <a:srgbClr val="202331"/>
                </a:solidFill>
                <a:latin typeface="Calibri"/>
              </a:rPr>
              <a:t>stateless Cloud Run services autoscale · Cloud Tasks absorbs bursts with retries · idempotent jobs never duplicate alerts · per-project data and secrets · Gemini Flash keeps cost per check low</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4283B"/>
        </a:solidFill>
        <a:effectLst/>
      </p:bgPr>
    </p:bg>
    <p:spTree>
      <p:nvGrpSpPr>
        <p:cNvPr id="1" name=""/>
        <p:cNvGrpSpPr/>
        <p:nvPr/>
      </p:nvGrpSpPr>
      <p:grpSpPr/>
      <p:sp>
        <p:nvSpPr>
          <p:cNvPr id="2" name="TextBox 1"/>
          <p:cNvSpPr txBox="1"/>
          <p:nvPr/>
        </p:nvSpPr>
        <p:spPr>
          <a:xfrm>
            <a:off x="548640" y="548640"/>
            <a:ext cx="8046720" cy="274320"/>
          </a:xfrm>
          <a:prstGeom prst="rect">
            <a:avLst/>
          </a:prstGeom>
          <a:noFill/>
        </p:spPr>
        <p:txBody>
          <a:bodyPr wrap="square" lIns="0" rIns="0" tIns="0" bIns="0" anchor="t">
            <a:spAutoFit/>
          </a:bodyPr>
          <a:lstStyle/>
          <a:p>
            <a:pPr algn="l"/>
            <a:r>
              <a:rPr sz="1100" b="1" i="0" spc="200">
                <a:solidFill>
                  <a:srgbClr val="A59EEF"/>
                </a:solidFill>
                <a:latin typeface="Calibri"/>
              </a:rPr>
              <a:t>DECISION RADAR</a:t>
            </a:r>
          </a:p>
        </p:txBody>
      </p:sp>
      <p:sp>
        <p:nvSpPr>
          <p:cNvPr id="3" name="TextBox 2"/>
          <p:cNvSpPr txBox="1"/>
          <p:nvPr/>
        </p:nvSpPr>
        <p:spPr>
          <a:xfrm>
            <a:off x="548640" y="914400"/>
            <a:ext cx="7863840" cy="1188720"/>
          </a:xfrm>
          <a:prstGeom prst="rect">
            <a:avLst/>
          </a:prstGeom>
          <a:noFill/>
        </p:spPr>
        <p:txBody>
          <a:bodyPr wrap="square" lIns="0" rIns="0" tIns="0" bIns="0" anchor="t">
            <a:spAutoFit/>
          </a:bodyPr>
          <a:lstStyle/>
          <a:p>
            <a:pPr algn="l"/>
            <a:r>
              <a:rPr sz="3600" b="1" i="0">
                <a:solidFill>
                  <a:srgbClr val="FFFFFF"/>
                </a:solidFill>
                <a:latin typeface="Calibri"/>
              </a:rPr>
              <a:t>Decisions should know when they are out of date.</a:t>
            </a:r>
          </a:p>
        </p:txBody>
      </p:sp>
      <p:sp>
        <p:nvSpPr>
          <p:cNvPr id="4" name="Rounded Rectangle 3"/>
          <p:cNvSpPr/>
          <p:nvPr/>
        </p:nvSpPr>
        <p:spPr>
          <a:xfrm>
            <a:off x="548640" y="2423160"/>
            <a:ext cx="3886200" cy="777240"/>
          </a:xfrm>
          <a:prstGeom prst="roundRect">
            <a:avLst>
              <a:gd name="adj" fmla="val 12000"/>
            </a:avLst>
          </a:prstGeom>
          <a:solidFill>
            <a:srgbClr val="2F3450"/>
          </a:solidFill>
          <a:ln w="9525">
            <a:solidFill>
              <a:srgbClr val="3A406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777240" y="2532888"/>
            <a:ext cx="3474720" cy="228600"/>
          </a:xfrm>
          <a:prstGeom prst="rect">
            <a:avLst/>
          </a:prstGeom>
          <a:noFill/>
        </p:spPr>
        <p:txBody>
          <a:bodyPr wrap="square" lIns="0" rIns="0" tIns="0" bIns="0" anchor="t">
            <a:spAutoFit/>
          </a:bodyPr>
          <a:lstStyle/>
          <a:p>
            <a:pPr algn="l"/>
            <a:r>
              <a:rPr sz="900" b="1" i="0" spc="100">
                <a:solidFill>
                  <a:srgbClr val="A59EEF"/>
                </a:solidFill>
                <a:latin typeface="Calibri"/>
              </a:rPr>
              <a:t>LIVE PROTOTYPE</a:t>
            </a:r>
          </a:p>
        </p:txBody>
      </p:sp>
      <p:sp>
        <p:nvSpPr>
          <p:cNvPr id="6" name="TextBox 5"/>
          <p:cNvSpPr txBox="1"/>
          <p:nvPr/>
        </p:nvSpPr>
        <p:spPr>
          <a:xfrm>
            <a:off x="777240" y="2770632"/>
            <a:ext cx="3474720" cy="365760"/>
          </a:xfrm>
          <a:prstGeom prst="rect">
            <a:avLst/>
          </a:prstGeom>
          <a:noFill/>
        </p:spPr>
        <p:txBody>
          <a:bodyPr wrap="square" lIns="0" rIns="0" tIns="0" bIns="0" anchor="t">
            <a:spAutoFit/>
          </a:bodyPr>
          <a:lstStyle/>
          <a:p>
            <a:pPr algn="l"/>
            <a:r>
              <a:rPr sz="1400" b="1" i="0">
                <a:solidFill>
                  <a:srgbClr val="FFFFFF"/>
                </a:solidFill>
                <a:latin typeface="Calibri"/>
              </a:rPr>
              <a:t>[Cloud Run URL]</a:t>
            </a:r>
          </a:p>
        </p:txBody>
      </p:sp>
      <p:sp>
        <p:nvSpPr>
          <p:cNvPr id="7" name="Rounded Rectangle 6"/>
          <p:cNvSpPr/>
          <p:nvPr/>
        </p:nvSpPr>
        <p:spPr>
          <a:xfrm>
            <a:off x="4617720" y="2423160"/>
            <a:ext cx="3886200" cy="777240"/>
          </a:xfrm>
          <a:prstGeom prst="roundRect">
            <a:avLst>
              <a:gd name="adj" fmla="val 12000"/>
            </a:avLst>
          </a:prstGeom>
          <a:solidFill>
            <a:srgbClr val="2F3450"/>
          </a:solidFill>
          <a:ln w="9525">
            <a:solidFill>
              <a:srgbClr val="3A406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4846320" y="2532888"/>
            <a:ext cx="3474720" cy="228600"/>
          </a:xfrm>
          <a:prstGeom prst="rect">
            <a:avLst/>
          </a:prstGeom>
          <a:noFill/>
        </p:spPr>
        <p:txBody>
          <a:bodyPr wrap="square" lIns="0" rIns="0" tIns="0" bIns="0" anchor="t">
            <a:spAutoFit/>
          </a:bodyPr>
          <a:lstStyle/>
          <a:p>
            <a:pPr algn="l"/>
            <a:r>
              <a:rPr sz="900" b="1" i="0" spc="100">
                <a:solidFill>
                  <a:srgbClr val="A59EEF"/>
                </a:solidFill>
                <a:latin typeface="Calibri"/>
              </a:rPr>
              <a:t>3-MINUTE DEMO VIDEO</a:t>
            </a:r>
          </a:p>
        </p:txBody>
      </p:sp>
      <p:sp>
        <p:nvSpPr>
          <p:cNvPr id="9" name="TextBox 8"/>
          <p:cNvSpPr txBox="1"/>
          <p:nvPr/>
        </p:nvSpPr>
        <p:spPr>
          <a:xfrm>
            <a:off x="4846320" y="2770632"/>
            <a:ext cx="3474720" cy="365760"/>
          </a:xfrm>
          <a:prstGeom prst="rect">
            <a:avLst/>
          </a:prstGeom>
          <a:noFill/>
        </p:spPr>
        <p:txBody>
          <a:bodyPr wrap="square" lIns="0" rIns="0" tIns="0" bIns="0" anchor="t">
            <a:spAutoFit/>
          </a:bodyPr>
          <a:lstStyle/>
          <a:p>
            <a:pPr algn="l"/>
            <a:r>
              <a:rPr sz="1400" b="1" i="0">
                <a:solidFill>
                  <a:srgbClr val="FFFFFF"/>
                </a:solidFill>
                <a:latin typeface="Calibri"/>
              </a:rPr>
              <a:t>[YouTube / Vimeo / Google Drive link]</a:t>
            </a:r>
          </a:p>
        </p:txBody>
      </p:sp>
      <p:sp>
        <p:nvSpPr>
          <p:cNvPr id="10" name="Rounded Rectangle 9"/>
          <p:cNvSpPr/>
          <p:nvPr/>
        </p:nvSpPr>
        <p:spPr>
          <a:xfrm>
            <a:off x="548640" y="3383280"/>
            <a:ext cx="3886200" cy="777240"/>
          </a:xfrm>
          <a:prstGeom prst="roundRect">
            <a:avLst>
              <a:gd name="adj" fmla="val 12000"/>
            </a:avLst>
          </a:prstGeom>
          <a:solidFill>
            <a:srgbClr val="2F3450"/>
          </a:solidFill>
          <a:ln w="9525">
            <a:solidFill>
              <a:srgbClr val="3A406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77240" y="3493008"/>
            <a:ext cx="3474720" cy="228600"/>
          </a:xfrm>
          <a:prstGeom prst="rect">
            <a:avLst/>
          </a:prstGeom>
          <a:noFill/>
        </p:spPr>
        <p:txBody>
          <a:bodyPr wrap="square" lIns="0" rIns="0" tIns="0" bIns="0" anchor="t">
            <a:spAutoFit/>
          </a:bodyPr>
          <a:lstStyle/>
          <a:p>
            <a:pPr algn="l"/>
            <a:r>
              <a:rPr sz="900" b="1" i="0" spc="100">
                <a:solidFill>
                  <a:srgbClr val="A59EEF"/>
                </a:solidFill>
                <a:latin typeface="Calibri"/>
              </a:rPr>
              <a:t>CATEGORY</a:t>
            </a:r>
          </a:p>
        </p:txBody>
      </p:sp>
      <p:sp>
        <p:nvSpPr>
          <p:cNvPr id="12" name="TextBox 11"/>
          <p:cNvSpPr txBox="1"/>
          <p:nvPr/>
        </p:nvSpPr>
        <p:spPr>
          <a:xfrm>
            <a:off x="777240" y="3730752"/>
            <a:ext cx="3474720" cy="365760"/>
          </a:xfrm>
          <a:prstGeom prst="rect">
            <a:avLst/>
          </a:prstGeom>
          <a:noFill/>
        </p:spPr>
        <p:txBody>
          <a:bodyPr wrap="square" lIns="0" rIns="0" tIns="0" bIns="0" anchor="t">
            <a:spAutoFit/>
          </a:bodyPr>
          <a:lstStyle/>
          <a:p>
            <a:pPr algn="l"/>
            <a:r>
              <a:rPr sz="1400" b="1" i="0">
                <a:solidFill>
                  <a:srgbClr val="FFFFFF"/>
                </a:solidFill>
                <a:latin typeface="Calibri"/>
              </a:rPr>
              <a:t>Future of Work &amp; Enterprise Productivity</a:t>
            </a:r>
          </a:p>
        </p:txBody>
      </p:sp>
      <p:sp>
        <p:nvSpPr>
          <p:cNvPr id="13" name="Rounded Rectangle 12"/>
          <p:cNvSpPr/>
          <p:nvPr/>
        </p:nvSpPr>
        <p:spPr>
          <a:xfrm>
            <a:off x="4617720" y="3383280"/>
            <a:ext cx="3886200" cy="777240"/>
          </a:xfrm>
          <a:prstGeom prst="roundRect">
            <a:avLst>
              <a:gd name="adj" fmla="val 12000"/>
            </a:avLst>
          </a:prstGeom>
          <a:solidFill>
            <a:srgbClr val="2F3450"/>
          </a:solidFill>
          <a:ln w="9525">
            <a:solidFill>
              <a:srgbClr val="3A4062"/>
            </a:solidFill>
          </a:ln>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4846320" y="3493008"/>
            <a:ext cx="3474720" cy="228600"/>
          </a:xfrm>
          <a:prstGeom prst="rect">
            <a:avLst/>
          </a:prstGeom>
          <a:noFill/>
        </p:spPr>
        <p:txBody>
          <a:bodyPr wrap="square" lIns="0" rIns="0" tIns="0" bIns="0" anchor="t">
            <a:spAutoFit/>
          </a:bodyPr>
          <a:lstStyle/>
          <a:p>
            <a:pPr algn="l"/>
            <a:r>
              <a:rPr sz="900" b="1" i="0" spc="100">
                <a:solidFill>
                  <a:srgbClr val="A59EEF"/>
                </a:solidFill>
                <a:latin typeface="Calibri"/>
              </a:rPr>
              <a:t>TEAM GEMINIMAXX</a:t>
            </a:r>
          </a:p>
        </p:txBody>
      </p:sp>
      <p:sp>
        <p:nvSpPr>
          <p:cNvPr id="15" name="TextBox 14"/>
          <p:cNvSpPr txBox="1"/>
          <p:nvPr/>
        </p:nvSpPr>
        <p:spPr>
          <a:xfrm>
            <a:off x="4846320" y="3730752"/>
            <a:ext cx="3474720" cy="365760"/>
          </a:xfrm>
          <a:prstGeom prst="rect">
            <a:avLst/>
          </a:prstGeom>
          <a:noFill/>
        </p:spPr>
        <p:txBody>
          <a:bodyPr wrap="square" lIns="0" rIns="0" tIns="0" bIns="0" anchor="t">
            <a:spAutoFit/>
          </a:bodyPr>
          <a:lstStyle/>
          <a:p>
            <a:pPr algn="l"/>
            <a:r>
              <a:rPr sz="1400" b="1" i="0">
                <a:solidFill>
                  <a:srgbClr val="FFFFFF"/>
                </a:solidFill>
                <a:latin typeface="Calibri"/>
              </a:rPr>
              <a:t>Steffy Lo &amp; Mike Umali</a:t>
            </a:r>
          </a:p>
        </p:txBody>
      </p:sp>
      <p:sp>
        <p:nvSpPr>
          <p:cNvPr id="16" name="TextBox 15"/>
          <p:cNvSpPr txBox="1"/>
          <p:nvPr/>
        </p:nvSpPr>
        <p:spPr>
          <a:xfrm>
            <a:off x="548640" y="4526280"/>
            <a:ext cx="8046720" cy="274320"/>
          </a:xfrm>
          <a:prstGeom prst="rect">
            <a:avLst/>
          </a:prstGeom>
          <a:noFill/>
        </p:spPr>
        <p:txBody>
          <a:bodyPr wrap="square" lIns="0" rIns="0" tIns="0" bIns="0" anchor="t">
            <a:spAutoFit/>
          </a:bodyPr>
          <a:lstStyle/>
          <a:p>
            <a:pPr algn="l"/>
            <a:r>
              <a:rPr sz="1000" b="0" i="0">
                <a:solidFill>
                  <a:srgbClr val="C9CCE0"/>
                </a:solidFill>
                <a:latin typeface="Calibri"/>
              </a:rPr>
              <a:t>Built with Gemini 2.5 Flash on Vertex AI · Cloud Run · Firestore · Cloud Tasks · Firebase Auth · Secret Manager · Google Workspace APIs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