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presProps.xml" ContentType="application/vnd.openxmlformats-officedocument.presentationml.presPro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20C3768E-148E-4030-AC5A-DA2021684481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Prototype URL: https://decision-radar-web-ngm5jlvo5q-as.a.run.app . Connected projects require configured OAuth test-user access and project membership. The homepage opens synthetic fixture mode.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Teams make decisions on assumptions: dates, budgets, vendor commitments. Those assumptions change in documents and meetings every day, but decision records are static. Cite sources as shown.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Historical context, not current prevalence estimates or measured Decision Radar impact. McKinsey (2019), survey of 1,259 participants, 1,228 familiar with organisational decision-making: https://www.mckinsey.com/capabilities/people-and-organization/our-insights/decision-making-in-the-age-of-urgency . MGI (2012), nearly 20% of interaction-worker time: https://www.mckinsey.com/industries/technology-media-and-telecommunications/our-insights/the-social-economy . PMI (2018), Appendix p.25, respondents selected up to three primary causes among projects deemed failures: https://www.pmi.org/-/media/pmi/documents/public/pdf/learning/thought-leadership/pulse/pulse-of-the-profession-2018.pdf . Checked 17 October 2026.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This is our demo scenario and it is deliberately ordinary. The vendor update is a plain text file in a nested folder.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Four jobs: remember, watch, detect, explain. The human review step is a design principle, not an afterthought.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Current UI order requires an initial confirmed assumption before text extraction. Source: services/radar/api/routes/sources.py, worker/handlers.py and apps/web/src/components/live-decision-register.tsx. Model suggestions do not automatically become persisted active decisions.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Left: Sources page with the verified Gemini fact. Middle: the cited alert and review form with audit history.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The graph answers 'so what?'. It separates what the evidence directly shows from what is projected through dependencies.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This is the core technical idea. The model is used where language understanding matters and is fenced in by verification where precision matters.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Source default: VERTEX_MODEL=gemini-2.5-flash, VERTEX_LOCATION=us-central1, configurable. The deployed image/model version was not independently established in this edit; deck labels Gemini on Vertex AI without asserting the runtime model version. Source: services/radar/config.py, pipeline/gemini.py, pipeline/extraction.py, domain/assessment.py.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Three Cloud Run services from one repo. The web service is the only public surface; the API and worker are private and authenticated with service identities.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Simplified architecture. API invokes Vertex for extraction; the private worker handles queued refresh/analysis. API and worker both use Firestore and source storage; content-addressed snapshots are stored in GCS. Meet events use Workspace Events/Pub/Sub and renewal uses Scheduler where configured. Runtime defaults and deployment limits are documented in submission/TECHNICAL_DOCUMENTATION.md.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Evidence: docs/KAN23_QUALITY_EVALUATION.md (30 cases; one 25.2-second worker execution / about 30-second visible result; 16 Oct replay retained 11 sources, cited versions, one run/request/alert); docs/KAN26_DEMO_REHEARSAL.md (8–10 Oct mixed-environment checks and supported retry); docs/CLOUD_RUN_DEPLOYMENT_UAT_20261009.md (invalid UTF-8 failure/retry and corrected-input recovery). No claim of two uninterrupted final runs through the expanded export path, simultaneous refresh safety or production accuracy.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Existing tools store or summarise. Decision Radar is the first layer that treats a decision as something that can go stale and needs monitoring.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68B788C-D633-4ABA-92FE-7E214BFA9C03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These are intended beneficiaries and pilot outcomes. The prototype requires explicit refresh/assessment for Drive evidence; no customer productivity or adoption gains have been measured.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Table, Meet and brief/export feature UAT: PRs #24, #28 and #29. Meet delivery passed but a substantive spoken-update-through-assessment rehearsal remains outstanding. Retrieval, native Drive ACL filtering and enterprise connectors are roadmap work. No unmeasured cost savings or exactly-once guarantee is claimed.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GB" sz="2000" spc="-1" strike="noStrike">
                <a:latin typeface="Arial"/>
              </a:rPr>
              <a:t>Prototype: https://decision-radar-web-ngm5jlvo5q-as.a.run.app . Recording/public video link remains pending. The three-minute video and final signed-out link checks must be completed before submission.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1785B4D-7457-454F-A3BE-8907C9E735E0}" type="datetime">
              <a:rPr b="0" lang="en-GB" sz="1200" spc="-1" strike="noStrike">
                <a:solidFill>
                  <a:srgbClr val="8b8b8b"/>
                </a:solidFill>
                <a:latin typeface="Calibri"/>
                <a:ea typeface="Calibri"/>
              </a:rPr>
              <a:t>17/10/26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D3ABA59-C2ED-48EC-B545-3BF81B340927}" type="slidenum">
              <a:rPr b="0" lang="en-GB" sz="1200" spc="-1" strike="noStrike">
                <a:solidFill>
                  <a:srgbClr val="8b8b8b"/>
                </a:solidFill>
                <a:latin typeface="Calibri"/>
                <a:ea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decision-radar-web-ngm5jlvo5q-as.a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mckinsey.com/capabilities/people-and-organization/our-insights/decision-making-in-the-age-of-urgency" TargetMode="External"/><Relationship Id="rId2" Type="http://schemas.openxmlformats.org/officeDocument/2006/relationships/hyperlink" Target="https://www.mckinsey.com/industries/technology-media-and-telecommunications/our-insights/the-social-economy" TargetMode="External"/><Relationship Id="rId3" Type="http://schemas.openxmlformats.org/officeDocument/2006/relationships/hyperlink" Target="https://www.pmi.org/-/media/pmi/documents/public/pdf/learning/thought-leadership/pulse/pulse-of-the-profession-2018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decision-radar-web-ngm5jlvo5q-as.a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548640" y="502920"/>
            <a:ext cx="5120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100" spc="199" strike="noStrike">
                <a:solidFill>
                  <a:srgbClr val="a59eef"/>
                </a:solidFill>
                <a:latin typeface="Calibri"/>
                <a:ea typeface="Calibri"/>
              </a:rPr>
              <a:t>AI BUILDER CUP 2026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48" name="Rounded Rectangle 2"/>
          <p:cNvSpPr/>
          <p:nvPr/>
        </p:nvSpPr>
        <p:spPr>
          <a:xfrm>
            <a:off x="548640" y="841320"/>
            <a:ext cx="3977280" cy="310680"/>
          </a:xfrm>
          <a:prstGeom prst="roundRect">
            <a:avLst>
              <a:gd name="adj" fmla="val 50000"/>
            </a:avLst>
          </a:prstGeom>
          <a:solidFill>
            <a:srgbClr val="2f3450"/>
          </a:solidFill>
          <a:ln>
            <a:solidFill>
              <a:srgbClr val="3a40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548640" y="912600"/>
            <a:ext cx="3977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ffffff"/>
                </a:solidFill>
                <a:latin typeface="Calibri"/>
                <a:ea typeface="Calibri"/>
              </a:rPr>
              <a:t>Category: Future of Work &amp; Enterprise Productivity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548640" y="1417320"/>
            <a:ext cx="51202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4800" spc="-1" strike="noStrike">
                <a:solidFill>
                  <a:srgbClr val="ffffff"/>
                </a:solidFill>
                <a:latin typeface="Calibri"/>
                <a:ea typeface="Calibri"/>
              </a:rPr>
              <a:t>Decision </a:t>
            </a:r>
            <a:r>
              <a:rPr b="1" lang="en-GB" sz="4800" spc="-1" strike="noStrike">
                <a:solidFill>
                  <a:srgbClr val="a59eef"/>
                </a:solidFill>
                <a:latin typeface="Calibri"/>
                <a:ea typeface="Calibri"/>
              </a:rPr>
              <a:t>Radar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548640" y="22860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</a:pPr>
            <a:r>
              <a:rPr b="0" lang="en-GB" sz="2000" spc="-1" strike="noStrike">
                <a:solidFill>
                  <a:srgbClr val="dcddeb"/>
                </a:solidFill>
                <a:latin typeface="Calibri"/>
                <a:ea typeface="Calibri"/>
              </a:rPr>
              <a:t>Connect new evidence to the decisions your team needs to revisit.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548640" y="3429000"/>
            <a:ext cx="49374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ffffff"/>
                </a:solidFill>
                <a:latin typeface="Calibri"/>
                <a:ea typeface="Calibri"/>
              </a:rPr>
              <a:t>Team GeminiMaxx</a:t>
            </a:r>
            <a:r>
              <a:rPr b="0" lang="en-GB" sz="1300" spc="-1" strike="noStrike">
                <a:solidFill>
                  <a:srgbClr val="c9cce0"/>
                </a:solidFill>
                <a:latin typeface="Calibri"/>
                <a:ea typeface="Calibri"/>
              </a:rPr>
              <a:t>  ·  Steffy Lo &amp; Mike Umali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548640" y="3749040"/>
            <a:ext cx="493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c9cce0"/>
                </a:solidFill>
                <a:latin typeface="Calibri"/>
                <a:ea typeface="Calibri"/>
              </a:rPr>
              <a:t>Built with </a:t>
            </a:r>
            <a:r>
              <a:rPr b="1" lang="en-GB" sz="1200" spc="-1" strike="noStrike">
                <a:solidFill>
                  <a:srgbClr val="ffffff"/>
                </a:solidFill>
                <a:latin typeface="Calibri"/>
                <a:ea typeface="Calibri"/>
              </a:rPr>
              <a:t>Gemini on Vertex AI</a:t>
            </a:r>
            <a:r>
              <a:rPr b="0" lang="en-GB" sz="1200" spc="-1" strike="noStrike">
                <a:solidFill>
                  <a:srgbClr val="c9cce0"/>
                </a:solidFill>
                <a:latin typeface="Calibri"/>
                <a:ea typeface="Calibri"/>
              </a:rPr>
              <a:t>  ·  Deployed on </a:t>
            </a:r>
            <a:r>
              <a:rPr b="1" lang="en-GB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 Run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548640" y="4343400"/>
            <a:ext cx="5120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1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1"/>
              </a:rPr>
              <a:t>Open the Cloud Run prototype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5" name="Rounded Rectangle 9"/>
          <p:cNvSpPr/>
          <p:nvPr/>
        </p:nvSpPr>
        <p:spPr>
          <a:xfrm>
            <a:off x="5989320" y="777240"/>
            <a:ext cx="2651400" cy="868320"/>
          </a:xfrm>
          <a:prstGeom prst="roundRect">
            <a:avLst>
              <a:gd name="adj" fmla="val 12000"/>
            </a:avLst>
          </a:prstGeom>
          <a:solidFill>
            <a:srgbClr val="fff4de"/>
          </a:solidFill>
          <a:ln w="12700">
            <a:solidFill>
              <a:srgbClr val="e2c48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10"/>
          <p:cNvSpPr/>
          <p:nvPr/>
        </p:nvSpPr>
        <p:spPr>
          <a:xfrm>
            <a:off x="6099120" y="850320"/>
            <a:ext cx="24318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800" spc="97" strike="noStrike">
                <a:solidFill>
                  <a:srgbClr val="b7791f"/>
                </a:solidFill>
                <a:latin typeface="Calibri"/>
                <a:ea typeface="Calibri"/>
              </a:rPr>
              <a:t>EVIDENCE TRIGGER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6099120" y="1033200"/>
            <a:ext cx="2431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Vendor note: delivery moves Oct 15 → Oct 24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8" name="Connector 12"/>
          <p:cNvSpPr/>
          <p:nvPr/>
        </p:nvSpPr>
        <p:spPr>
          <a:xfrm>
            <a:off x="7315200" y="1645920"/>
            <a:ext cx="360" cy="274320"/>
          </a:xfrm>
          <a:prstGeom prst="line">
            <a:avLst/>
          </a:prstGeom>
          <a:ln w="19050"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" name="Rounded Rectangle 13"/>
          <p:cNvSpPr/>
          <p:nvPr/>
        </p:nvSpPr>
        <p:spPr>
          <a:xfrm>
            <a:off x="5989320" y="1920240"/>
            <a:ext cx="2651400" cy="868320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 w="12700">
            <a:solidFill>
              <a:srgbClr val="e6a9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14"/>
          <p:cNvSpPr/>
          <p:nvPr/>
        </p:nvSpPr>
        <p:spPr>
          <a:xfrm>
            <a:off x="6099120" y="1993320"/>
            <a:ext cx="24318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800" spc="97" strike="noStrike">
                <a:solidFill>
                  <a:srgbClr val="b13e49"/>
                </a:solidFill>
                <a:latin typeface="Calibri"/>
                <a:ea typeface="Calibri"/>
              </a:rPr>
              <a:t>DIRECT CHALLENGE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6099120" y="2176200"/>
            <a:ext cx="2431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Approve launch readiness on the Oct 15 plan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62" name="Connector 16"/>
          <p:cNvSpPr/>
          <p:nvPr/>
        </p:nvSpPr>
        <p:spPr>
          <a:xfrm>
            <a:off x="7315200" y="2788920"/>
            <a:ext cx="360" cy="274320"/>
          </a:xfrm>
          <a:prstGeom prst="line">
            <a:avLst/>
          </a:prstGeom>
          <a:ln w="19050"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" name="Rounded Rectangle 17"/>
          <p:cNvSpPr/>
          <p:nvPr/>
        </p:nvSpPr>
        <p:spPr>
          <a:xfrm>
            <a:off x="5989320" y="3063240"/>
            <a:ext cx="2651400" cy="86832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a9c4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18"/>
          <p:cNvSpPr/>
          <p:nvPr/>
        </p:nvSpPr>
        <p:spPr>
          <a:xfrm>
            <a:off x="6099120" y="3136320"/>
            <a:ext cx="24318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800" spc="97" strike="noStrike">
                <a:solidFill>
                  <a:srgbClr val="3f74ad"/>
                </a:solidFill>
                <a:latin typeface="Calibri"/>
                <a:ea typeface="Calibri"/>
              </a:rPr>
              <a:t>DOWNSTREAM EFFECT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65" name="TextBox 19"/>
          <p:cNvSpPr/>
          <p:nvPr/>
        </p:nvSpPr>
        <p:spPr>
          <a:xfrm>
            <a:off x="6099120" y="3319200"/>
            <a:ext cx="24318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Final readiness review and launch comms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66" name="Rounded Rectangle 20"/>
          <p:cNvSpPr/>
          <p:nvPr/>
        </p:nvSpPr>
        <p:spPr>
          <a:xfrm>
            <a:off x="8046720" y="658440"/>
            <a:ext cx="685440" cy="27396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21"/>
          <p:cNvSpPr/>
          <p:nvPr/>
        </p:nvSpPr>
        <p:spPr>
          <a:xfrm>
            <a:off x="8046720" y="718920"/>
            <a:ext cx="685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000" spc="-1" strike="noStrike">
                <a:solidFill>
                  <a:srgbClr val="ffffff"/>
                </a:solidFill>
                <a:latin typeface="Calibri"/>
                <a:ea typeface="Calibri"/>
              </a:rPr>
              <a:t>+9 days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THE PROBLEM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Decisions outlive the assumptions behind them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2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72" name="Rounded Rectangle 5"/>
          <p:cNvSpPr/>
          <p:nvPr/>
        </p:nvSpPr>
        <p:spPr>
          <a:xfrm>
            <a:off x="457200" y="1325880"/>
            <a:ext cx="260568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6"/>
          <p:cNvSpPr/>
          <p:nvPr/>
        </p:nvSpPr>
        <p:spPr>
          <a:xfrm>
            <a:off x="685800" y="1463040"/>
            <a:ext cx="21942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4400" spc="-1" strike="noStrike">
                <a:solidFill>
                  <a:srgbClr val="6258d8"/>
                </a:solidFill>
                <a:latin typeface="Calibri"/>
                <a:ea typeface="Calibri"/>
              </a:rPr>
              <a:t>37%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685800" y="21945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of survey respondents' time goes to decisions; most say over half is used ineffectively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85800" y="3090600"/>
            <a:ext cx="2194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9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1"/>
              </a:rPr>
              <a:t>McKinsey survey (2019)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3246120" y="1325880"/>
            <a:ext cx="260568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474720" y="1463040"/>
            <a:ext cx="21942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4400" spc="-1" strike="noStrike">
                <a:solidFill>
                  <a:srgbClr val="6258d8"/>
                </a:solidFill>
                <a:latin typeface="Calibri"/>
                <a:ea typeface="Calibri"/>
              </a:rPr>
              <a:t>~20%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3474720" y="2194560"/>
            <a:ext cx="219420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of interaction workers' workweek goes to finding information or helpful colleagues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3474720" y="3090600"/>
            <a:ext cx="2194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9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2"/>
              </a:rPr>
              <a:t>MGI, The social economy (2012)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6035040" y="1325880"/>
            <a:ext cx="260568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14"/>
          <p:cNvSpPr/>
          <p:nvPr/>
        </p:nvSpPr>
        <p:spPr>
          <a:xfrm>
            <a:off x="6263640" y="1463040"/>
            <a:ext cx="21942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4400" spc="-1" strike="noStrike">
                <a:solidFill>
                  <a:srgbClr val="6258d8"/>
                </a:solidFill>
                <a:latin typeface="Calibri"/>
                <a:ea typeface="Calibri"/>
              </a:rPr>
              <a:t>39%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6263640" y="2194560"/>
            <a:ext cx="219420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named changing priorities among project failure causes; 35% named inaccurate requirements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6263640" y="3090600"/>
            <a:ext cx="2194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9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PMI, Pulse of the Profession (2018)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4" name="Rounded Rectangle 17"/>
          <p:cNvSpPr/>
          <p:nvPr/>
        </p:nvSpPr>
        <p:spPr>
          <a:xfrm>
            <a:off x="457200" y="3703320"/>
            <a:ext cx="8183520" cy="868320"/>
          </a:xfrm>
          <a:prstGeom prst="roundRect">
            <a:avLst>
              <a:gd name="adj" fmla="val 12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18"/>
          <p:cNvSpPr/>
          <p:nvPr/>
        </p:nvSpPr>
        <p:spPr>
          <a:xfrm>
            <a:off x="685800" y="3893760"/>
            <a:ext cx="7772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A vendor update can challenge a launch assumption while the decision record stays unchanged. The team needs to connect the new evidence to the decisions it affects.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WHY IT HAPPENS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502920"/>
            <a:ext cx="82292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A nine-day delay the launch plan missed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3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457200" y="1325880"/>
            <a:ext cx="1919880" cy="251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ounded Rectangle 6"/>
          <p:cNvSpPr/>
          <p:nvPr/>
        </p:nvSpPr>
        <p:spPr>
          <a:xfrm>
            <a:off x="64008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7"/>
          <p:cNvSpPr/>
          <p:nvPr/>
        </p:nvSpPr>
        <p:spPr>
          <a:xfrm>
            <a:off x="64008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5146c5"/>
                </a:solidFill>
                <a:latin typeface="Calibri"/>
                <a:ea typeface="Calibri"/>
              </a:rPr>
              <a:t>1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1115640" y="1579680"/>
            <a:ext cx="118836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Decide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640080" y="2057400"/>
            <a:ext cx="1599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Launch readiness approved, assuming Acme delivers the integration package by Oct 15.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640080" y="3401640"/>
            <a:ext cx="1599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-1" strike="noStrike">
                <a:solidFill>
                  <a:srgbClr val="5146c5"/>
                </a:solidFill>
                <a:latin typeface="Calibri"/>
                <a:ea typeface="Calibri"/>
              </a:rPr>
              <a:t>Decision doc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96" name="Connector 11"/>
          <p:cNvSpPr/>
          <p:nvPr/>
        </p:nvSpPr>
        <p:spPr>
          <a:xfrm>
            <a:off x="2395440" y="2578320"/>
            <a:ext cx="14652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" name="Rounded Rectangle 12"/>
          <p:cNvSpPr/>
          <p:nvPr/>
        </p:nvSpPr>
        <p:spPr>
          <a:xfrm>
            <a:off x="2560320" y="1325880"/>
            <a:ext cx="1919880" cy="251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Rounded Rectangle 13"/>
          <p:cNvSpPr/>
          <p:nvPr/>
        </p:nvSpPr>
        <p:spPr>
          <a:xfrm>
            <a:off x="274320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fff4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14"/>
          <p:cNvSpPr/>
          <p:nvPr/>
        </p:nvSpPr>
        <p:spPr>
          <a:xfrm>
            <a:off x="274320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b7791f"/>
                </a:solidFill>
                <a:latin typeface="Calibri"/>
                <a:ea typeface="Calibri"/>
              </a:rPr>
              <a:t>2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00" name="TextBox 15"/>
          <p:cNvSpPr/>
          <p:nvPr/>
        </p:nvSpPr>
        <p:spPr>
          <a:xfrm>
            <a:off x="3218760" y="1579680"/>
            <a:ext cx="118836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Drift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2743200" y="2057400"/>
            <a:ext cx="15998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A vendor note in a Drive subfolder now says Oct 24.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02" name="TextBox 17"/>
          <p:cNvSpPr/>
          <p:nvPr/>
        </p:nvSpPr>
        <p:spPr>
          <a:xfrm>
            <a:off x="2743200" y="3401640"/>
            <a:ext cx="1599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-1" strike="noStrike">
                <a:solidFill>
                  <a:srgbClr val="b7791f"/>
                </a:solidFill>
                <a:latin typeface="Calibri"/>
                <a:ea typeface="Calibri"/>
              </a:rPr>
              <a:t>vendor-update.txt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03" name="Connector 18"/>
          <p:cNvSpPr/>
          <p:nvPr/>
        </p:nvSpPr>
        <p:spPr>
          <a:xfrm>
            <a:off x="4498560" y="2578320"/>
            <a:ext cx="14652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" name="Rounded Rectangle 19"/>
          <p:cNvSpPr/>
          <p:nvPr/>
        </p:nvSpPr>
        <p:spPr>
          <a:xfrm>
            <a:off x="4663440" y="1325880"/>
            <a:ext cx="1919880" cy="251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ounded Rectangle 20"/>
          <p:cNvSpPr/>
          <p:nvPr/>
        </p:nvSpPr>
        <p:spPr>
          <a:xfrm>
            <a:off x="484632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f1f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21"/>
          <p:cNvSpPr/>
          <p:nvPr/>
        </p:nvSpPr>
        <p:spPr>
          <a:xfrm>
            <a:off x="484632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626a7b"/>
                </a:solidFill>
                <a:latin typeface="Calibri"/>
                <a:ea typeface="Calibri"/>
              </a:rPr>
              <a:t>3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5321880" y="1579680"/>
            <a:ext cx="118836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Silence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08" name="TextBox 23"/>
          <p:cNvSpPr/>
          <p:nvPr/>
        </p:nvSpPr>
        <p:spPr>
          <a:xfrm>
            <a:off x="4846320" y="2057400"/>
            <a:ext cx="15998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Nobody links the note to the decision. The plan still says Oct 15.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09" name="TextBox 24"/>
          <p:cNvSpPr/>
          <p:nvPr/>
        </p:nvSpPr>
        <p:spPr>
          <a:xfrm>
            <a:off x="4846320" y="3401640"/>
            <a:ext cx="1599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-1" strike="noStrike">
                <a:solidFill>
                  <a:srgbClr val="626a7b"/>
                </a:solidFill>
                <a:latin typeface="Calibri"/>
                <a:ea typeface="Calibri"/>
              </a:rPr>
              <a:t>No owner, no alert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10" name="Connector 25"/>
          <p:cNvSpPr/>
          <p:nvPr/>
        </p:nvSpPr>
        <p:spPr>
          <a:xfrm>
            <a:off x="6601680" y="2578320"/>
            <a:ext cx="14652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" name="Rounded Rectangle 26"/>
          <p:cNvSpPr/>
          <p:nvPr/>
        </p:nvSpPr>
        <p:spPr>
          <a:xfrm>
            <a:off x="6766560" y="1325880"/>
            <a:ext cx="1919880" cy="251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ounded Rectangle 27"/>
          <p:cNvSpPr/>
          <p:nvPr/>
        </p:nvSpPr>
        <p:spPr>
          <a:xfrm>
            <a:off x="694944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ff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28"/>
          <p:cNvSpPr/>
          <p:nvPr/>
        </p:nvSpPr>
        <p:spPr>
          <a:xfrm>
            <a:off x="694944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b13e49"/>
                </a:solidFill>
                <a:latin typeface="Calibri"/>
                <a:ea typeface="Calibri"/>
              </a:rPr>
              <a:t>4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14" name="TextBox 29"/>
          <p:cNvSpPr/>
          <p:nvPr/>
        </p:nvSpPr>
        <p:spPr>
          <a:xfrm>
            <a:off x="7425000" y="1579680"/>
            <a:ext cx="118836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Surprise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15" name="TextBox 30"/>
          <p:cNvSpPr/>
          <p:nvPr/>
        </p:nvSpPr>
        <p:spPr>
          <a:xfrm>
            <a:off x="6949440" y="2057400"/>
            <a:ext cx="1599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300" spc="-1" strike="noStrike">
                <a:solidFill>
                  <a:srgbClr val="202331"/>
                </a:solidFill>
                <a:latin typeface="Calibri"/>
                <a:ea typeface="Calibri"/>
              </a:rPr>
              <a:t>The slip surfaces in a status meeting, after the readiness review and launch comms are booked.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16" name="TextBox 31"/>
          <p:cNvSpPr/>
          <p:nvPr/>
        </p:nvSpPr>
        <p:spPr>
          <a:xfrm>
            <a:off x="6949440" y="3401640"/>
            <a:ext cx="1599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-1" strike="noStrike">
                <a:solidFill>
                  <a:srgbClr val="b13e49"/>
                </a:solidFill>
                <a:latin typeface="Calibri"/>
                <a:ea typeface="Calibri"/>
              </a:rPr>
              <a:t>Rework and lost trust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17" name="TextBox 32"/>
          <p:cNvSpPr/>
          <p:nvPr/>
        </p:nvSpPr>
        <p:spPr>
          <a:xfrm>
            <a:off x="457200" y="4069080"/>
            <a:ext cx="81835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The gap is the connection between evidence and decisions. A stored plan can stay unchanged when nobody has reviewed the newer vendor note.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OUR SOLUTION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Organisational memory that checks itself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4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457200" y="1280160"/>
            <a:ext cx="4023000" cy="1188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Rounded Rectangle 6"/>
          <p:cNvSpPr/>
          <p:nvPr/>
        </p:nvSpPr>
        <p:spPr>
          <a:xfrm>
            <a:off x="685800" y="1508760"/>
            <a:ext cx="456840" cy="45684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7"/>
          <p:cNvSpPr/>
          <p:nvPr/>
        </p:nvSpPr>
        <p:spPr>
          <a:xfrm>
            <a:off x="685800" y="16070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700" spc="-1" strike="noStrike">
                <a:solidFill>
                  <a:srgbClr val="5146c5"/>
                </a:solidFill>
                <a:latin typeface="Calibri"/>
                <a:ea typeface="Calibri"/>
              </a:rPr>
              <a:t>R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1325880" y="1463040"/>
            <a:ext cx="2971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Remember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1325880" y="1783080"/>
            <a:ext cx="3017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A decision register where every decision keeps its owner, rationale, revision and quoted source evidence.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27" name="Rounded Rectangle 10"/>
          <p:cNvSpPr/>
          <p:nvPr/>
        </p:nvSpPr>
        <p:spPr>
          <a:xfrm>
            <a:off x="4617720" y="1280160"/>
            <a:ext cx="4023000" cy="1188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ounded Rectangle 11"/>
          <p:cNvSpPr/>
          <p:nvPr/>
        </p:nvSpPr>
        <p:spPr>
          <a:xfrm>
            <a:off x="4846320" y="1508760"/>
            <a:ext cx="456840" cy="45684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12"/>
          <p:cNvSpPr/>
          <p:nvPr/>
        </p:nvSpPr>
        <p:spPr>
          <a:xfrm>
            <a:off x="4846320" y="16070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700" spc="-1" strike="noStrike">
                <a:solidFill>
                  <a:srgbClr val="5146c5"/>
                </a:solidFill>
                <a:latin typeface="Calibri"/>
                <a:ea typeface="Calibri"/>
              </a:rPr>
              <a:t>W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5486400" y="1463040"/>
            <a:ext cx="2971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Watch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5486400" y="1783080"/>
            <a:ext cx="3017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Manually refresh one Drive folder and its direct subfolders. Preserve changed content as versioned snapshots.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32" name="Rounded Rectangle 15"/>
          <p:cNvSpPr/>
          <p:nvPr/>
        </p:nvSpPr>
        <p:spPr>
          <a:xfrm>
            <a:off x="457200" y="2651760"/>
            <a:ext cx="4023000" cy="1188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ounded Rectangle 16"/>
          <p:cNvSpPr/>
          <p:nvPr/>
        </p:nvSpPr>
        <p:spPr>
          <a:xfrm>
            <a:off x="685800" y="2880360"/>
            <a:ext cx="456840" cy="45684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17"/>
          <p:cNvSpPr/>
          <p:nvPr/>
        </p:nvSpPr>
        <p:spPr>
          <a:xfrm>
            <a:off x="685800" y="29786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700" spc="-1" strike="noStrike">
                <a:solidFill>
                  <a:srgbClr val="5146c5"/>
                </a:solidFill>
                <a:latin typeface="Calibri"/>
                <a:ea typeface="Calibri"/>
              </a:rPr>
              <a:t>D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1325880" y="2834640"/>
            <a:ext cx="2971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Detect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1325880" y="3154680"/>
            <a:ext cx="3017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Gemini extracts new facts; typed rules compare them with monitored assumptions and raise cited alerts.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37" name="Rounded Rectangle 20"/>
          <p:cNvSpPr/>
          <p:nvPr/>
        </p:nvSpPr>
        <p:spPr>
          <a:xfrm>
            <a:off x="4617720" y="2651760"/>
            <a:ext cx="4023000" cy="1188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ounded Rectangle 21"/>
          <p:cNvSpPr/>
          <p:nvPr/>
        </p:nvSpPr>
        <p:spPr>
          <a:xfrm>
            <a:off x="4846320" y="2880360"/>
            <a:ext cx="456840" cy="45684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22"/>
          <p:cNvSpPr/>
          <p:nvPr/>
        </p:nvSpPr>
        <p:spPr>
          <a:xfrm>
            <a:off x="4846320" y="29786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700" spc="-1" strike="noStrike">
                <a:solidFill>
                  <a:srgbClr val="5146c5"/>
                </a:solidFill>
                <a:latin typeface="Calibri"/>
                <a:ea typeface="Calibri"/>
              </a:rPr>
              <a:t>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40" name="TextBox 23"/>
          <p:cNvSpPr/>
          <p:nvPr/>
        </p:nvSpPr>
        <p:spPr>
          <a:xfrm>
            <a:off x="5486400" y="2834640"/>
            <a:ext cx="2971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700" spc="-1" strike="noStrike">
                <a:solidFill>
                  <a:srgbClr val="24283b"/>
                </a:solidFill>
                <a:latin typeface="Calibri"/>
                <a:ea typeface="Calibri"/>
              </a:rPr>
              <a:t>Explain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41" name="TextBox 24"/>
          <p:cNvSpPr/>
          <p:nvPr/>
        </p:nvSpPr>
        <p:spPr>
          <a:xfrm>
            <a:off x="5486400" y="3154680"/>
            <a:ext cx="3017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Trace a challenged decision through recorded dependencies, with direct evidence separated from projected effects.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42" name="Rounded Rectangle 25"/>
          <p:cNvSpPr/>
          <p:nvPr/>
        </p:nvSpPr>
        <p:spPr>
          <a:xfrm>
            <a:off x="457200" y="4069080"/>
            <a:ext cx="8183520" cy="5482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26"/>
          <p:cNvSpPr/>
          <p:nvPr/>
        </p:nvSpPr>
        <p:spPr>
          <a:xfrm>
            <a:off x="687960" y="4104000"/>
            <a:ext cx="7772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7786c"/>
                </a:solidFill>
                <a:latin typeface="Calibri"/>
                <a:ea typeface="Calibri"/>
              </a:rPr>
              <a:t>Humans stay in charge. </a:t>
            </a:r>
            <a:r>
              <a:rPr b="0" lang="en-US" sz="1400" spc="-1" strike="noStrike">
                <a:solidFill>
                  <a:srgbClr val="202331"/>
                </a:solidFill>
                <a:latin typeface="Calibri"/>
                <a:ea typeface="Calibri"/>
              </a:rPr>
              <a:t>No decision enters monitoring until an editor confirms it, and no decision changes without a recorded review.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HOW IT WORKS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57200" y="502920"/>
            <a:ext cx="82292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The source-to-review workflow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5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8" name="Rounded Rectangle 5"/>
          <p:cNvSpPr/>
          <p:nvPr/>
        </p:nvSpPr>
        <p:spPr>
          <a:xfrm>
            <a:off x="457200" y="1325880"/>
            <a:ext cx="1517400" cy="2742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ounded Rectangle 6"/>
          <p:cNvSpPr/>
          <p:nvPr/>
        </p:nvSpPr>
        <p:spPr>
          <a:xfrm>
            <a:off x="62172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7"/>
          <p:cNvSpPr/>
          <p:nvPr/>
        </p:nvSpPr>
        <p:spPr>
          <a:xfrm>
            <a:off x="62172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5146c5"/>
                </a:solidFill>
                <a:latin typeface="Calibri"/>
                <a:ea typeface="Calibri"/>
              </a:rPr>
              <a:t>1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621720" y="2011680"/>
            <a:ext cx="1234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24283b"/>
                </a:solidFill>
                <a:latin typeface="Calibri"/>
                <a:ea typeface="Calibri"/>
              </a:rPr>
              <a:t>Connect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621720" y="2377440"/>
            <a:ext cx="124308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Sign in and connect Drive. Refresh the root and direct subfolders, up to 100 files.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53" name="Connector 10"/>
          <p:cNvSpPr/>
          <p:nvPr/>
        </p:nvSpPr>
        <p:spPr>
          <a:xfrm>
            <a:off x="1983960" y="2697480"/>
            <a:ext cx="12816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4" name="Rounded Rectangle 11"/>
          <p:cNvSpPr/>
          <p:nvPr/>
        </p:nvSpPr>
        <p:spPr>
          <a:xfrm>
            <a:off x="2121480" y="1325880"/>
            <a:ext cx="1517400" cy="2742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Rounded Rectangle 12"/>
          <p:cNvSpPr/>
          <p:nvPr/>
        </p:nvSpPr>
        <p:spPr>
          <a:xfrm>
            <a:off x="228600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625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13"/>
          <p:cNvSpPr/>
          <p:nvPr/>
        </p:nvSpPr>
        <p:spPr>
          <a:xfrm>
            <a:off x="228600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57" name="TextBox 14"/>
          <p:cNvSpPr/>
          <p:nvPr/>
        </p:nvSpPr>
        <p:spPr>
          <a:xfrm>
            <a:off x="2286000" y="2011680"/>
            <a:ext cx="12340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24283b"/>
                </a:solidFill>
                <a:latin typeface="Calibri"/>
                <a:ea typeface="Calibri"/>
              </a:rPr>
              <a:t>Confirm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2286000" y="2377440"/>
            <a:ext cx="12430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Create a quote-backed decision draft. Confirm its owner, rationale and monitored date.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59" name="Connector 16"/>
          <p:cNvSpPr/>
          <p:nvPr/>
        </p:nvSpPr>
        <p:spPr>
          <a:xfrm>
            <a:off x="3648240" y="2697480"/>
            <a:ext cx="12816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0" name="Rounded Rectangle 17"/>
          <p:cNvSpPr/>
          <p:nvPr/>
        </p:nvSpPr>
        <p:spPr>
          <a:xfrm>
            <a:off x="3785760" y="1325880"/>
            <a:ext cx="1517400" cy="2742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Rounded Rectangle 18"/>
          <p:cNvSpPr/>
          <p:nvPr/>
        </p:nvSpPr>
        <p:spPr>
          <a:xfrm>
            <a:off x="395028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19"/>
          <p:cNvSpPr/>
          <p:nvPr/>
        </p:nvSpPr>
        <p:spPr>
          <a:xfrm>
            <a:off x="395028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5146c5"/>
                </a:solidFill>
                <a:latin typeface="Calibri"/>
                <a:ea typeface="Calibri"/>
              </a:rPr>
              <a:t>3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3950280" y="2011680"/>
            <a:ext cx="12340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24283b"/>
                </a:solidFill>
                <a:latin typeface="Calibri"/>
                <a:ea typeface="Calibri"/>
              </a:rPr>
              <a:t>Extract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64" name="TextBox 21"/>
          <p:cNvSpPr/>
          <p:nvPr/>
        </p:nvSpPr>
        <p:spPr>
          <a:xfrm>
            <a:off x="3950280" y="2377440"/>
            <a:ext cx="124308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Select the active assumption and trusted wording. Gemini proposes cited facts and decision suggestions.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65" name="Connector 22"/>
          <p:cNvSpPr/>
          <p:nvPr/>
        </p:nvSpPr>
        <p:spPr>
          <a:xfrm>
            <a:off x="5312520" y="2697480"/>
            <a:ext cx="12816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" name="Rounded Rectangle 23"/>
          <p:cNvSpPr/>
          <p:nvPr/>
        </p:nvSpPr>
        <p:spPr>
          <a:xfrm>
            <a:off x="5449680" y="1325880"/>
            <a:ext cx="1517400" cy="2742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Rounded Rectangle 24"/>
          <p:cNvSpPr/>
          <p:nvPr/>
        </p:nvSpPr>
        <p:spPr>
          <a:xfrm>
            <a:off x="561456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625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25"/>
          <p:cNvSpPr/>
          <p:nvPr/>
        </p:nvSpPr>
        <p:spPr>
          <a:xfrm>
            <a:off x="561456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69" name="TextBox 26"/>
          <p:cNvSpPr/>
          <p:nvPr/>
        </p:nvSpPr>
        <p:spPr>
          <a:xfrm>
            <a:off x="5614560" y="2011680"/>
            <a:ext cx="1234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24283b"/>
                </a:solidFill>
                <a:latin typeface="Calibri"/>
                <a:ea typeface="Calibri"/>
              </a:rPr>
              <a:t>Assess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70" name="TextBox 27"/>
          <p:cNvSpPr/>
          <p:nvPr/>
        </p:nvSpPr>
        <p:spPr>
          <a:xfrm>
            <a:off x="5614560" y="2377440"/>
            <a:ext cx="12430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New facts are compared by date, amount or status. Contradictions become cited alerts.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71" name="Connector 28"/>
          <p:cNvSpPr/>
          <p:nvPr/>
        </p:nvSpPr>
        <p:spPr>
          <a:xfrm>
            <a:off x="6976800" y="2697480"/>
            <a:ext cx="12780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" name="Rounded Rectangle 29"/>
          <p:cNvSpPr/>
          <p:nvPr/>
        </p:nvSpPr>
        <p:spPr>
          <a:xfrm>
            <a:off x="7113960" y="1325880"/>
            <a:ext cx="1517400" cy="2742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ounded Rectangle 30"/>
          <p:cNvSpPr/>
          <p:nvPr/>
        </p:nvSpPr>
        <p:spPr>
          <a:xfrm>
            <a:off x="7278480" y="1508760"/>
            <a:ext cx="383760" cy="3837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31"/>
          <p:cNvSpPr/>
          <p:nvPr/>
        </p:nvSpPr>
        <p:spPr>
          <a:xfrm>
            <a:off x="7278480" y="1586160"/>
            <a:ext cx="38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500" spc="-1" strike="noStrike">
                <a:solidFill>
                  <a:srgbClr val="5146c5"/>
                </a:solidFill>
                <a:latin typeface="Calibri"/>
                <a:ea typeface="Calibri"/>
              </a:rPr>
              <a:t>5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75" name="TextBox 32"/>
          <p:cNvSpPr/>
          <p:nvPr/>
        </p:nvSpPr>
        <p:spPr>
          <a:xfrm>
            <a:off x="7278480" y="2011680"/>
            <a:ext cx="1234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24283b"/>
                </a:solidFill>
                <a:latin typeface="Calibri"/>
                <a:ea typeface="Calibri"/>
              </a:rPr>
              <a:t>Review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76" name="TextBox 33"/>
          <p:cNvSpPr/>
          <p:nvPr/>
        </p:nvSpPr>
        <p:spPr>
          <a:xfrm>
            <a:off x="7278480" y="2377440"/>
            <a:ext cx="12430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Keep, Revise, Retire, Dismiss or Request clarification, with a rationale and audit entry.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77" name="TextBox 34"/>
          <p:cNvSpPr/>
          <p:nvPr/>
        </p:nvSpPr>
        <p:spPr>
          <a:xfrm>
            <a:off x="457200" y="4224600"/>
            <a:ext cx="8183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5146c5"/>
                </a:solidFill>
                <a:latin typeface="Calibri"/>
                <a:ea typeface="Calibri"/>
              </a:rPr>
              <a:t>Gemini extraction runs through the API. Cloud Tasks sends refresh and typed assessment to the private worker. Reviews remain human actions.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THE PROTOTYPE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Every alert shows its receipts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6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82" name="Rounded Rectangle 5"/>
          <p:cNvSpPr/>
          <p:nvPr/>
        </p:nvSpPr>
        <p:spPr>
          <a:xfrm>
            <a:off x="475560" y="1225440"/>
            <a:ext cx="3117600" cy="1401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3" name="Picture 6" descr=""/>
          <p:cNvPicPr/>
          <p:nvPr/>
        </p:nvPicPr>
        <p:blipFill>
          <a:blip r:embed="rId1"/>
          <a:stretch/>
        </p:blipFill>
        <p:spPr>
          <a:xfrm>
            <a:off x="548640" y="1298520"/>
            <a:ext cx="2971440" cy="1254960"/>
          </a:xfrm>
          <a:prstGeom prst="rect">
            <a:avLst/>
          </a:prstGeom>
          <a:ln w="0">
            <a:noFill/>
          </a:ln>
        </p:spPr>
      </p:pic>
      <p:sp>
        <p:nvSpPr>
          <p:cNvPr id="184" name="Rounded Rectangle 7"/>
          <p:cNvSpPr/>
          <p:nvPr/>
        </p:nvSpPr>
        <p:spPr>
          <a:xfrm>
            <a:off x="3675960" y="1225440"/>
            <a:ext cx="2203200" cy="1316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5" name="Picture 8" descr=""/>
          <p:cNvPicPr/>
          <p:nvPr/>
        </p:nvPicPr>
        <p:blipFill>
          <a:blip r:embed="rId2"/>
          <a:stretch/>
        </p:blipFill>
        <p:spPr>
          <a:xfrm>
            <a:off x="3749040" y="1298520"/>
            <a:ext cx="2057040" cy="1170360"/>
          </a:xfrm>
          <a:prstGeom prst="rect">
            <a:avLst/>
          </a:prstGeom>
          <a:ln w="0">
            <a:noFill/>
          </a:ln>
        </p:spPr>
      </p:pic>
      <p:sp>
        <p:nvSpPr>
          <p:cNvPr id="186" name="Rounded Rectangle 9"/>
          <p:cNvSpPr/>
          <p:nvPr/>
        </p:nvSpPr>
        <p:spPr>
          <a:xfrm>
            <a:off x="475560" y="2898720"/>
            <a:ext cx="5403600" cy="14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7" name="Picture 10" descr=""/>
          <p:cNvPicPr/>
          <p:nvPr/>
        </p:nvPicPr>
        <p:blipFill>
          <a:blip r:embed="rId3"/>
          <a:stretch/>
        </p:blipFill>
        <p:spPr>
          <a:xfrm>
            <a:off x="548640" y="2971800"/>
            <a:ext cx="5257440" cy="1314000"/>
          </a:xfrm>
          <a:prstGeom prst="rect">
            <a:avLst/>
          </a:prstGeom>
          <a:ln w="0">
            <a:noFill/>
          </a:ln>
        </p:spPr>
      </p:pic>
      <p:sp>
        <p:nvSpPr>
          <p:cNvPr id="188" name="TextBox 11"/>
          <p:cNvSpPr/>
          <p:nvPr/>
        </p:nvSpPr>
        <p:spPr>
          <a:xfrm>
            <a:off x="6172200" y="1261800"/>
            <a:ext cx="25142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Verified fact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189" name="TextBox 12"/>
          <p:cNvSpPr/>
          <p:nvPr/>
        </p:nvSpPr>
        <p:spPr>
          <a:xfrm>
            <a:off x="6172200" y="1536120"/>
            <a:ext cx="2514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Gemini reads vendor-update.txt and saves one fact, Acme Logistics · delivery date, with the exact sentence it came from.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0" name="TextBox 13"/>
          <p:cNvSpPr/>
          <p:nvPr/>
        </p:nvSpPr>
        <p:spPr>
          <a:xfrm>
            <a:off x="6172200" y="2340720"/>
            <a:ext cx="25142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Side-by-side evidence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191" name="TextBox 14"/>
          <p:cNvSpPr/>
          <p:nvPr/>
        </p:nvSpPr>
        <p:spPr>
          <a:xfrm>
            <a:off x="6172200" y="2615040"/>
            <a:ext cx="2514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The alert puts the original Oct 15 assumption next to the new Oct 24 fact, each with an Open source link.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2" name="TextBox 15"/>
          <p:cNvSpPr/>
          <p:nvPr/>
        </p:nvSpPr>
        <p:spPr>
          <a:xfrm>
            <a:off x="6172200" y="3420000"/>
            <a:ext cx="25142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Recorded review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193" name="TextBox 16"/>
          <p:cNvSpPr/>
          <p:nvPr/>
        </p:nvSpPr>
        <p:spPr>
          <a:xfrm>
            <a:off x="6172200" y="3694320"/>
            <a:ext cx="2514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The reviewer picks an action and writes a rationale. The audit entry records the decision revision before and after.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4" name="TextBox 17"/>
          <p:cNvSpPr/>
          <p:nvPr/>
        </p:nvSpPr>
        <p:spPr>
          <a:xfrm>
            <a:off x="457200" y="4370760"/>
            <a:ext cx="5486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Screens from the deployed Cloud Run prototype, synthetic project data, 10 Oct 2026</a:t>
            </a:r>
            <a:endParaRPr b="0" lang="en-GB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THE FLAGSHIP VIEW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Follow the ripple: the impact graph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7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99" name="Rounded Rectangle 5"/>
          <p:cNvSpPr/>
          <p:nvPr/>
        </p:nvSpPr>
        <p:spPr>
          <a:xfrm>
            <a:off x="457200" y="1207080"/>
            <a:ext cx="3520080" cy="324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00" name="Picture 6" descr=""/>
          <p:cNvPicPr/>
          <p:nvPr/>
        </p:nvPicPr>
        <p:blipFill>
          <a:blip r:embed="rId1"/>
          <a:stretch/>
        </p:blipFill>
        <p:spPr>
          <a:xfrm>
            <a:off x="1189440" y="1325880"/>
            <a:ext cx="2055600" cy="3017160"/>
          </a:xfrm>
          <a:prstGeom prst="rect">
            <a:avLst/>
          </a:prstGeom>
          <a:ln w="0">
            <a:noFill/>
          </a:ln>
        </p:spPr>
      </p:pic>
      <p:sp>
        <p:nvSpPr>
          <p:cNvPr id="201" name="Rounded Rectangle 7"/>
          <p:cNvSpPr/>
          <p:nvPr/>
        </p:nvSpPr>
        <p:spPr>
          <a:xfrm>
            <a:off x="4343400" y="1334880"/>
            <a:ext cx="237240" cy="237240"/>
          </a:xfrm>
          <a:prstGeom prst="roundRect">
            <a:avLst>
              <a:gd name="adj" fmla="val 30000"/>
            </a:avLst>
          </a:prstGeom>
          <a:solidFill>
            <a:srgbClr val="fff4de"/>
          </a:solidFill>
          <a:ln w="19050">
            <a:solidFill>
              <a:srgbClr val="b779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8"/>
          <p:cNvSpPr/>
          <p:nvPr/>
        </p:nvSpPr>
        <p:spPr>
          <a:xfrm>
            <a:off x="4727520" y="1280160"/>
            <a:ext cx="3840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Evidence trigger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4727520" y="1572840"/>
            <a:ext cx="3840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The new fact and how far it moved the date (+9 days).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04" name="Rounded Rectangle 10"/>
          <p:cNvSpPr/>
          <p:nvPr/>
        </p:nvSpPr>
        <p:spPr>
          <a:xfrm>
            <a:off x="4343400" y="2112120"/>
            <a:ext cx="237240" cy="237240"/>
          </a:xfrm>
          <a:prstGeom prst="roundRect">
            <a:avLst>
              <a:gd name="adj" fmla="val 30000"/>
            </a:avLst>
          </a:prstGeom>
          <a:solidFill>
            <a:srgbClr val="fff0f2"/>
          </a:solidFill>
          <a:ln w="19050">
            <a:solidFill>
              <a:srgbClr val="b13e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11"/>
          <p:cNvSpPr/>
          <p:nvPr/>
        </p:nvSpPr>
        <p:spPr>
          <a:xfrm>
            <a:off x="4727520" y="2057400"/>
            <a:ext cx="3840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Direct challenge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4727520" y="2350080"/>
            <a:ext cx="3840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The decision whose monitored assumption is contradicted.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07" name="Rounded Rectangle 13"/>
          <p:cNvSpPr/>
          <p:nvPr/>
        </p:nvSpPr>
        <p:spPr>
          <a:xfrm>
            <a:off x="4343400" y="2889360"/>
            <a:ext cx="237240" cy="237240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 w="19050">
            <a:solidFill>
              <a:srgbClr val="3f74a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TextBox 14"/>
          <p:cNvSpPr/>
          <p:nvPr/>
        </p:nvSpPr>
        <p:spPr>
          <a:xfrm>
            <a:off x="4727520" y="2834640"/>
            <a:ext cx="3840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Downstream effect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4727520" y="31273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Decisions that depend on it through recorded links, shown as projected effects.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4343400" y="3657600"/>
            <a:ext cx="4297320" cy="712800"/>
          </a:xfrm>
          <a:prstGeom prst="roundRect">
            <a:avLst>
              <a:gd name="adj" fmla="val 12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17"/>
          <p:cNvSpPr/>
          <p:nvPr/>
        </p:nvSpPr>
        <p:spPr>
          <a:xfrm>
            <a:off x="4526280" y="37396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Ordered dependency path, direct evidence kept separate from projections. Works by mouse or keyboard, and at phone width (390 px).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GEN AI IMPLEMENTATION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Gemini reads. Rules check. People decide.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8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16" name="Rounded Rectangle 5"/>
          <p:cNvSpPr/>
          <p:nvPr/>
        </p:nvSpPr>
        <p:spPr>
          <a:xfrm>
            <a:off x="457200" y="1280160"/>
            <a:ext cx="2605680" cy="2697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Rounded Rectangle 6"/>
          <p:cNvSpPr/>
          <p:nvPr/>
        </p:nvSpPr>
        <p:spPr>
          <a:xfrm>
            <a:off x="457200" y="1280160"/>
            <a:ext cx="2605680" cy="456840"/>
          </a:xfrm>
          <a:prstGeom prst="roundRect">
            <a:avLst>
              <a:gd name="adj" fmla="val 18000"/>
            </a:avLst>
          </a:prstGeom>
          <a:solidFill>
            <a:srgbClr val="625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7"/>
          <p:cNvSpPr/>
          <p:nvPr/>
        </p:nvSpPr>
        <p:spPr>
          <a:xfrm>
            <a:off x="640080" y="1386360"/>
            <a:ext cx="2285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ffffff"/>
                </a:solidFill>
                <a:latin typeface="Calibri"/>
                <a:ea typeface="Calibri"/>
              </a:rPr>
              <a:t>Gemini · Vertex AI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658440" y="1874520"/>
            <a:ext cx="2239920" cy="16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Schema-constrained JSON output (Pydantic schema), temperature 0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Extracts decisions, owners, rationale, typed assumptions and facts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Labels each fact confirmed, tentative or negated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20" name="Connector 9"/>
          <p:cNvSpPr/>
          <p:nvPr/>
        </p:nvSpPr>
        <p:spPr>
          <a:xfrm>
            <a:off x="3081240" y="2606040"/>
            <a:ext cx="14652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1" name="Rounded Rectangle 10"/>
          <p:cNvSpPr/>
          <p:nvPr/>
        </p:nvSpPr>
        <p:spPr>
          <a:xfrm>
            <a:off x="3246120" y="1280160"/>
            <a:ext cx="2605680" cy="2697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Rounded Rectangle 11"/>
          <p:cNvSpPr/>
          <p:nvPr/>
        </p:nvSpPr>
        <p:spPr>
          <a:xfrm>
            <a:off x="3246120" y="1280160"/>
            <a:ext cx="2605680" cy="456840"/>
          </a:xfrm>
          <a:prstGeom prst="roundRect">
            <a:avLst>
              <a:gd name="adj" fmla="val 18000"/>
            </a:avLst>
          </a:prstGeom>
          <a:solidFill>
            <a:srgbClr val="2428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TextBox 12"/>
          <p:cNvSpPr/>
          <p:nvPr/>
        </p:nvSpPr>
        <p:spPr>
          <a:xfrm>
            <a:off x="3429000" y="1409040"/>
            <a:ext cx="2285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ffffff"/>
                </a:solidFill>
                <a:latin typeface="Calibri"/>
                <a:ea typeface="Calibri"/>
              </a:rPr>
              <a:t>Verification layer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3447360" y="1874520"/>
            <a:ext cx="2239920" cy="16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Quotes must resolve to exact snapshot spans; ambiguous or absent quotes reject extraction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Typed rules compare dates, amounts and statuses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Reuse requires unchanged snapshot, assumption, aliases and verified fact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25" name="Connector 14"/>
          <p:cNvSpPr/>
          <p:nvPr/>
        </p:nvSpPr>
        <p:spPr>
          <a:xfrm>
            <a:off x="5870160" y="2606040"/>
            <a:ext cx="146520" cy="360"/>
          </a:xfrm>
          <a:prstGeom prst="line">
            <a:avLst/>
          </a:prstGeom>
          <a:ln>
            <a:solidFill>
              <a:srgbClr val="a59eef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6" name="Rounded Rectangle 15"/>
          <p:cNvSpPr/>
          <p:nvPr/>
        </p:nvSpPr>
        <p:spPr>
          <a:xfrm>
            <a:off x="6035040" y="1280160"/>
            <a:ext cx="2605680" cy="2697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Rounded Rectangle 16"/>
          <p:cNvSpPr/>
          <p:nvPr/>
        </p:nvSpPr>
        <p:spPr>
          <a:xfrm>
            <a:off x="6035040" y="1280160"/>
            <a:ext cx="2605680" cy="456840"/>
          </a:xfrm>
          <a:prstGeom prst="roundRect">
            <a:avLst>
              <a:gd name="adj" fmla="val 18000"/>
            </a:avLst>
          </a:prstGeom>
          <a:solidFill>
            <a:srgbClr val="23b8a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17"/>
          <p:cNvSpPr/>
          <p:nvPr/>
        </p:nvSpPr>
        <p:spPr>
          <a:xfrm>
            <a:off x="6217920" y="1409040"/>
            <a:ext cx="2285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ffffff"/>
                </a:solidFill>
                <a:latin typeface="Calibri"/>
                <a:ea typeface="Calibri"/>
              </a:rPr>
              <a:t>Human checkpoint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29" name="TextBox 18"/>
          <p:cNvSpPr/>
          <p:nvPr/>
        </p:nvSpPr>
        <p:spPr>
          <a:xfrm>
            <a:off x="6236280" y="1874520"/>
            <a:ext cx="223992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Editors confirm decision drafts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Coverage shows assessed, uncertain or unassessed assumptions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Five review actions retain rationale and audit history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457200" y="4160520"/>
            <a:ext cx="8183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24283b"/>
                </a:solidFill>
                <a:latin typeface="Calibri"/>
                <a:ea typeface="Calibri"/>
              </a:rPr>
              <a:t>Gemini proposes meaning from source language. Validation checks quotes and typed values before deterministic rules evaluate the assumption.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ARCHITECTURE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457200" y="502920"/>
            <a:ext cx="82292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Google Cloud deployment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9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35" name="Rounded Rectangle 5"/>
          <p:cNvSpPr/>
          <p:nvPr/>
        </p:nvSpPr>
        <p:spPr>
          <a:xfrm>
            <a:off x="1874520" y="1188720"/>
            <a:ext cx="6766200" cy="3428640"/>
          </a:xfrm>
          <a:prstGeom prst="roundRect">
            <a:avLst>
              <a:gd name="adj" fmla="val 4000"/>
            </a:avLst>
          </a:prstGeom>
          <a:solidFill>
            <a:srgbClr val="f1f0fd"/>
          </a:solidFill>
          <a:ln>
            <a:solidFill>
              <a:srgbClr val="dcd8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6"/>
          <p:cNvSpPr/>
          <p:nvPr/>
        </p:nvSpPr>
        <p:spPr>
          <a:xfrm>
            <a:off x="2011680" y="1243440"/>
            <a:ext cx="3657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800" spc="97" strike="noStrike">
                <a:solidFill>
                  <a:srgbClr val="5146c5"/>
                </a:solidFill>
                <a:latin typeface="Calibri"/>
                <a:ea typeface="Calibri"/>
              </a:rPr>
              <a:t>GOOGLE CLOUD  ·  asia-southeast1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237" name="Rounded Rectangle 7"/>
          <p:cNvSpPr/>
          <p:nvPr/>
        </p:nvSpPr>
        <p:spPr>
          <a:xfrm>
            <a:off x="457200" y="2331720"/>
            <a:ext cx="1188360" cy="8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8"/>
          <p:cNvSpPr/>
          <p:nvPr/>
        </p:nvSpPr>
        <p:spPr>
          <a:xfrm>
            <a:off x="530280" y="2395800"/>
            <a:ext cx="1042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Project team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530280" y="2633400"/>
            <a:ext cx="1042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Browser, Google sign-in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0" name="Rounded Rectangle 10"/>
          <p:cNvSpPr/>
          <p:nvPr/>
        </p:nvSpPr>
        <p:spPr>
          <a:xfrm>
            <a:off x="2057400" y="2331720"/>
            <a:ext cx="1462680" cy="822600"/>
          </a:xfrm>
          <a:prstGeom prst="roundRect">
            <a:avLst>
              <a:gd name="adj" fmla="val 14000"/>
            </a:avLst>
          </a:prstGeom>
          <a:solidFill>
            <a:srgbClr val="6258d8"/>
          </a:solidFill>
          <a:ln w="12700">
            <a:solidFill>
              <a:srgbClr val="6258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TextBox 11"/>
          <p:cNvSpPr/>
          <p:nvPr/>
        </p:nvSpPr>
        <p:spPr>
          <a:xfrm>
            <a:off x="2130480" y="239580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ffffff"/>
                </a:solidFill>
                <a:latin typeface="Calibri"/>
                <a:ea typeface="Calibri"/>
              </a:rPr>
              <a:t>Cloud Run · Web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2130480" y="2633400"/>
            <a:ext cx="1316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e6e4ff"/>
                </a:solidFill>
                <a:latin typeface="Calibri"/>
                <a:ea typeface="Calibri"/>
              </a:rPr>
              <a:t>Next.js, public; same-origin API proxy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3840480" y="2331720"/>
            <a:ext cx="1462680" cy="822600"/>
          </a:xfrm>
          <a:prstGeom prst="roundRect">
            <a:avLst>
              <a:gd name="adj" fmla="val 14000"/>
            </a:avLst>
          </a:prstGeom>
          <a:solidFill>
            <a:srgbClr val="24283b"/>
          </a:solidFill>
          <a:ln w="12700">
            <a:solidFill>
              <a:srgbClr val="2428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TextBox 14"/>
          <p:cNvSpPr/>
          <p:nvPr/>
        </p:nvSpPr>
        <p:spPr>
          <a:xfrm>
            <a:off x="3913560" y="239580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ffffff"/>
                </a:solidFill>
                <a:latin typeface="Calibri"/>
                <a:ea typeface="Calibri"/>
              </a:rPr>
              <a:t>Cloud Run · API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3913560" y="263340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c9cce0"/>
                </a:solidFill>
                <a:latin typeface="Calibri"/>
                <a:ea typeface="Calibri"/>
              </a:rPr>
              <a:t>Private FastAPI; extraction and CRUD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6" name="Rounded Rectangle 16"/>
          <p:cNvSpPr/>
          <p:nvPr/>
        </p:nvSpPr>
        <p:spPr>
          <a:xfrm>
            <a:off x="5623560" y="2331720"/>
            <a:ext cx="1462680" cy="8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17"/>
          <p:cNvSpPr/>
          <p:nvPr/>
        </p:nvSpPr>
        <p:spPr>
          <a:xfrm>
            <a:off x="5696640" y="239580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Cloud Tasks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5696640" y="2633400"/>
            <a:ext cx="1316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Queued jobs, retries, idempotent receipts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9" name="Rounded Rectangle 19"/>
          <p:cNvSpPr/>
          <p:nvPr/>
        </p:nvSpPr>
        <p:spPr>
          <a:xfrm>
            <a:off x="7269480" y="2331720"/>
            <a:ext cx="1234080" cy="822600"/>
          </a:xfrm>
          <a:prstGeom prst="roundRect">
            <a:avLst>
              <a:gd name="adj" fmla="val 14000"/>
            </a:avLst>
          </a:prstGeom>
          <a:solidFill>
            <a:srgbClr val="24283b"/>
          </a:solidFill>
          <a:ln w="12700">
            <a:solidFill>
              <a:srgbClr val="2428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20"/>
          <p:cNvSpPr/>
          <p:nvPr/>
        </p:nvSpPr>
        <p:spPr>
          <a:xfrm>
            <a:off x="7342560" y="2395800"/>
            <a:ext cx="10879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ffffff"/>
                </a:solidFill>
                <a:latin typeface="Calibri"/>
                <a:ea typeface="Calibri"/>
              </a:rPr>
              <a:t>Worker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7342560" y="263340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c9cce0"/>
                </a:solidFill>
                <a:latin typeface="Calibri"/>
                <a:ea typeface="Calibri"/>
              </a:rPr>
              <a:t>Cloud Run, private; refresh and assess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2" name="Rounded Rectangle 22"/>
          <p:cNvSpPr/>
          <p:nvPr/>
        </p:nvSpPr>
        <p:spPr>
          <a:xfrm>
            <a:off x="2057400" y="1508760"/>
            <a:ext cx="1462680" cy="639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23"/>
          <p:cNvSpPr/>
          <p:nvPr/>
        </p:nvSpPr>
        <p:spPr>
          <a:xfrm>
            <a:off x="2130480" y="157284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Firebase Auth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2130480" y="1810440"/>
            <a:ext cx="1316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Protected project routes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5" name="Rounded Rectangle 25"/>
          <p:cNvSpPr/>
          <p:nvPr/>
        </p:nvSpPr>
        <p:spPr>
          <a:xfrm>
            <a:off x="3840480" y="3429000"/>
            <a:ext cx="1462680" cy="731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26"/>
          <p:cNvSpPr/>
          <p:nvPr/>
        </p:nvSpPr>
        <p:spPr>
          <a:xfrm>
            <a:off x="3913560" y="349308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Firestore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57" name="TextBox 27"/>
          <p:cNvSpPr/>
          <p:nvPr/>
        </p:nvSpPr>
        <p:spPr>
          <a:xfrm>
            <a:off x="3913560" y="3730680"/>
            <a:ext cx="13165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Decisions, facts, alerts, audit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8" name="Rounded Rectangle 28"/>
          <p:cNvSpPr/>
          <p:nvPr/>
        </p:nvSpPr>
        <p:spPr>
          <a:xfrm>
            <a:off x="5623560" y="3429000"/>
            <a:ext cx="1462680" cy="731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TextBox 29"/>
          <p:cNvSpPr/>
          <p:nvPr/>
        </p:nvSpPr>
        <p:spPr>
          <a:xfrm>
            <a:off x="5696640" y="3493080"/>
            <a:ext cx="1316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Secret Manager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60" name="TextBox 30"/>
          <p:cNvSpPr/>
          <p:nvPr/>
        </p:nvSpPr>
        <p:spPr>
          <a:xfrm>
            <a:off x="5696640" y="3730680"/>
            <a:ext cx="13165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Per-project OAuth tokens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61" name="Rounded Rectangle 31"/>
          <p:cNvSpPr/>
          <p:nvPr/>
        </p:nvSpPr>
        <p:spPr>
          <a:xfrm>
            <a:off x="3959280" y="1508760"/>
            <a:ext cx="1234080" cy="639720"/>
          </a:xfrm>
          <a:prstGeom prst="roundRect">
            <a:avLst>
              <a:gd name="adj" fmla="val 14000"/>
            </a:avLst>
          </a:prstGeom>
          <a:solidFill>
            <a:srgbClr val="e8f5f2"/>
          </a:solidFill>
          <a:ln w="12700">
            <a:solidFill>
              <a:srgbClr val="9fdc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32"/>
          <p:cNvSpPr/>
          <p:nvPr/>
        </p:nvSpPr>
        <p:spPr>
          <a:xfrm>
            <a:off x="4032360" y="1572840"/>
            <a:ext cx="10879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17786c"/>
                </a:solidFill>
                <a:latin typeface="Calibri"/>
                <a:ea typeface="Calibri"/>
              </a:rPr>
              <a:t>Vertex AI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63" name="TextBox 33"/>
          <p:cNvSpPr/>
          <p:nvPr/>
        </p:nvSpPr>
        <p:spPr>
          <a:xfrm>
            <a:off x="4032360" y="1810440"/>
            <a:ext cx="1087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Gemini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64" name="Rounded Rectangle 34"/>
          <p:cNvSpPr/>
          <p:nvPr/>
        </p:nvSpPr>
        <p:spPr>
          <a:xfrm>
            <a:off x="7269480" y="3429000"/>
            <a:ext cx="1234080" cy="731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5" name="TextBox 35"/>
          <p:cNvSpPr/>
          <p:nvPr/>
        </p:nvSpPr>
        <p:spPr>
          <a:xfrm>
            <a:off x="7342560" y="3493080"/>
            <a:ext cx="10879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GB" sz="1100" spc="-1" strike="noStrike">
                <a:solidFill>
                  <a:srgbClr val="24283b"/>
                </a:solidFill>
                <a:latin typeface="Calibri"/>
                <a:ea typeface="Calibri"/>
              </a:rPr>
              <a:t>Workspace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66" name="TextBox 36"/>
          <p:cNvSpPr/>
          <p:nvPr/>
        </p:nvSpPr>
        <p:spPr>
          <a:xfrm>
            <a:off x="7342560" y="3730680"/>
            <a:ext cx="1087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Drive, Docs, Meet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67" name="Connector 37"/>
          <p:cNvSpPr/>
          <p:nvPr/>
        </p:nvSpPr>
        <p:spPr>
          <a:xfrm>
            <a:off x="1645920" y="2743200"/>
            <a:ext cx="411480" cy="36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8" name="Connector 38"/>
          <p:cNvSpPr/>
          <p:nvPr/>
        </p:nvSpPr>
        <p:spPr>
          <a:xfrm>
            <a:off x="3520440" y="2743200"/>
            <a:ext cx="320040" cy="36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9" name="Connector 39"/>
          <p:cNvSpPr/>
          <p:nvPr/>
        </p:nvSpPr>
        <p:spPr>
          <a:xfrm>
            <a:off x="5303520" y="2743200"/>
            <a:ext cx="320040" cy="36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0" name="Connector 40"/>
          <p:cNvSpPr/>
          <p:nvPr/>
        </p:nvSpPr>
        <p:spPr>
          <a:xfrm>
            <a:off x="7086600" y="2743200"/>
            <a:ext cx="182880" cy="36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1" name="Connector 41"/>
          <p:cNvSpPr/>
          <p:nvPr/>
        </p:nvSpPr>
        <p:spPr>
          <a:xfrm flipV="1">
            <a:off x="2788920" y="2148840"/>
            <a:ext cx="360" cy="18288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2" name="Connector 42"/>
          <p:cNvSpPr/>
          <p:nvPr/>
        </p:nvSpPr>
        <p:spPr>
          <a:xfrm>
            <a:off x="4572000" y="3154680"/>
            <a:ext cx="360" cy="27432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3" name="Connector 43"/>
          <p:cNvSpPr/>
          <p:nvPr/>
        </p:nvSpPr>
        <p:spPr>
          <a:xfrm>
            <a:off x="5303520" y="3017520"/>
            <a:ext cx="457200" cy="41148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4" name="Connector 44"/>
          <p:cNvSpPr/>
          <p:nvPr/>
        </p:nvSpPr>
        <p:spPr>
          <a:xfrm flipV="1">
            <a:off x="4571640" y="2148840"/>
            <a:ext cx="360" cy="18288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5" name="Connector 45"/>
          <p:cNvSpPr/>
          <p:nvPr/>
        </p:nvSpPr>
        <p:spPr>
          <a:xfrm>
            <a:off x="7881840" y="3154680"/>
            <a:ext cx="360" cy="274320"/>
          </a:xfrm>
          <a:prstGeom prst="line">
            <a:avLst/>
          </a:prstGeom>
          <a:ln w="19050">
            <a:solidFill>
              <a:srgbClr val="6258d8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6" name="TextBox 46"/>
          <p:cNvSpPr/>
          <p:nvPr/>
        </p:nvSpPr>
        <p:spPr>
          <a:xfrm>
            <a:off x="457200" y="3429000"/>
            <a:ext cx="13255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1000" spc="-1" strike="noStrike">
                <a:solidFill>
                  <a:srgbClr val="626a7b"/>
                </a:solidFill>
                <a:latin typeface="Calibri"/>
                <a:ea typeface="Calibri"/>
              </a:rPr>
              <a:t>Browser never holds database, storage or AI credentials.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FEASIBILITY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57200" y="502920"/>
            <a:ext cx="82292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Recorded validation and remaining checks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10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81" name="Rounded Rectangle 5"/>
          <p:cNvSpPr/>
          <p:nvPr/>
        </p:nvSpPr>
        <p:spPr>
          <a:xfrm>
            <a:off x="457200" y="1280160"/>
            <a:ext cx="1919880" cy="1691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6"/>
          <p:cNvSpPr/>
          <p:nvPr/>
        </p:nvSpPr>
        <p:spPr>
          <a:xfrm>
            <a:off x="640080" y="1389960"/>
            <a:ext cx="16455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3400" spc="-1" strike="noStrike">
                <a:solidFill>
                  <a:srgbClr val="6258d8"/>
                </a:solidFill>
                <a:latin typeface="Calibri"/>
                <a:ea typeface="Calibri"/>
              </a:rPr>
              <a:t>30/30</a:t>
            </a:r>
            <a:endParaRPr b="0" lang="en-GB" sz="3400" spc="-1" strike="noStrike">
              <a:latin typeface="Arial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640080" y="2011680"/>
            <a:ext cx="15998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synthetic comparison cases classified correctly: 5 expected alerts, 0 unexpected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84" name="Rounded Rectangle 8"/>
          <p:cNvSpPr/>
          <p:nvPr/>
        </p:nvSpPr>
        <p:spPr>
          <a:xfrm>
            <a:off x="2532960" y="1280160"/>
            <a:ext cx="1919880" cy="1691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TextBox 9"/>
          <p:cNvSpPr/>
          <p:nvPr/>
        </p:nvSpPr>
        <p:spPr>
          <a:xfrm>
            <a:off x="2715840" y="1389960"/>
            <a:ext cx="16455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3400" spc="-1" strike="noStrike">
                <a:solidFill>
                  <a:srgbClr val="6258d8"/>
                </a:solidFill>
                <a:latin typeface="Calibri"/>
                <a:ea typeface="Calibri"/>
              </a:rPr>
              <a:t>25.2 s</a:t>
            </a:r>
            <a:endParaRPr b="0" lang="en-GB" sz="3400" spc="-1" strike="noStrike">
              <a:latin typeface="Arial"/>
            </a:endParaRPr>
          </a:p>
        </p:txBody>
      </p:sp>
      <p:sp>
        <p:nvSpPr>
          <p:cNvPr id="286" name="TextBox 10"/>
          <p:cNvSpPr/>
          <p:nvPr/>
        </p:nvSpPr>
        <p:spPr>
          <a:xfrm>
            <a:off x="2715840" y="2011680"/>
            <a:ext cx="15998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worker execution in one timed assessment; about 30 s to the visible browser result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87" name="Rounded Rectangle 11"/>
          <p:cNvSpPr/>
          <p:nvPr/>
        </p:nvSpPr>
        <p:spPr>
          <a:xfrm>
            <a:off x="4608720" y="1280160"/>
            <a:ext cx="1919880" cy="1691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12"/>
          <p:cNvSpPr/>
          <p:nvPr/>
        </p:nvSpPr>
        <p:spPr>
          <a:xfrm>
            <a:off x="4791600" y="1389960"/>
            <a:ext cx="16455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3400" spc="-1" strike="noStrike">
                <a:solidFill>
                  <a:srgbClr val="6258d8"/>
                </a:solidFill>
                <a:latin typeface="Calibri"/>
                <a:ea typeface="Calibri"/>
              </a:rPr>
              <a:t>2</a:t>
            </a:r>
            <a:endParaRPr b="0" lang="en-GB" sz="3400" spc="-1" strike="noStrike">
              <a:latin typeface="Arial"/>
            </a:endParaRPr>
          </a:p>
        </p:txBody>
      </p:sp>
      <p:sp>
        <p:nvSpPr>
          <p:cNvPr id="289" name="TextBox 13"/>
          <p:cNvSpPr/>
          <p:nvPr/>
        </p:nvSpPr>
        <p:spPr>
          <a:xfrm>
            <a:off x="4791600" y="2011680"/>
            <a:ext cx="15998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recorded core rehearsals; retries and mixed environments. Final export rehearsals remain.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90" name="Rounded Rectangle 14"/>
          <p:cNvSpPr/>
          <p:nvPr/>
        </p:nvSpPr>
        <p:spPr>
          <a:xfrm>
            <a:off x="6684120" y="1280160"/>
            <a:ext cx="1919880" cy="1691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TextBox 15"/>
          <p:cNvSpPr/>
          <p:nvPr/>
        </p:nvSpPr>
        <p:spPr>
          <a:xfrm>
            <a:off x="6867000" y="1389960"/>
            <a:ext cx="16455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3400" spc="-1" strike="noStrike">
                <a:solidFill>
                  <a:srgbClr val="6258d8"/>
                </a:solidFill>
                <a:latin typeface="Calibri"/>
                <a:ea typeface="Calibri"/>
              </a:rPr>
              <a:t>11</a:t>
            </a:r>
            <a:endParaRPr b="0" lang="en-GB" sz="3400" spc="-1" strike="noStrike">
              <a:latin typeface="Arial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6867000" y="2011680"/>
            <a:ext cx="159984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100" spc="-1" strike="noStrike">
                <a:solidFill>
                  <a:srgbClr val="202331"/>
                </a:solidFill>
                <a:latin typeface="Calibri"/>
                <a:ea typeface="Calibri"/>
              </a:rPr>
              <a:t>sources after unchanged replay; cited versions unchanged, one assessment run and one alert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93" name="Rounded Rectangle 17"/>
          <p:cNvSpPr/>
          <p:nvPr/>
        </p:nvSpPr>
        <p:spPr>
          <a:xfrm>
            <a:off x="457200" y="3154680"/>
            <a:ext cx="8183520" cy="132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TextBox 18"/>
          <p:cNvSpPr/>
          <p:nvPr/>
        </p:nvSpPr>
        <p:spPr>
          <a:xfrm>
            <a:off x="685800" y="3246120"/>
            <a:ext cx="3657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Recorded reliability checks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95" name="TextBox 19"/>
          <p:cNvSpPr/>
          <p:nvPr/>
        </p:nvSpPr>
        <p:spPr>
          <a:xfrm>
            <a:off x="685800" y="3584520"/>
            <a:ext cx="384012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Worker retry, manual redispatch and recovery after a corrected file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Unavailable-folder errors shown and recovered in the UI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96" name="TextBox 20"/>
          <p:cNvSpPr/>
          <p:nvPr/>
        </p:nvSpPr>
        <p:spPr>
          <a:xfrm>
            <a:off x="4617720" y="3584520"/>
            <a:ext cx="384012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OAuth refresh tokens stored and rotated in Secret Manager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API access logs disabled; platform request metadata can retain callback queries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97" name="TextBox 21"/>
          <p:cNvSpPr/>
          <p:nvPr/>
        </p:nvSpPr>
        <p:spPr>
          <a:xfrm>
            <a:off x="457200" y="4544640"/>
            <a:ext cx="8183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Synthetic content and dated UAT. These results do not establish production accuracy, p95 latency or final release readiness.</a:t>
            </a:r>
            <a:endParaRPr b="0" lang="en-GB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70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137" strike="noStrike">
                <a:solidFill>
                  <a:srgbClr val="6258d8"/>
                </a:solidFill>
                <a:latin typeface="Calibri"/>
              </a:rPr>
              <a:t>INNOVATION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299" name="TextBox 71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4283b"/>
                </a:solidFill>
                <a:latin typeface="Calibri"/>
              </a:rPr>
              <a:t>From storing decisions to monitoring them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300" name="TextBox 72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26a7b"/>
                </a:solidFill>
                <a:latin typeface="Calibri"/>
              </a:rPr>
              <a:t>Decision </a:t>
            </a:r>
            <a:r>
              <a:rPr b="1" lang="en-US" sz="900" spc="-1" strike="noStrike">
                <a:solidFill>
                  <a:srgbClr val="6258d8"/>
                </a:solidFill>
                <a:latin typeface="Calibri"/>
              </a:rPr>
              <a:t>Radar</a:t>
            </a:r>
            <a:r>
              <a:rPr b="0" lang="en-US" sz="900" spc="-1" strike="noStrike">
                <a:solidFill>
                  <a:srgbClr val="626a7b"/>
                </a:solidFill>
                <a:latin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01" name="TextBox 73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626a7b"/>
                </a:solidFill>
                <a:latin typeface="Calibri"/>
              </a:rPr>
              <a:t>11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02" name="Rounded Rectangle 4"/>
          <p:cNvSpPr/>
          <p:nvPr/>
        </p:nvSpPr>
        <p:spPr>
          <a:xfrm>
            <a:off x="457200" y="1234440"/>
            <a:ext cx="8183520" cy="2834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3" name="Rounded Rectangle 32"/>
          <p:cNvSpPr/>
          <p:nvPr/>
        </p:nvSpPr>
        <p:spPr>
          <a:xfrm>
            <a:off x="7315200" y="1280160"/>
            <a:ext cx="1325520" cy="2742840"/>
          </a:xfrm>
          <a:prstGeom prst="roundRect">
            <a:avLst>
              <a:gd name="adj" fmla="val 6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TextBox 74"/>
          <p:cNvSpPr/>
          <p:nvPr/>
        </p:nvSpPr>
        <p:spPr>
          <a:xfrm>
            <a:off x="567000" y="130752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Box 75"/>
          <p:cNvSpPr/>
          <p:nvPr/>
        </p:nvSpPr>
        <p:spPr>
          <a:xfrm>
            <a:off x="3447360" y="1368000"/>
            <a:ext cx="11059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24283b"/>
                </a:solidFill>
                <a:latin typeface="Calibri"/>
              </a:rPr>
              <a:t>Wikis &amp; decision logs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06" name="TextBox 76"/>
          <p:cNvSpPr/>
          <p:nvPr/>
        </p:nvSpPr>
        <p:spPr>
          <a:xfrm>
            <a:off x="4773240" y="1451880"/>
            <a:ext cx="11059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24283b"/>
                </a:solidFill>
                <a:latin typeface="Calibri"/>
              </a:rPr>
              <a:t>AI meeting notes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07" name="TextBox 77"/>
          <p:cNvSpPr/>
          <p:nvPr/>
        </p:nvSpPr>
        <p:spPr>
          <a:xfrm>
            <a:off x="6099120" y="1451880"/>
            <a:ext cx="11059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24283b"/>
                </a:solidFill>
                <a:latin typeface="Calibri"/>
              </a:rPr>
              <a:t>Enterprise search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08" name="TextBox 78"/>
          <p:cNvSpPr/>
          <p:nvPr/>
        </p:nvSpPr>
        <p:spPr>
          <a:xfrm>
            <a:off x="7425000" y="1451880"/>
            <a:ext cx="11059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5146c5"/>
                </a:solidFill>
                <a:latin typeface="Calibri"/>
              </a:rPr>
              <a:t>Decision Radar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09" name="Connector 6"/>
          <p:cNvSpPr/>
          <p:nvPr/>
        </p:nvSpPr>
        <p:spPr>
          <a:xfrm>
            <a:off x="594360" y="1737360"/>
            <a:ext cx="6720840" cy="360"/>
          </a:xfrm>
          <a:prstGeom prst="line">
            <a:avLst/>
          </a:prstGeom>
          <a:ln w="9525">
            <a:solidFill>
              <a:srgbClr val="e3e6e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10" name="TextBox 79"/>
          <p:cNvSpPr/>
          <p:nvPr/>
        </p:nvSpPr>
        <p:spPr>
          <a:xfrm>
            <a:off x="640080" y="1874160"/>
            <a:ext cx="2605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02331"/>
                </a:solidFill>
                <a:latin typeface="Calibri"/>
              </a:rPr>
              <a:t>Captures decision, owner and rationale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11" name="TextBox 80"/>
          <p:cNvSpPr/>
          <p:nvPr/>
        </p:nvSpPr>
        <p:spPr>
          <a:xfrm>
            <a:off x="3337560" y="18435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24283b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2" name="TextBox 81"/>
          <p:cNvSpPr/>
          <p:nvPr/>
        </p:nvSpPr>
        <p:spPr>
          <a:xfrm>
            <a:off x="4663440" y="18435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◐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3" name="TextBox 82"/>
          <p:cNvSpPr/>
          <p:nvPr/>
        </p:nvSpPr>
        <p:spPr>
          <a:xfrm>
            <a:off x="5989320" y="18435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4" name="TextBox 83"/>
          <p:cNvSpPr/>
          <p:nvPr/>
        </p:nvSpPr>
        <p:spPr>
          <a:xfrm>
            <a:off x="7315200" y="18435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146c5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5" name="Connector 7"/>
          <p:cNvSpPr/>
          <p:nvPr/>
        </p:nvSpPr>
        <p:spPr>
          <a:xfrm>
            <a:off x="594360" y="2194560"/>
            <a:ext cx="6720840" cy="360"/>
          </a:xfrm>
          <a:prstGeom prst="line">
            <a:avLst/>
          </a:prstGeom>
          <a:ln w="9525">
            <a:solidFill>
              <a:srgbClr val="e3e6e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16" name="TextBox 84"/>
          <p:cNvSpPr/>
          <p:nvPr/>
        </p:nvSpPr>
        <p:spPr>
          <a:xfrm>
            <a:off x="640080" y="2239920"/>
            <a:ext cx="2605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02331"/>
                </a:solidFill>
                <a:latin typeface="Calibri"/>
              </a:rPr>
              <a:t>Re-checks decisions when new evidence lands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17" name="TextBox 85"/>
          <p:cNvSpPr/>
          <p:nvPr/>
        </p:nvSpPr>
        <p:spPr>
          <a:xfrm>
            <a:off x="3337560" y="23007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8" name="TextBox 86"/>
          <p:cNvSpPr/>
          <p:nvPr/>
        </p:nvSpPr>
        <p:spPr>
          <a:xfrm>
            <a:off x="4663440" y="23007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19" name="TextBox 87"/>
          <p:cNvSpPr/>
          <p:nvPr/>
        </p:nvSpPr>
        <p:spPr>
          <a:xfrm>
            <a:off x="5989320" y="23007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0" name="TextBox 88"/>
          <p:cNvSpPr/>
          <p:nvPr/>
        </p:nvSpPr>
        <p:spPr>
          <a:xfrm>
            <a:off x="7315200" y="23007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146c5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1" name="Connector 8"/>
          <p:cNvSpPr/>
          <p:nvPr/>
        </p:nvSpPr>
        <p:spPr>
          <a:xfrm>
            <a:off x="594360" y="2651760"/>
            <a:ext cx="6720840" cy="360"/>
          </a:xfrm>
          <a:prstGeom prst="line">
            <a:avLst/>
          </a:prstGeom>
          <a:ln w="9525">
            <a:solidFill>
              <a:srgbClr val="e3e6e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2" name="TextBox 89"/>
          <p:cNvSpPr/>
          <p:nvPr/>
        </p:nvSpPr>
        <p:spPr>
          <a:xfrm>
            <a:off x="640080" y="2697120"/>
            <a:ext cx="2605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02331"/>
                </a:solidFill>
                <a:latin typeface="Calibri"/>
              </a:rPr>
              <a:t>Quote-level citations resolved to source spans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23" name="TextBox 90"/>
          <p:cNvSpPr/>
          <p:nvPr/>
        </p:nvSpPr>
        <p:spPr>
          <a:xfrm>
            <a:off x="3337560" y="27579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4" name="TextBox 91"/>
          <p:cNvSpPr/>
          <p:nvPr/>
        </p:nvSpPr>
        <p:spPr>
          <a:xfrm>
            <a:off x="4663440" y="27579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◐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5" name="TextBox 92"/>
          <p:cNvSpPr/>
          <p:nvPr/>
        </p:nvSpPr>
        <p:spPr>
          <a:xfrm>
            <a:off x="5989320" y="27579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◐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6" name="TextBox 93"/>
          <p:cNvSpPr/>
          <p:nvPr/>
        </p:nvSpPr>
        <p:spPr>
          <a:xfrm>
            <a:off x="7315200" y="27579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146c5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27" name="Connector 13"/>
          <p:cNvSpPr/>
          <p:nvPr/>
        </p:nvSpPr>
        <p:spPr>
          <a:xfrm>
            <a:off x="594360" y="3108960"/>
            <a:ext cx="6720840" cy="360"/>
          </a:xfrm>
          <a:prstGeom prst="line">
            <a:avLst/>
          </a:prstGeom>
          <a:ln w="9525">
            <a:solidFill>
              <a:srgbClr val="e3e6e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8" name="TextBox 94"/>
          <p:cNvSpPr/>
          <p:nvPr/>
        </p:nvSpPr>
        <p:spPr>
          <a:xfrm>
            <a:off x="640080" y="3245760"/>
            <a:ext cx="2605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02331"/>
                </a:solidFill>
                <a:latin typeface="Calibri"/>
              </a:rPr>
              <a:t>Shows downstream decisions affected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29" name="TextBox 95"/>
          <p:cNvSpPr/>
          <p:nvPr/>
        </p:nvSpPr>
        <p:spPr>
          <a:xfrm>
            <a:off x="3337560" y="32151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0" name="TextBox 96"/>
          <p:cNvSpPr/>
          <p:nvPr/>
        </p:nvSpPr>
        <p:spPr>
          <a:xfrm>
            <a:off x="4663440" y="32151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1" name="TextBox 97"/>
          <p:cNvSpPr/>
          <p:nvPr/>
        </p:nvSpPr>
        <p:spPr>
          <a:xfrm>
            <a:off x="5989320" y="32151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2" name="TextBox 98"/>
          <p:cNvSpPr/>
          <p:nvPr/>
        </p:nvSpPr>
        <p:spPr>
          <a:xfrm>
            <a:off x="7315200" y="32151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146c5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3" name="Connector 15"/>
          <p:cNvSpPr/>
          <p:nvPr/>
        </p:nvSpPr>
        <p:spPr>
          <a:xfrm>
            <a:off x="594360" y="3566160"/>
            <a:ext cx="6720840" cy="360"/>
          </a:xfrm>
          <a:prstGeom prst="line">
            <a:avLst/>
          </a:prstGeom>
          <a:ln w="9525">
            <a:solidFill>
              <a:srgbClr val="e3e6e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4" name="TextBox 99"/>
          <p:cNvSpPr/>
          <p:nvPr/>
        </p:nvSpPr>
        <p:spPr>
          <a:xfrm>
            <a:off x="640080" y="3702960"/>
            <a:ext cx="2605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02331"/>
                </a:solidFill>
                <a:latin typeface="Calibri"/>
              </a:rPr>
              <a:t>Human review with an audit trail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35" name="TextBox 100"/>
          <p:cNvSpPr/>
          <p:nvPr/>
        </p:nvSpPr>
        <p:spPr>
          <a:xfrm>
            <a:off x="3337560" y="36723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◐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6" name="TextBox 101"/>
          <p:cNvSpPr/>
          <p:nvPr/>
        </p:nvSpPr>
        <p:spPr>
          <a:xfrm>
            <a:off x="4663440" y="36723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7" name="TextBox 102"/>
          <p:cNvSpPr/>
          <p:nvPr/>
        </p:nvSpPr>
        <p:spPr>
          <a:xfrm>
            <a:off x="5989320" y="36723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8d93a5"/>
                </a:solidFill>
                <a:latin typeface="Calibri"/>
              </a:rPr>
              <a:t>○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8" name="TextBox 103"/>
          <p:cNvSpPr/>
          <p:nvPr/>
        </p:nvSpPr>
        <p:spPr>
          <a:xfrm>
            <a:off x="7315200" y="3672360"/>
            <a:ext cx="1325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146c5"/>
                </a:solidFill>
                <a:latin typeface="Calibri"/>
              </a:rPr>
              <a:t>●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9" name="TextBox 104"/>
          <p:cNvSpPr/>
          <p:nvPr/>
        </p:nvSpPr>
        <p:spPr>
          <a:xfrm>
            <a:off x="457200" y="4206240"/>
            <a:ext cx="81835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4283b"/>
                </a:solidFill>
                <a:latin typeface="Calibri"/>
              </a:rPr>
              <a:t>●</a:t>
            </a:r>
            <a:r>
              <a:rPr b="0" lang="en-US" sz="1000" spc="-1" strike="noStrike">
                <a:solidFill>
                  <a:srgbClr val="626a7b"/>
                </a:solidFill>
                <a:latin typeface="Calibri"/>
              </a:rPr>
              <a:t> </a:t>
            </a:r>
            <a:r>
              <a:rPr b="0" lang="en-US" sz="1000" spc="-1" strike="noStrike">
                <a:solidFill>
                  <a:srgbClr val="626a7b"/>
                </a:solidFill>
                <a:latin typeface="Calibri"/>
              </a:rPr>
              <a:t>built in    </a:t>
            </a:r>
            <a:r>
              <a:rPr b="0" lang="en-US" sz="1000" spc="-1" strike="noStrike">
                <a:solidFill>
                  <a:srgbClr val="8d93a5"/>
                </a:solidFill>
                <a:latin typeface="Calibri"/>
              </a:rPr>
              <a:t>◐</a:t>
            </a:r>
            <a:r>
              <a:rPr b="0" lang="en-US" sz="1000" spc="-1" strike="noStrike">
                <a:solidFill>
                  <a:srgbClr val="626a7b"/>
                </a:solidFill>
                <a:latin typeface="Calibri"/>
              </a:rPr>
              <a:t> partial or manual    </a:t>
            </a:r>
            <a:r>
              <a:rPr b="0" lang="en-US" sz="1000" spc="-1" strike="noStrike">
                <a:solidFill>
                  <a:srgbClr val="8d93a5"/>
                </a:solidFill>
                <a:latin typeface="Calibri"/>
              </a:rPr>
              <a:t>○</a:t>
            </a:r>
            <a:r>
              <a:rPr b="0" lang="en-US" sz="1000" spc="-1" strike="noStrike">
                <a:solidFill>
                  <a:srgbClr val="626a7b"/>
                </a:solidFill>
                <a:latin typeface="Calibri"/>
              </a:rPr>
              <a:t> not addressed    </a:t>
            </a:r>
            <a:r>
              <a:rPr b="0" i="1" lang="en-US" sz="1000" spc="-1" strike="noStrike">
                <a:solidFill>
                  <a:srgbClr val="626a7b"/>
                </a:solidFill>
                <a:latin typeface="Calibri"/>
              </a:rPr>
              <a:t>Team assessment of typical tools in each category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IMPACT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341" name="TextBox 2"/>
          <p:cNvSpPr/>
          <p:nvPr/>
        </p:nvSpPr>
        <p:spPr>
          <a:xfrm>
            <a:off x="457200" y="502920"/>
            <a:ext cx="8229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Who benefits, and how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12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44" name="Rounded Rectangle 5"/>
          <p:cNvSpPr/>
          <p:nvPr/>
        </p:nvSpPr>
        <p:spPr>
          <a:xfrm>
            <a:off x="457200" y="1280160"/>
            <a:ext cx="2605680" cy="242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Rounded Rectangle 6"/>
          <p:cNvSpPr/>
          <p:nvPr/>
        </p:nvSpPr>
        <p:spPr>
          <a:xfrm>
            <a:off x="658440" y="1463040"/>
            <a:ext cx="502560" cy="5025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7"/>
          <p:cNvSpPr/>
          <p:nvPr/>
        </p:nvSpPr>
        <p:spPr>
          <a:xfrm>
            <a:off x="658440" y="1607400"/>
            <a:ext cx="502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400" spc="-1" strike="noStrike">
                <a:solidFill>
                  <a:srgbClr val="5146c5"/>
                </a:solidFill>
                <a:latin typeface="Calibri"/>
                <a:ea typeface="Calibri"/>
              </a:rPr>
              <a:t>PM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47" name="TextBox 8"/>
          <p:cNvSpPr/>
          <p:nvPr/>
        </p:nvSpPr>
        <p:spPr>
          <a:xfrm>
            <a:off x="1280160" y="1500840"/>
            <a:ext cx="1691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Project &amp; program managers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685800" y="2148840"/>
            <a:ext cx="219420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Review cited contradictions after refresh and assessment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Inspect recorded downstream dependencies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49" name="Rounded Rectangle 10"/>
          <p:cNvSpPr/>
          <p:nvPr/>
        </p:nvSpPr>
        <p:spPr>
          <a:xfrm>
            <a:off x="3246120" y="1280160"/>
            <a:ext cx="2605680" cy="242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Rounded Rectangle 11"/>
          <p:cNvSpPr/>
          <p:nvPr/>
        </p:nvSpPr>
        <p:spPr>
          <a:xfrm>
            <a:off x="3447360" y="1463040"/>
            <a:ext cx="502560" cy="5025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TextBox 12"/>
          <p:cNvSpPr/>
          <p:nvPr/>
        </p:nvSpPr>
        <p:spPr>
          <a:xfrm>
            <a:off x="3447360" y="1607400"/>
            <a:ext cx="502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400" spc="-1" strike="noStrike">
                <a:solidFill>
                  <a:srgbClr val="5146c5"/>
                </a:solidFill>
                <a:latin typeface="Calibri"/>
                <a:ea typeface="Calibri"/>
              </a:rPr>
              <a:t>TM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4069080" y="1607400"/>
            <a:ext cx="16912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Team contributors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3474720" y="2148840"/>
            <a:ext cx="219420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Contribute source updates in Docs, Drive and Meet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Aim to reduce repeated evidence gathering during handovers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54" name="Rounded Rectangle 15"/>
          <p:cNvSpPr/>
          <p:nvPr/>
        </p:nvSpPr>
        <p:spPr>
          <a:xfrm>
            <a:off x="6035040" y="1280160"/>
            <a:ext cx="2605680" cy="242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Rounded Rectangle 16"/>
          <p:cNvSpPr/>
          <p:nvPr/>
        </p:nvSpPr>
        <p:spPr>
          <a:xfrm>
            <a:off x="6236280" y="1463040"/>
            <a:ext cx="502560" cy="502560"/>
          </a:xfrm>
          <a:prstGeom prst="roundRect">
            <a:avLst>
              <a:gd name="adj" fmla="val 28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17"/>
          <p:cNvSpPr/>
          <p:nvPr/>
        </p:nvSpPr>
        <p:spPr>
          <a:xfrm>
            <a:off x="6236280" y="1622520"/>
            <a:ext cx="502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200" spc="-1" strike="noStrike">
                <a:solidFill>
                  <a:srgbClr val="5146c5"/>
                </a:solidFill>
                <a:latin typeface="Calibri"/>
                <a:ea typeface="Calibri"/>
              </a:rPr>
              <a:t>GOV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57" name="TextBox 18"/>
          <p:cNvSpPr/>
          <p:nvPr/>
        </p:nvSpPr>
        <p:spPr>
          <a:xfrm>
            <a:off x="6858000" y="1607400"/>
            <a:ext cx="16912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24283b"/>
                </a:solidFill>
                <a:latin typeface="Calibri"/>
                <a:ea typeface="Calibri"/>
              </a:rPr>
              <a:t>Leaders, PMO &amp; audit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6263640" y="2148840"/>
            <a:ext cx="219420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Inspect recorded review rationale and decision revisions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601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Trace the evidence behind a human response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59" name="Rounded Rectangle 20"/>
          <p:cNvSpPr/>
          <p:nvPr/>
        </p:nvSpPr>
        <p:spPr>
          <a:xfrm>
            <a:off x="457200" y="3886200"/>
            <a:ext cx="8183520" cy="712800"/>
          </a:xfrm>
          <a:prstGeom prst="roundRect">
            <a:avLst>
              <a:gd name="adj" fmla="val 15000"/>
            </a:avLst>
          </a:prstGeom>
          <a:solidFill>
            <a:srgbClr val="e8f5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TextBox 21"/>
          <p:cNvSpPr/>
          <p:nvPr/>
        </p:nvSpPr>
        <p:spPr>
          <a:xfrm>
            <a:off x="685800" y="3984840"/>
            <a:ext cx="7772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17786c"/>
                </a:solidFill>
                <a:latin typeface="Calibri"/>
                <a:ea typeface="Calibri"/>
              </a:rPr>
              <a:t>Intended impact: clearer handovers for project teams, including small organisations. Pilot measures will track evidence-finding time and useful alerts; productivity gains are not yet measured.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1"/>
          <p:cNvSpPr/>
          <p:nvPr/>
        </p:nvSpPr>
        <p:spPr>
          <a:xfrm>
            <a:off x="457200" y="292680"/>
            <a:ext cx="8229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000" spc="137" strike="noStrike">
                <a:solidFill>
                  <a:srgbClr val="6258d8"/>
                </a:solidFill>
                <a:latin typeface="Calibri"/>
                <a:ea typeface="Calibri"/>
              </a:rPr>
              <a:t>SCALABILITY &amp; ROADMAP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457200" y="502920"/>
            <a:ext cx="82292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24283b"/>
                </a:solidFill>
                <a:latin typeface="Calibri"/>
                <a:ea typeface="Calibri"/>
              </a:rPr>
              <a:t>Implemented scope and next steps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457200" y="4818960"/>
            <a:ext cx="4571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Decision </a:t>
            </a:r>
            <a:r>
              <a:rPr b="1" lang="en-GB" sz="900" spc="-1" strike="noStrike">
                <a:solidFill>
                  <a:srgbClr val="6258d8"/>
                </a:solidFill>
                <a:latin typeface="Calibri"/>
                <a:ea typeface="Calibri"/>
              </a:rPr>
              <a:t>Radar</a:t>
            </a: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  ·  Team GeminiMaxx  ·  Future of Work &amp; Enterprise Productivity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8138160" y="4818960"/>
            <a:ext cx="548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en-GB" sz="900" spc="-1" strike="noStrike">
                <a:solidFill>
                  <a:srgbClr val="626a7b"/>
                </a:solidFill>
                <a:latin typeface="Calibri"/>
                <a:ea typeface="Calibri"/>
              </a:rPr>
              <a:t>13 / 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65" name="Rounded Rectangle 5"/>
          <p:cNvSpPr/>
          <p:nvPr/>
        </p:nvSpPr>
        <p:spPr>
          <a:xfrm>
            <a:off x="457200" y="1234440"/>
            <a:ext cx="2605680" cy="2559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6" name="Rounded Rectangle 6"/>
          <p:cNvSpPr/>
          <p:nvPr/>
        </p:nvSpPr>
        <p:spPr>
          <a:xfrm>
            <a:off x="658440" y="1371600"/>
            <a:ext cx="731160" cy="273960"/>
          </a:xfrm>
          <a:prstGeom prst="roundRect">
            <a:avLst>
              <a:gd name="adj" fmla="val 50000"/>
            </a:avLst>
          </a:prstGeom>
          <a:solidFill>
            <a:srgbClr val="625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TextBox 7"/>
          <p:cNvSpPr/>
          <p:nvPr/>
        </p:nvSpPr>
        <p:spPr>
          <a:xfrm>
            <a:off x="658440" y="1432080"/>
            <a:ext cx="731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000" spc="97" strike="noStrike">
                <a:solidFill>
                  <a:srgbClr val="ffffff"/>
                </a:solidFill>
                <a:latin typeface="Calibri"/>
                <a:ea typeface="Calibri"/>
              </a:rPr>
              <a:t>NOW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368" name="TextBox 8"/>
          <p:cNvSpPr/>
          <p:nvPr/>
        </p:nvSpPr>
        <p:spPr>
          <a:xfrm>
            <a:off x="658440" y="1719000"/>
            <a:ext cx="2285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24283b"/>
                </a:solidFill>
                <a:latin typeface="Calibri"/>
                <a:ea typeface="Calibri"/>
              </a:rPr>
              <a:t>Working prototype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658440" y="2057400"/>
            <a:ext cx="2239920" cy="16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Drive Docs/TXT and versioned evidence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Table mappings and generated Meet intake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Typed rules, graph and human review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6258d8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Reviewed briefs and Google Docs export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70" name="Rounded Rectangle 10"/>
          <p:cNvSpPr/>
          <p:nvPr/>
        </p:nvSpPr>
        <p:spPr>
          <a:xfrm>
            <a:off x="3246120" y="1234440"/>
            <a:ext cx="2605680" cy="2559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1" name="Rounded Rectangle 11"/>
          <p:cNvSpPr/>
          <p:nvPr/>
        </p:nvSpPr>
        <p:spPr>
          <a:xfrm>
            <a:off x="3447360" y="1371600"/>
            <a:ext cx="731160" cy="273960"/>
          </a:xfrm>
          <a:prstGeom prst="roundRect">
            <a:avLst>
              <a:gd name="adj" fmla="val 50000"/>
            </a:avLst>
          </a:prstGeom>
          <a:solidFill>
            <a:srgbClr val="2428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TextBox 12"/>
          <p:cNvSpPr/>
          <p:nvPr/>
        </p:nvSpPr>
        <p:spPr>
          <a:xfrm>
            <a:off x="3447360" y="1432080"/>
            <a:ext cx="731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000" spc="97" strike="noStrike">
                <a:solidFill>
                  <a:srgbClr val="ffffff"/>
                </a:solidFill>
                <a:latin typeface="Calibri"/>
                <a:ea typeface="Calibri"/>
              </a:rPr>
              <a:t>NEXT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373" name="TextBox 13"/>
          <p:cNvSpPr/>
          <p:nvPr/>
        </p:nvSpPr>
        <p:spPr>
          <a:xfrm>
            <a:off x="3447360" y="1719000"/>
            <a:ext cx="2285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24283b"/>
                </a:solidFill>
                <a:latin typeface="Calibri"/>
                <a:ea typeface="Calibri"/>
              </a:rPr>
              <a:t>Release checks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374" name="TextBox 14"/>
          <p:cNvSpPr/>
          <p:nvPr/>
        </p:nvSpPr>
        <p:spPr>
          <a:xfrm>
            <a:off x="3447360" y="2057400"/>
            <a:ext cx="2239920" cy="12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Clean deploy and recovery drill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Two final rehearsals through export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Keyboard, contrast and judge access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4283b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Public video and final submission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75" name="Rounded Rectangle 15"/>
          <p:cNvSpPr/>
          <p:nvPr/>
        </p:nvSpPr>
        <p:spPr>
          <a:xfrm>
            <a:off x="6035040" y="1234440"/>
            <a:ext cx="2605680" cy="2559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e"/>
            </a:solidFill>
            <a:round/>
          </a:ln>
          <a:effectLst>
            <a:outerShdw algn="t" blurRad="190440" dir="5400000" dist="38160" rotWithShape="0">
              <a:srgbClr val="1f2343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Rounded Rectangle 16"/>
          <p:cNvSpPr/>
          <p:nvPr/>
        </p:nvSpPr>
        <p:spPr>
          <a:xfrm>
            <a:off x="6236280" y="1371600"/>
            <a:ext cx="731160" cy="273960"/>
          </a:xfrm>
          <a:prstGeom prst="roundRect">
            <a:avLst>
              <a:gd name="adj" fmla="val 50000"/>
            </a:avLst>
          </a:prstGeom>
          <a:solidFill>
            <a:srgbClr val="23b8a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TextBox 17"/>
          <p:cNvSpPr/>
          <p:nvPr/>
        </p:nvSpPr>
        <p:spPr>
          <a:xfrm>
            <a:off x="6236280" y="1432080"/>
            <a:ext cx="731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GB" sz="1000" spc="97" strike="noStrike">
                <a:solidFill>
                  <a:srgbClr val="ffffff"/>
                </a:solidFill>
                <a:latin typeface="Calibri"/>
                <a:ea typeface="Calibri"/>
              </a:rPr>
              <a:t>LATER</a:t>
            </a:r>
            <a:endParaRPr b="0" lang="en-GB" sz="1000" spc="-1" strike="noStrike">
              <a:latin typeface="Arial"/>
            </a:endParaRPr>
          </a:p>
        </p:txBody>
      </p:sp>
      <p:sp>
        <p:nvSpPr>
          <p:cNvPr id="378" name="TextBox 18"/>
          <p:cNvSpPr/>
          <p:nvPr/>
        </p:nvSpPr>
        <p:spPr>
          <a:xfrm>
            <a:off x="6236280" y="1719000"/>
            <a:ext cx="2285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300" spc="-1" strike="noStrike">
                <a:solidFill>
                  <a:srgbClr val="24283b"/>
                </a:solidFill>
                <a:latin typeface="Calibri"/>
                <a:ea typeface="Calibri"/>
              </a:rPr>
              <a:t>Trust and scale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379" name="TextBox 19"/>
          <p:cNvSpPr/>
          <p:nvPr/>
        </p:nvSpPr>
        <p:spPr>
          <a:xfrm>
            <a:off x="6236280" y="2057400"/>
            <a:ext cx="2239920" cy="12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Native per-viewer Drive ACLs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Larger-scale retrieval and load testing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Jira, Chat and Gmail connectors</a:t>
            </a:r>
            <a:endParaRPr b="0" lang="en-GB" sz="1200" spc="-1" strike="noStrike">
              <a:latin typeface="Arial"/>
            </a:endParaRPr>
          </a:p>
          <a:p>
            <a:pPr marL="182880" indent="-182880">
              <a:lnSpc>
                <a:spcPct val="100000"/>
              </a:lnSpc>
              <a:spcAft>
                <a:spcPts val="400"/>
              </a:spcAft>
              <a:buClr>
                <a:srgbClr val="23b8a7"/>
              </a:buClr>
              <a:buFont typeface="Arial"/>
              <a:buChar char="•"/>
            </a:pPr>
            <a:r>
              <a:rPr b="0" lang="en-GB" sz="1200" spc="-1" strike="noStrike">
                <a:solidFill>
                  <a:srgbClr val="202331"/>
                </a:solidFill>
                <a:latin typeface="Calibri"/>
                <a:ea typeface="Calibri"/>
              </a:rPr>
              <a:t>Shared Drives and portfolio views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80" name="Rounded Rectangle 20"/>
          <p:cNvSpPr/>
          <p:nvPr/>
        </p:nvSpPr>
        <p:spPr>
          <a:xfrm>
            <a:off x="457200" y="3950280"/>
            <a:ext cx="8183520" cy="685440"/>
          </a:xfrm>
          <a:prstGeom prst="roundRect">
            <a:avLst>
              <a:gd name="adj" fmla="val 15000"/>
            </a:avLst>
          </a:prstGeom>
          <a:solidFill>
            <a:srgbClr val="ee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TextBox 21"/>
          <p:cNvSpPr/>
          <p:nvPr/>
        </p:nvSpPr>
        <p:spPr>
          <a:xfrm>
            <a:off x="685800" y="40986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24283b"/>
                </a:solidFill>
                <a:latin typeface="Calibri"/>
                <a:ea typeface="Calibri"/>
              </a:rPr>
              <a:t>Why it scales: </a:t>
            </a:r>
            <a:r>
              <a:rPr b="0" lang="en-US" sz="1200" spc="-1" strike="noStrike">
                <a:solidFill>
                  <a:srgbClr val="202331"/>
                </a:solidFill>
                <a:latin typeface="Calibri"/>
                <a:ea typeface="Calibri"/>
              </a:rPr>
              <a:t>stateless Cloud Run services autoscale · Cloud Tasks absorbs bursts with retries · idempotent jobs never duplicate alerts · per-project data and secrets · Gemini Flash keeps cost per check low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Box 1"/>
          <p:cNvSpPr/>
          <p:nvPr/>
        </p:nvSpPr>
        <p:spPr>
          <a:xfrm>
            <a:off x="548640" y="548640"/>
            <a:ext cx="8046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100" spc="199" strike="noStrike">
                <a:solidFill>
                  <a:srgbClr val="a59eef"/>
                </a:solidFill>
                <a:latin typeface="Calibri"/>
                <a:ea typeface="Calibri"/>
              </a:rPr>
              <a:t>DECISION RADAR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83" name="TextBox 2"/>
          <p:cNvSpPr/>
          <p:nvPr/>
        </p:nvSpPr>
        <p:spPr>
          <a:xfrm>
            <a:off x="548640" y="914400"/>
            <a:ext cx="7863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3600" spc="-1" strike="noStrike">
                <a:solidFill>
                  <a:srgbClr val="ffffff"/>
                </a:solidFill>
                <a:latin typeface="Calibri"/>
                <a:ea typeface="Calibri"/>
              </a:rPr>
              <a:t>Keep decisions connected to their evidence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84" name="Rounded Rectangle 3"/>
          <p:cNvSpPr/>
          <p:nvPr/>
        </p:nvSpPr>
        <p:spPr>
          <a:xfrm>
            <a:off x="548640" y="2423160"/>
            <a:ext cx="3885840" cy="776880"/>
          </a:xfrm>
          <a:prstGeom prst="roundRect">
            <a:avLst>
              <a:gd name="adj" fmla="val 12000"/>
            </a:avLst>
          </a:prstGeom>
          <a:solidFill>
            <a:srgbClr val="2f3450"/>
          </a:solidFill>
          <a:ln>
            <a:solidFill>
              <a:srgbClr val="3a40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TextBox 4"/>
          <p:cNvSpPr/>
          <p:nvPr/>
        </p:nvSpPr>
        <p:spPr>
          <a:xfrm>
            <a:off x="777240" y="2532960"/>
            <a:ext cx="34743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900" spc="97" strike="noStrike">
                <a:solidFill>
                  <a:srgbClr val="a59eef"/>
                </a:solidFill>
                <a:latin typeface="Calibri"/>
                <a:ea typeface="Calibri"/>
              </a:rPr>
              <a:t>LIVE PROTOTYPE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86" name="TextBox 5"/>
          <p:cNvSpPr/>
          <p:nvPr/>
        </p:nvSpPr>
        <p:spPr>
          <a:xfrm>
            <a:off x="777240" y="27705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5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1"/>
              </a:rPr>
              <a:t>Open the Cloud Run prototype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387" name="Rounded Rectangle 6"/>
          <p:cNvSpPr/>
          <p:nvPr/>
        </p:nvSpPr>
        <p:spPr>
          <a:xfrm>
            <a:off x="4617720" y="2423160"/>
            <a:ext cx="3885840" cy="776880"/>
          </a:xfrm>
          <a:prstGeom prst="roundRect">
            <a:avLst>
              <a:gd name="adj" fmla="val 12000"/>
            </a:avLst>
          </a:prstGeom>
          <a:solidFill>
            <a:srgbClr val="2f3450"/>
          </a:solidFill>
          <a:ln>
            <a:solidFill>
              <a:srgbClr val="3a40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TextBox 7"/>
          <p:cNvSpPr/>
          <p:nvPr/>
        </p:nvSpPr>
        <p:spPr>
          <a:xfrm>
            <a:off x="4846320" y="2532960"/>
            <a:ext cx="34743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900" spc="97" strike="noStrike">
                <a:solidFill>
                  <a:srgbClr val="a59eef"/>
                </a:solidFill>
                <a:latin typeface="Calibri"/>
                <a:ea typeface="Calibri"/>
              </a:rPr>
              <a:t>3-MINUTE DEMO VIDEO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89" name="TextBox 8"/>
          <p:cNvSpPr/>
          <p:nvPr/>
        </p:nvSpPr>
        <p:spPr>
          <a:xfrm>
            <a:off x="4846320" y="27705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500" spc="-1" strike="noStrike">
                <a:solidFill>
                  <a:srgbClr val="ffffff"/>
                </a:solidFill>
                <a:latin typeface="Calibri"/>
                <a:ea typeface="Calibri"/>
              </a:rPr>
              <a:t>Recording and public link pending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390" name="Rounded Rectangle 9"/>
          <p:cNvSpPr/>
          <p:nvPr/>
        </p:nvSpPr>
        <p:spPr>
          <a:xfrm>
            <a:off x="548640" y="3383280"/>
            <a:ext cx="3885840" cy="776880"/>
          </a:xfrm>
          <a:prstGeom prst="roundRect">
            <a:avLst>
              <a:gd name="adj" fmla="val 12000"/>
            </a:avLst>
          </a:prstGeom>
          <a:solidFill>
            <a:srgbClr val="2f3450"/>
          </a:solidFill>
          <a:ln>
            <a:solidFill>
              <a:srgbClr val="3a40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TextBox 10"/>
          <p:cNvSpPr/>
          <p:nvPr/>
        </p:nvSpPr>
        <p:spPr>
          <a:xfrm>
            <a:off x="777240" y="3493080"/>
            <a:ext cx="34743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900" spc="97" strike="noStrike">
                <a:solidFill>
                  <a:srgbClr val="a59eef"/>
                </a:solidFill>
                <a:latin typeface="Calibri"/>
                <a:ea typeface="Calibri"/>
              </a:rPr>
              <a:t>CATEGORY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92" name="TextBox 11"/>
          <p:cNvSpPr/>
          <p:nvPr/>
        </p:nvSpPr>
        <p:spPr>
          <a:xfrm>
            <a:off x="777240" y="3730680"/>
            <a:ext cx="3474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ffffff"/>
                </a:solidFill>
                <a:latin typeface="Calibri"/>
                <a:ea typeface="Calibri"/>
              </a:rPr>
              <a:t>Future of Work &amp; Enterprise Productivity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93" name="Rounded Rectangle 12"/>
          <p:cNvSpPr/>
          <p:nvPr/>
        </p:nvSpPr>
        <p:spPr>
          <a:xfrm>
            <a:off x="4617720" y="3383280"/>
            <a:ext cx="3885840" cy="776880"/>
          </a:xfrm>
          <a:prstGeom prst="roundRect">
            <a:avLst>
              <a:gd name="adj" fmla="val 12000"/>
            </a:avLst>
          </a:prstGeom>
          <a:solidFill>
            <a:srgbClr val="2f3450"/>
          </a:solidFill>
          <a:ln>
            <a:solidFill>
              <a:srgbClr val="3a40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TextBox 13"/>
          <p:cNvSpPr/>
          <p:nvPr/>
        </p:nvSpPr>
        <p:spPr>
          <a:xfrm>
            <a:off x="4846320" y="3493080"/>
            <a:ext cx="34743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900" spc="97" strike="noStrike">
                <a:solidFill>
                  <a:srgbClr val="a59eef"/>
                </a:solidFill>
                <a:latin typeface="Calibri"/>
                <a:ea typeface="Calibri"/>
              </a:rPr>
              <a:t>TEAM GEMINIMAXX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95" name="TextBox 14"/>
          <p:cNvSpPr/>
          <p:nvPr/>
        </p:nvSpPr>
        <p:spPr>
          <a:xfrm>
            <a:off x="4846320" y="3730680"/>
            <a:ext cx="3474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GB" sz="1400" spc="-1" strike="noStrike">
                <a:solidFill>
                  <a:srgbClr val="ffffff"/>
                </a:solidFill>
                <a:latin typeface="Calibri"/>
                <a:ea typeface="Calibri"/>
              </a:rPr>
              <a:t>Steffy Lo &amp; Mike Umali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96" name="TextBox 15"/>
          <p:cNvSpPr/>
          <p:nvPr/>
        </p:nvSpPr>
        <p:spPr>
          <a:xfrm>
            <a:off x="548640" y="4526280"/>
            <a:ext cx="804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GB" sz="1000" spc="-1" strike="noStrike">
                <a:solidFill>
                  <a:srgbClr val="c9cce0"/>
                </a:solidFill>
                <a:latin typeface="Calibri"/>
                <a:ea typeface="Calibri"/>
              </a:rPr>
              <a:t>Built with Gemini on Vertex AI · Cloud Run · Firestore · Cloud Tasks · Firebase Auth · Secret Manager · Google Workspace APIs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LibreOffice/7.2.1.2$MacOSX_X86_64 LibreOffice_project/87b77fad49947c1441b67c559c339af8f3517e22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2026-10-17T10:58:08Z</dcterms:created>
  <dc:creator>Walnut Exporter</dc:creator>
  <dc:description/>
  <dc:language>en-GB</dc:language>
  <cp:lastModifiedBy/>
  <dcterms:modified xsi:type="dcterms:W3CDTF">2026-10-17T19:17:43Z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